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8288000" cy="10287000"/>
  <p:notesSz cx="6858000" cy="9144000"/>
  <p:embeddedFontLst>
    <p:embeddedFont>
      <p:font typeface="Calibri (MS) Bold" panose="020F0702030404030204"/>
      <p:bold r:id="rId17"/>
    </p:embeddedFont>
    <p:embeddedFont>
      <p:font typeface="Cambria Bold" panose="02040803050406030204"/>
      <p:bold r:id="rId18"/>
    </p:embeddedFont>
    <p:embeddedFont>
      <p:font typeface="Calibri (MS)" panose="020F0502020204030204"/>
      <p:regular r:id="rId19"/>
    </p:embeddedFont>
    <p:embeddedFont>
      <p:font typeface="Calibri (MS) Italics" panose="020F05020202040A0204"/>
      <p:italic r:id="rId20"/>
    </p:embeddedFont>
    <p:embeddedFont>
      <p:font typeface="Cambria" panose="02040503050406030204"/>
      <p:regular r:id="rId21"/>
      <p:bold r:id="rId22"/>
      <p:italic r:id="rId23"/>
      <p:boldItalic r:id="rId24"/>
    </p:embeddedFont>
    <p:embeddedFont>
      <p:font typeface="Courier New Bold" panose="02070609020205020404"/>
      <p:bold r:id="rId25"/>
    </p:embeddedFont>
    <p:embeddedFont>
      <p:font typeface="Calibri (MS) Bold Italics" panose="020F07020304040A0204"/>
      <p:boldItalic r:id="rId26"/>
    </p:embeddedFont>
    <p:embeddedFont>
      <p:font typeface="Calibri" panose="020F050202020403020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font" Target="fonts/font14.fntdata"/><Relationship Id="rId3" Type="http://schemas.openxmlformats.org/officeDocument/2006/relationships/slide" Target="slides/slide1.xml"/><Relationship Id="rId29" Type="http://schemas.openxmlformats.org/officeDocument/2006/relationships/font" Target="fonts/font13.fntdata"/><Relationship Id="rId28" Type="http://schemas.openxmlformats.org/officeDocument/2006/relationships/font" Target="fonts/font12.fntdata"/><Relationship Id="rId27" Type="http://schemas.openxmlformats.org/officeDocument/2006/relationships/font" Target="fonts/font11.fntdata"/><Relationship Id="rId26" Type="http://schemas.openxmlformats.org/officeDocument/2006/relationships/font" Target="fonts/font10.fntdata"/><Relationship Id="rId25" Type="http://schemas.openxmlformats.org/officeDocument/2006/relationships/font" Target="fonts/font9.fntdata"/><Relationship Id="rId24" Type="http://schemas.openxmlformats.org/officeDocument/2006/relationships/font" Target="fonts/font8.fntdata"/><Relationship Id="rId23" Type="http://schemas.openxmlformats.org/officeDocument/2006/relationships/font" Target="fonts/font7.fntdata"/><Relationship Id="rId22" Type="http://schemas.openxmlformats.org/officeDocument/2006/relationships/font" Target="fonts/font6.fntdata"/><Relationship Id="rId21" Type="http://schemas.openxmlformats.org/officeDocument/2006/relationships/font" Target="fonts/font5.fntdata"/><Relationship Id="rId20" Type="http://schemas.openxmlformats.org/officeDocument/2006/relationships/font" Target="fonts/font4.fntdata"/><Relationship Id="rId2" Type="http://schemas.openxmlformats.org/officeDocument/2006/relationships/theme" Target="theme/theme1.xml"/><Relationship Id="rId19" Type="http://schemas.openxmlformats.org/officeDocument/2006/relationships/font" Target="fonts/font3.fntdata"/><Relationship Id="rId18" Type="http://schemas.openxmlformats.org/officeDocument/2006/relationships/font" Target="fonts/font2.fntdata"/><Relationship Id="rId17" Type="http://schemas.openxmlformats.org/officeDocument/2006/relationships/font" Target="fonts/font1.fntdata"/><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assessment set out to map and verify the network path from our workstation, confirming how it identifies itself, resolves names, and reaches both local and remote destinations. We used command-line tools for discovery and Wireshark to validate what we observed at the packet level.</a:t>
            </a:r>
            <a:endParaRPr lang="en-US"/>
          </a:p>
          <a:p>
            <a:r>
              <a:rPr lang="en-US"/>
              <a:t>1</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workstation identifies as 'kali' on interface eth0, with IPv4 address 10.0.2.15 and MAC address 08:00:27:8a. All traffic leaving the local subnet routes through the default gateway at 10.0.2.2 -- this is the boundary we'll reference throughout the rest of the analysis.</a:t>
            </a:r>
            <a:endParaRPr lang="en-US"/>
          </a:p>
          <a:p>
            <a:r>
              <a:rPr lang="en-US"/>
              <a:t>2</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DNS queries from this host are handled by a local stub resolver at 127.0.0.53, which is the standard systemd-resolved setup. Importantly, the actual upstream DNS server it forwards to was not visible in our configuration check -- that's a detail worth flagging for anyone auditing this host.</a:t>
            </a:r>
            <a:endParaRPr lang="en-US"/>
          </a:p>
          <a:p>
            <a:r>
              <a:rPr lang="en-US"/>
              <a:t>3</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Connectivity testing showed clean results locally and to the gateway -- zero packet loss in both cases. The failure against example.com wasn't a routing or reachability issue -- the error was a name resolution failure, meaning the problem sits at the DNS layer, not the network layer.</a:t>
            </a:r>
            <a:endParaRPr lang="en-US"/>
          </a:p>
          <a:p>
            <a:r>
              <a:rPr lang="en-US"/>
              <a:t>4</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When we queried google.com directly against our configured DNS server, the request was refused -- no address was returned. This aligns with the earlier ping failure and reinforces that DNS behavior, not network connectivity, is the controlling factor here.</a:t>
            </a:r>
            <a:endParaRPr lang="en-US"/>
          </a:p>
          <a:p>
            <a:r>
              <a:rPr lang="en-US"/>
              <a:t>5</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Tracepath to example.com shows the packet passing through the gateway at two hops, with latency climbing from under a millisecond to 77 milliseconds before reaching the destination. This confirms the routing path is functional and the path MTU holds steady at 1500 bytes end to end.</a:t>
            </a:r>
            <a:endParaRPr lang="en-US"/>
          </a:p>
          <a:p>
            <a:r>
              <a:rPr lang="en-US"/>
              <a:t>6</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Wireshark captured the ICMP exchange behind our earlier ping test -- an Echo Request from our workstation to the gateway, and a matching Echo Reply back. This gives us packet-level confirmation that the connectivity results in Task 3 reflect real, observable traffic.</a:t>
            </a:r>
            <a:endParaRPr lang="en-US"/>
          </a:p>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capture shows a separate, successful DNS exchange -- this time going out to Google's public resolver at 8.8.8.8, which returned 142.250.129.113 for google.com. This is a useful contrast to the earlier refused query against our local resolver.</a:t>
            </a:r>
            <a:endParaRPr lang="en-US"/>
          </a:p>
          <a:p>
            <a:r>
              <a:rPr lang="en-US"/>
              <a:t>8</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diagram summarizes everything we've verified -- traffic from our workstation passes through the local access layer, out through the gateway at 10.0.2.2, across the internet, and to the remote server. Every tool we used today confirmed a different segment of this same path.</a:t>
            </a:r>
            <a:endParaRPr lang="en-US"/>
          </a:p>
          <a:p>
            <a:r>
              <a:rPr lang="en-US"/>
              <a:t>9</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 summary, this week's assessment reinforced how devices communicate across a network -- from interface identification through to DNS resolution and packet-level verification. These fundamentals of IP addressing, routing, and DNS underpin the analytical work we'll build on in future security assessments. Thank you.</a:t>
            </a:r>
            <a:endParaRPr lang="en-US"/>
          </a:p>
          <a:p>
            <a:r>
              <a:rPr lang="en-US"/>
              <a:t>10</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rot="0">
            <a:off x="0" y="0"/>
            <a:ext cx="18283428" cy="10287000"/>
            <a:chOff x="0" y="0"/>
            <a:chExt cx="24377904" cy="13716000"/>
          </a:xfrm>
        </p:grpSpPr>
        <p:sp>
          <p:nvSpPr>
            <p:cNvPr id="3" name="Freeform 3"/>
            <p:cNvSpPr/>
            <p:nvPr/>
          </p:nvSpPr>
          <p:spPr>
            <a:xfrm>
              <a:off x="0" y="0"/>
              <a:ext cx="24377904" cy="13716000"/>
            </a:xfrm>
            <a:custGeom>
              <a:avLst/>
              <a:gdLst/>
              <a:ahLst/>
              <a:cxnLst/>
              <a:rect l="l" t="t" r="r" b="b"/>
              <a:pathLst>
                <a:path w="24377904" h="13716000">
                  <a:moveTo>
                    <a:pt x="0" y="0"/>
                  </a:moveTo>
                  <a:lnTo>
                    <a:pt x="24377904" y="0"/>
                  </a:lnTo>
                  <a:lnTo>
                    <a:pt x="24377904" y="13716000"/>
                  </a:lnTo>
                  <a:lnTo>
                    <a:pt x="0" y="13716000"/>
                  </a:lnTo>
                  <a:close/>
                </a:path>
              </a:pathLst>
            </a:custGeom>
            <a:solidFill>
              <a:srgbClr val="0D1B2A"/>
            </a:solidFill>
          </p:spPr>
        </p:sp>
      </p:grpSp>
      <p:grpSp>
        <p:nvGrpSpPr>
          <p:cNvPr id="4" name="Group 4"/>
          <p:cNvGrpSpPr/>
          <p:nvPr/>
        </p:nvGrpSpPr>
        <p:grpSpPr>
          <a:xfrm rot="0">
            <a:off x="14538960" y="-1920240"/>
            <a:ext cx="6858000" cy="6858000"/>
            <a:chOff x="0" y="0"/>
            <a:chExt cx="9144000" cy="9144000"/>
          </a:xfrm>
        </p:grpSpPr>
        <p:sp>
          <p:nvSpPr>
            <p:cNvPr id="5" name="Freeform 5"/>
            <p:cNvSpPr/>
            <p:nvPr/>
          </p:nvSpPr>
          <p:spPr>
            <a:xfrm>
              <a:off x="0" y="0"/>
              <a:ext cx="9144000" cy="9144000"/>
            </a:xfrm>
            <a:custGeom>
              <a:avLst/>
              <a:gdLst/>
              <a:ahLst/>
              <a:cxnLst/>
              <a:rect l="l" t="t" r="r" b="b"/>
              <a:pathLst>
                <a:path w="9144000" h="9144000">
                  <a:moveTo>
                    <a:pt x="0" y="4572000"/>
                  </a:moveTo>
                  <a:cubicBezTo>
                    <a:pt x="0" y="2046986"/>
                    <a:pt x="2046986" y="0"/>
                    <a:pt x="4572000" y="0"/>
                  </a:cubicBezTo>
                  <a:cubicBezTo>
                    <a:pt x="7097014" y="0"/>
                    <a:pt x="9144000" y="2046986"/>
                    <a:pt x="9144000" y="4572000"/>
                  </a:cubicBezTo>
                  <a:cubicBezTo>
                    <a:pt x="9144000" y="7097014"/>
                    <a:pt x="7097014" y="9144000"/>
                    <a:pt x="4572000" y="9144000"/>
                  </a:cubicBezTo>
                  <a:cubicBezTo>
                    <a:pt x="2046986" y="9144000"/>
                    <a:pt x="0" y="7097014"/>
                    <a:pt x="0" y="4572000"/>
                  </a:cubicBezTo>
                  <a:close/>
                </a:path>
              </a:pathLst>
            </a:custGeom>
            <a:solidFill>
              <a:srgbClr val="1B2A4A"/>
            </a:solidFill>
          </p:spPr>
        </p:sp>
      </p:grpSp>
      <p:grpSp>
        <p:nvGrpSpPr>
          <p:cNvPr id="6" name="Group 6"/>
          <p:cNvGrpSpPr/>
          <p:nvPr/>
        </p:nvGrpSpPr>
        <p:grpSpPr>
          <a:xfrm rot="0">
            <a:off x="15910560" y="-548640"/>
            <a:ext cx="4114800" cy="4114800"/>
            <a:chOff x="0" y="0"/>
            <a:chExt cx="5486400" cy="5486400"/>
          </a:xfrm>
        </p:grpSpPr>
        <p:sp>
          <p:nvSpPr>
            <p:cNvPr id="7" name="Freeform 7"/>
            <p:cNvSpPr/>
            <p:nvPr/>
          </p:nvSpPr>
          <p:spPr>
            <a:xfrm>
              <a:off x="0" y="0"/>
              <a:ext cx="5486400" cy="5486400"/>
            </a:xfrm>
            <a:custGeom>
              <a:avLst/>
              <a:gdLst/>
              <a:ahLst/>
              <a:cxnLst/>
              <a:rect l="l" t="t" r="r" b="b"/>
              <a:pathLst>
                <a:path w="5486400" h="5486400">
                  <a:moveTo>
                    <a:pt x="0" y="2743200"/>
                  </a:moveTo>
                  <a:cubicBezTo>
                    <a:pt x="0" y="1228217"/>
                    <a:pt x="1228217" y="0"/>
                    <a:pt x="2743200" y="0"/>
                  </a:cubicBezTo>
                  <a:cubicBezTo>
                    <a:pt x="4258183" y="0"/>
                    <a:pt x="5486400" y="1228217"/>
                    <a:pt x="5486400" y="2743200"/>
                  </a:cubicBezTo>
                  <a:cubicBezTo>
                    <a:pt x="5486400" y="4258183"/>
                    <a:pt x="4258183" y="5486400"/>
                    <a:pt x="2743200" y="5486400"/>
                  </a:cubicBezTo>
                  <a:cubicBezTo>
                    <a:pt x="1228217" y="5486400"/>
                    <a:pt x="0" y="4258183"/>
                    <a:pt x="0" y="2743200"/>
                  </a:cubicBezTo>
                  <a:close/>
                </a:path>
              </a:pathLst>
            </a:custGeom>
            <a:solidFill>
              <a:srgbClr val="16283F"/>
            </a:solidFill>
          </p:spPr>
        </p:sp>
      </p:grpSp>
      <p:grpSp>
        <p:nvGrpSpPr>
          <p:cNvPr id="8" name="Group 8"/>
          <p:cNvGrpSpPr/>
          <p:nvPr/>
        </p:nvGrpSpPr>
        <p:grpSpPr>
          <a:xfrm rot="0">
            <a:off x="960120" y="1234440"/>
            <a:ext cx="10972800" cy="548640"/>
            <a:chOff x="0" y="0"/>
            <a:chExt cx="14630400" cy="731520"/>
          </a:xfrm>
        </p:grpSpPr>
        <p:sp>
          <p:nvSpPr>
            <p:cNvPr id="9" name="Freeform 9"/>
            <p:cNvSpPr/>
            <p:nvPr/>
          </p:nvSpPr>
          <p:spPr>
            <a:xfrm>
              <a:off x="0" y="0"/>
              <a:ext cx="14630400" cy="731520"/>
            </a:xfrm>
            <a:custGeom>
              <a:avLst/>
              <a:gdLst/>
              <a:ahLst/>
              <a:cxnLst/>
              <a:rect l="l" t="t" r="r" b="b"/>
              <a:pathLst>
                <a:path w="14630400" h="731520">
                  <a:moveTo>
                    <a:pt x="0" y="0"/>
                  </a:moveTo>
                  <a:lnTo>
                    <a:pt x="14630400" y="0"/>
                  </a:lnTo>
                  <a:lnTo>
                    <a:pt x="14630400" y="731520"/>
                  </a:lnTo>
                  <a:lnTo>
                    <a:pt x="0" y="731520"/>
                  </a:lnTo>
                  <a:close/>
                </a:path>
              </a:pathLst>
            </a:custGeom>
            <a:blipFill>
              <a:blip r:embed="rId1">
                <a:alphaModFix amt="0"/>
              </a:blip>
              <a:stretch>
                <a:fillRect t="-339700" b="-339700"/>
              </a:stretch>
            </a:blipFill>
          </p:spPr>
        </p:sp>
        <p:sp>
          <p:nvSpPr>
            <p:cNvPr id="10" name="TextBox 10"/>
            <p:cNvSpPr txBox="1"/>
            <p:nvPr/>
          </p:nvSpPr>
          <p:spPr>
            <a:xfrm>
              <a:off x="0" y="-47625"/>
              <a:ext cx="14630400" cy="779145"/>
            </a:xfrm>
            <a:prstGeom prst="rect">
              <a:avLst/>
            </a:prstGeom>
          </p:spPr>
          <p:txBody>
            <a:bodyPr lIns="0" tIns="0" rIns="0" bIns="0" rtlCol="0" anchor="ctr"/>
            <a:lstStyle/>
            <a:p>
              <a:pPr algn="l">
                <a:lnSpc>
                  <a:spcPts val="2340"/>
                </a:lnSpc>
              </a:pPr>
              <a:r>
                <a:rPr lang="en-US" sz="1950" b="1" spc="449">
                  <a:solidFill>
                    <a:srgbClr val="00C2D1"/>
                  </a:solidFill>
                  <a:latin typeface="Calibri (MS) Bold" panose="020F0702030404030204"/>
                  <a:ea typeface="Calibri (MS) Bold" panose="020F0702030404030204"/>
                  <a:cs typeface="Calibri (MS) Bold" panose="020F0702030404030204"/>
                  <a:sym typeface="Calibri (MS) Bold" panose="020F0702030404030204"/>
                </a:rPr>
                <a:t>WEEK 3 ASSESSMENT</a:t>
              </a:r>
              <a:endParaRPr lang="en-US" sz="1950" b="1" spc="449">
                <a:solidFill>
                  <a:srgbClr val="00C2D1"/>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1" name="Group 11"/>
          <p:cNvGrpSpPr/>
          <p:nvPr/>
        </p:nvGrpSpPr>
        <p:grpSpPr>
          <a:xfrm rot="0">
            <a:off x="960120" y="1851660"/>
            <a:ext cx="14813280" cy="5113278"/>
            <a:chOff x="0" y="0"/>
            <a:chExt cx="19751040" cy="6817704"/>
          </a:xfrm>
        </p:grpSpPr>
        <p:sp>
          <p:nvSpPr>
            <p:cNvPr id="12" name="Freeform 12"/>
            <p:cNvSpPr/>
            <p:nvPr/>
          </p:nvSpPr>
          <p:spPr>
            <a:xfrm>
              <a:off x="0" y="0"/>
              <a:ext cx="19751039" cy="6817704"/>
            </a:xfrm>
            <a:custGeom>
              <a:avLst/>
              <a:gdLst/>
              <a:ahLst/>
              <a:cxnLst/>
              <a:rect l="l" t="t" r="r" b="b"/>
              <a:pathLst>
                <a:path w="19751039" h="6817704">
                  <a:moveTo>
                    <a:pt x="0" y="0"/>
                  </a:moveTo>
                  <a:lnTo>
                    <a:pt x="19751039" y="0"/>
                  </a:lnTo>
                  <a:lnTo>
                    <a:pt x="19751039" y="6817704"/>
                  </a:lnTo>
                  <a:lnTo>
                    <a:pt x="0" y="6817704"/>
                  </a:lnTo>
                  <a:close/>
                </a:path>
              </a:pathLst>
            </a:custGeom>
            <a:blipFill>
              <a:blip r:embed="rId1">
                <a:alphaModFix amt="0"/>
              </a:blip>
              <a:stretch>
                <a:fillRect t="-30965" b="18068"/>
              </a:stretch>
            </a:blipFill>
          </p:spPr>
        </p:sp>
        <p:sp>
          <p:nvSpPr>
            <p:cNvPr id="13" name="TextBox 13"/>
            <p:cNvSpPr txBox="1"/>
            <p:nvPr/>
          </p:nvSpPr>
          <p:spPr>
            <a:xfrm>
              <a:off x="0" y="-57150"/>
              <a:ext cx="19751040" cy="6874854"/>
            </a:xfrm>
            <a:prstGeom prst="rect">
              <a:avLst/>
            </a:prstGeom>
          </p:spPr>
          <p:txBody>
            <a:bodyPr lIns="0" tIns="0" rIns="0" bIns="0" rtlCol="0" anchor="ctr"/>
            <a:lstStyle/>
            <a:p>
              <a:pPr algn="l">
                <a:lnSpc>
                  <a:spcPts val="7385"/>
                </a:lnSpc>
              </a:pPr>
              <a:r>
                <a:rPr lang="en-US" sz="5700" b="1">
                  <a:solidFill>
                    <a:srgbClr val="FFFFFF"/>
                  </a:solidFill>
                  <a:latin typeface="Cambria Bold" panose="02040803050406030204"/>
                  <a:ea typeface="Cambria Bold" panose="02040803050406030204"/>
                  <a:cs typeface="Cambria Bold" panose="02040803050406030204"/>
                  <a:sym typeface="Cambria Bold" panose="02040803050406030204"/>
                </a:rPr>
                <a:t>Network Discovery and Traffic Analysis</a:t>
              </a:r>
              <a:endParaRPr lang="en-US" sz="5700" b="1">
                <a:solidFill>
                  <a:srgbClr val="FFFFFF"/>
                </a:solidFill>
                <a:latin typeface="Cambria Bold" panose="02040803050406030204"/>
                <a:ea typeface="Cambria Bold" panose="02040803050406030204"/>
                <a:cs typeface="Cambria Bold" panose="02040803050406030204"/>
                <a:sym typeface="Cambria Bold" panose="02040803050406030204"/>
              </a:endParaRPr>
            </a:p>
            <a:p>
              <a:pPr algn="l">
                <a:lnSpc>
                  <a:spcPts val="7385"/>
                </a:lnSpc>
              </a:pPr>
            </a:p>
          </p:txBody>
        </p:sp>
      </p:grpSp>
      <p:grpSp>
        <p:nvGrpSpPr>
          <p:cNvPr id="15" name="Group 15"/>
          <p:cNvGrpSpPr/>
          <p:nvPr/>
        </p:nvGrpSpPr>
        <p:grpSpPr>
          <a:xfrm rot="0">
            <a:off x="6400800" y="4937760"/>
            <a:ext cx="4271010" cy="3996690"/>
            <a:chOff x="0" y="0"/>
            <a:chExt cx="5694680" cy="5328920"/>
          </a:xfrm>
        </p:grpSpPr>
        <p:sp>
          <p:nvSpPr>
            <p:cNvPr id="16" name="Freeform 16"/>
            <p:cNvSpPr/>
            <p:nvPr/>
          </p:nvSpPr>
          <p:spPr>
            <a:xfrm>
              <a:off x="0" y="0"/>
              <a:ext cx="5694680" cy="5328920"/>
            </a:xfrm>
            <a:custGeom>
              <a:avLst/>
              <a:gdLst/>
              <a:ahLst/>
              <a:cxnLst/>
              <a:rect l="l" t="t" r="r" b="b"/>
              <a:pathLst>
                <a:path w="5694680" h="5328920">
                  <a:moveTo>
                    <a:pt x="0" y="147066"/>
                  </a:moveTo>
                  <a:cubicBezTo>
                    <a:pt x="0" y="65786"/>
                    <a:pt x="65786" y="0"/>
                    <a:pt x="147066" y="0"/>
                  </a:cubicBezTo>
                  <a:lnTo>
                    <a:pt x="5547614" y="0"/>
                  </a:lnTo>
                  <a:cubicBezTo>
                    <a:pt x="5628767" y="0"/>
                    <a:pt x="5694680" y="65786"/>
                    <a:pt x="5694680" y="147066"/>
                  </a:cubicBezTo>
                  <a:lnTo>
                    <a:pt x="5694680" y="5181854"/>
                  </a:lnTo>
                  <a:cubicBezTo>
                    <a:pt x="5694680" y="5263007"/>
                    <a:pt x="5628894" y="5328920"/>
                    <a:pt x="5547614" y="5328920"/>
                  </a:cubicBezTo>
                  <a:lnTo>
                    <a:pt x="147066" y="5328920"/>
                  </a:lnTo>
                  <a:cubicBezTo>
                    <a:pt x="65786" y="5328920"/>
                    <a:pt x="0" y="5263134"/>
                    <a:pt x="0" y="5181854"/>
                  </a:cubicBezTo>
                  <a:close/>
                </a:path>
              </a:pathLst>
            </a:custGeom>
            <a:solidFill>
              <a:srgbClr val="1B2A4A"/>
            </a:solidFill>
            <a:ln w="19050" cap="sq">
              <a:solidFill>
                <a:srgbClr val="26405F"/>
              </a:solidFill>
              <a:prstDash val="solid"/>
              <a:miter/>
            </a:ln>
          </p:spPr>
        </p:sp>
      </p:grpSp>
      <p:grpSp>
        <p:nvGrpSpPr>
          <p:cNvPr id="17" name="Group 17"/>
          <p:cNvGrpSpPr/>
          <p:nvPr/>
        </p:nvGrpSpPr>
        <p:grpSpPr>
          <a:xfrm rot="0">
            <a:off x="6477000" y="5280660"/>
            <a:ext cx="10873740" cy="960120"/>
            <a:chOff x="-8829040" y="0"/>
            <a:chExt cx="14498320" cy="1280160"/>
          </a:xfrm>
        </p:grpSpPr>
        <p:sp>
          <p:nvSpPr>
            <p:cNvPr id="18" name="Freeform 18"/>
            <p:cNvSpPr/>
            <p:nvPr/>
          </p:nvSpPr>
          <p:spPr>
            <a:xfrm>
              <a:off x="0" y="0"/>
              <a:ext cx="5669280" cy="1280160"/>
            </a:xfrm>
            <a:custGeom>
              <a:avLst/>
              <a:gdLst/>
              <a:ahLst/>
              <a:cxnLst/>
              <a:rect l="l" t="t" r="r" b="b"/>
              <a:pathLst>
                <a:path w="5669280" h="1280160">
                  <a:moveTo>
                    <a:pt x="0" y="0"/>
                  </a:moveTo>
                  <a:lnTo>
                    <a:pt x="5669280" y="0"/>
                  </a:lnTo>
                  <a:lnTo>
                    <a:pt x="5669280" y="1280160"/>
                  </a:lnTo>
                  <a:lnTo>
                    <a:pt x="0" y="1280160"/>
                  </a:lnTo>
                  <a:close/>
                </a:path>
              </a:pathLst>
            </a:custGeom>
            <a:blipFill>
              <a:blip r:embed="rId1">
                <a:alphaModFix amt="0"/>
              </a:blip>
              <a:stretch>
                <a:fillRect t="-36290" b="-36290"/>
              </a:stretch>
            </a:blipFill>
          </p:spPr>
        </p:sp>
        <p:sp>
          <p:nvSpPr>
            <p:cNvPr id="19" name="TextBox 19"/>
            <p:cNvSpPr txBox="1"/>
            <p:nvPr/>
          </p:nvSpPr>
          <p:spPr>
            <a:xfrm>
              <a:off x="-8829040" y="0"/>
              <a:ext cx="5669280" cy="1280160"/>
            </a:xfrm>
            <a:prstGeom prst="rect">
              <a:avLst/>
            </a:prstGeom>
          </p:spPr>
          <p:txBody>
            <a:bodyPr lIns="0" tIns="0" rIns="0" bIns="0" rtlCol="0" anchor="ctr"/>
            <a:lstStyle/>
            <a:p>
              <a:pPr algn="ctr">
                <a:lnSpc>
                  <a:spcPts val="4680"/>
                </a:lnSpc>
              </a:pPr>
              <a:r>
                <a:rPr lang="en-US" sz="3900" b="1">
                  <a:solidFill>
                    <a:srgbClr val="00C2D1"/>
                  </a:solidFill>
                  <a:latin typeface="Cambria Bold" panose="02040803050406030204"/>
                  <a:ea typeface="Cambria Bold" panose="02040803050406030204"/>
                  <a:cs typeface="Cambria Bold" panose="02040803050406030204"/>
                  <a:sym typeface="Cambria Bold" panose="02040803050406030204"/>
                </a:rPr>
                <a:t>John-Suga Davou Nyam</a:t>
              </a:r>
              <a:endParaRPr lang="en-US" sz="3900" b="1">
                <a:solidFill>
                  <a:srgbClr val="00C2D1"/>
                </a:solidFill>
                <a:latin typeface="Cambria Bold" panose="02040803050406030204"/>
                <a:ea typeface="Cambria Bold" panose="02040803050406030204"/>
                <a:cs typeface="Cambria Bold" panose="02040803050406030204"/>
                <a:sym typeface="Cambria Bold" panose="02040803050406030204"/>
              </a:endParaRPr>
            </a:p>
          </p:txBody>
        </p:sp>
      </p:grpSp>
      <p:sp>
        <p:nvSpPr>
          <p:cNvPr id="23" name="AutoShape 23"/>
          <p:cNvSpPr/>
          <p:nvPr/>
        </p:nvSpPr>
        <p:spPr>
          <a:xfrm rot="20640">
            <a:off x="6934171" y="6804342"/>
            <a:ext cx="3173787" cy="0"/>
          </a:xfrm>
          <a:prstGeom prst="line">
            <a:avLst/>
          </a:prstGeom>
          <a:ln w="9525" cap="rnd">
            <a:solidFill>
              <a:srgbClr val="26405F"/>
            </a:solidFill>
            <a:prstDash val="solid"/>
            <a:headEnd type="none" w="sm" len="sm"/>
            <a:tailEnd type="none" w="sm" len="sm"/>
          </a:ln>
        </p:spPr>
      </p:sp>
      <p:sp>
        <p:nvSpPr>
          <p:cNvPr id="24" name="TextBox 24"/>
          <p:cNvSpPr txBox="1"/>
          <p:nvPr/>
        </p:nvSpPr>
        <p:spPr>
          <a:xfrm>
            <a:off x="9384665" y="7048500"/>
            <a:ext cx="1572895" cy="555625"/>
          </a:xfrm>
          <a:prstGeom prst="rect">
            <a:avLst/>
          </a:prstGeom>
        </p:spPr>
        <p:txBody>
          <a:bodyPr lIns="0" tIns="0" rIns="0" bIns="0" rtlCol="0" anchor="t">
            <a:noAutofit/>
          </a:bodyPr>
          <a:lstStyle/>
          <a:p>
            <a:pPr algn="ctr">
              <a:lnSpc>
                <a:spcPts val="1980"/>
              </a:lnSpc>
            </a:pPr>
            <a:endParaRPr lang="en-US" sz="1650">
              <a:solidFill>
                <a:srgbClr val="B9C6D8"/>
              </a:solidFill>
              <a:latin typeface="Calibri (MS)" panose="020F0502020204030204"/>
              <a:ea typeface="Calibri (MS)" panose="020F0502020204030204"/>
              <a:cs typeface="Calibri (MS)" panose="020F0502020204030204"/>
              <a:sym typeface="Calibri (MS)" panose="020F0502020204030204"/>
            </a:endParaRPr>
          </a:p>
        </p:txBody>
      </p:sp>
      <p:grpSp>
        <p:nvGrpSpPr>
          <p:cNvPr id="25" name="Group 25"/>
          <p:cNvGrpSpPr/>
          <p:nvPr/>
        </p:nvGrpSpPr>
        <p:grpSpPr>
          <a:xfrm rot="0">
            <a:off x="685800" y="9710928"/>
            <a:ext cx="10972800" cy="411480"/>
            <a:chOff x="0" y="0"/>
            <a:chExt cx="14630400" cy="548640"/>
          </a:xfrm>
        </p:grpSpPr>
        <p:sp>
          <p:nvSpPr>
            <p:cNvPr id="26" name="Freeform 26"/>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27" name="TextBox 27"/>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8FA3B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8FA3BF"/>
                </a:solidFill>
                <a:latin typeface="Calibri (MS)" panose="020F0502020204030204"/>
                <a:ea typeface="Calibri (MS)" panose="020F0502020204030204"/>
                <a:cs typeface="Calibri (MS)" panose="020F0502020204030204"/>
                <a:sym typeface="Calibri (MS)" panose="020F0502020204030204"/>
              </a:endParaRPr>
            </a:p>
          </p:txBody>
        </p:sp>
      </p:grpSp>
      <p:grpSp>
        <p:nvGrpSpPr>
          <p:cNvPr id="28" name="Group 28"/>
          <p:cNvGrpSpPr/>
          <p:nvPr/>
        </p:nvGrpSpPr>
        <p:grpSpPr>
          <a:xfrm rot="0">
            <a:off x="16911828" y="9710928"/>
            <a:ext cx="685800" cy="411480"/>
            <a:chOff x="0" y="0"/>
            <a:chExt cx="914400" cy="548640"/>
          </a:xfrm>
        </p:grpSpPr>
        <p:sp>
          <p:nvSpPr>
            <p:cNvPr id="29" name="Freeform 29"/>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30" name="TextBox 30"/>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8FA3BF"/>
                  </a:solidFill>
                  <a:latin typeface="Calibri (MS)" panose="020F0502020204030204"/>
                  <a:ea typeface="Calibri (MS)" panose="020F0502020204030204"/>
                  <a:cs typeface="Calibri (MS)" panose="020F0502020204030204"/>
                  <a:sym typeface="Calibri (MS)" panose="020F0502020204030204"/>
                </a:rPr>
                <a:t>1</a:t>
              </a:r>
              <a:endParaRPr lang="en-US" sz="1350">
                <a:solidFill>
                  <a:srgbClr val="8FA3B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822960" y="607695"/>
            <a:ext cx="16637508" cy="581025"/>
          </a:xfrm>
          <a:prstGeom prst="rect">
            <a:avLst/>
          </a:prstGeom>
        </p:spPr>
        <p:txBody>
          <a:bodyPr lIns="0" tIns="0" rIns="0" bIns="0" rtlCol="0" anchor="t">
            <a:spAutoFit/>
          </a:bodyPr>
          <a:lstStyle/>
          <a:p>
            <a:pPr algn="l">
              <a:lnSpc>
                <a:spcPts val="4500"/>
              </a:lnSpc>
            </a:pPr>
            <a:r>
              <a:rPr lang="en-US" sz="3750" b="1">
                <a:solidFill>
                  <a:srgbClr val="0D1B2A"/>
                </a:solidFill>
                <a:latin typeface="Cambria Bold" panose="02040803050406030204"/>
                <a:ea typeface="Cambria Bold" panose="02040803050406030204"/>
                <a:cs typeface="Cambria Bold" panose="02040803050406030204"/>
                <a:sym typeface="Cambria Bold" panose="02040803050406030204"/>
              </a:rPr>
              <a:t>Workstation and Network Interface identification </a:t>
            </a:r>
            <a:endParaRPr lang="en-US" sz="37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3" name="Group 3"/>
          <p:cNvGrpSpPr/>
          <p:nvPr/>
        </p:nvGrpSpPr>
        <p:grpSpPr>
          <a:xfrm rot="0">
            <a:off x="813435" y="3213735"/>
            <a:ext cx="3146298" cy="2625090"/>
            <a:chOff x="0" y="0"/>
            <a:chExt cx="4195064" cy="3500120"/>
          </a:xfrm>
        </p:grpSpPr>
        <p:sp>
          <p:nvSpPr>
            <p:cNvPr id="4" name="Freeform 4"/>
            <p:cNvSpPr/>
            <p:nvPr/>
          </p:nvSpPr>
          <p:spPr>
            <a:xfrm>
              <a:off x="0" y="0"/>
              <a:ext cx="4195064" cy="3500120"/>
            </a:xfrm>
            <a:custGeom>
              <a:avLst/>
              <a:gdLst/>
              <a:ahLst/>
              <a:cxnLst/>
              <a:rect l="l" t="t" r="r" b="b"/>
              <a:pathLst>
                <a:path w="4195064" h="3500120">
                  <a:moveTo>
                    <a:pt x="0" y="147447"/>
                  </a:moveTo>
                  <a:cubicBezTo>
                    <a:pt x="0" y="66040"/>
                    <a:pt x="66040" y="0"/>
                    <a:pt x="147447" y="0"/>
                  </a:cubicBezTo>
                  <a:lnTo>
                    <a:pt x="4047617" y="0"/>
                  </a:lnTo>
                  <a:cubicBezTo>
                    <a:pt x="4129024" y="0"/>
                    <a:pt x="4195064" y="66040"/>
                    <a:pt x="4195064" y="147447"/>
                  </a:cubicBezTo>
                  <a:lnTo>
                    <a:pt x="4195064" y="3352673"/>
                  </a:lnTo>
                  <a:cubicBezTo>
                    <a:pt x="4195064" y="3434080"/>
                    <a:pt x="4129024" y="3500120"/>
                    <a:pt x="4047617" y="3500120"/>
                  </a:cubicBezTo>
                  <a:lnTo>
                    <a:pt x="147447" y="3500120"/>
                  </a:lnTo>
                  <a:cubicBezTo>
                    <a:pt x="66040" y="3500120"/>
                    <a:pt x="0" y="3434080"/>
                    <a:pt x="0" y="3352673"/>
                  </a:cubicBezTo>
                  <a:close/>
                </a:path>
              </a:pathLst>
            </a:custGeom>
            <a:solidFill>
              <a:srgbClr val="FFFFFF"/>
            </a:solidFill>
            <a:ln w="19050" cap="sq">
              <a:solidFill>
                <a:srgbClr val="D9E0E8"/>
              </a:solidFill>
              <a:prstDash val="solid"/>
              <a:miter/>
            </a:ln>
          </p:spPr>
        </p:sp>
      </p:grpSp>
      <p:grpSp>
        <p:nvGrpSpPr>
          <p:cNvPr id="5" name="Group 5"/>
          <p:cNvGrpSpPr/>
          <p:nvPr/>
        </p:nvGrpSpPr>
        <p:grpSpPr>
          <a:xfrm rot="0">
            <a:off x="1097280" y="3525012"/>
            <a:ext cx="576072" cy="576072"/>
            <a:chOff x="0" y="0"/>
            <a:chExt cx="768096" cy="768096"/>
          </a:xfrm>
        </p:grpSpPr>
        <p:sp>
          <p:nvSpPr>
            <p:cNvPr id="6" name="Freeform 6"/>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00C2D1"/>
            </a:solidFill>
          </p:spPr>
        </p:sp>
      </p:grpSp>
      <p:grpSp>
        <p:nvGrpSpPr>
          <p:cNvPr id="7" name="Group 7"/>
          <p:cNvGrpSpPr/>
          <p:nvPr/>
        </p:nvGrpSpPr>
        <p:grpSpPr>
          <a:xfrm rot="0">
            <a:off x="1097280" y="3525012"/>
            <a:ext cx="576072" cy="576072"/>
            <a:chOff x="0" y="0"/>
            <a:chExt cx="768096" cy="768096"/>
          </a:xfrm>
        </p:grpSpPr>
        <p:sp>
          <p:nvSpPr>
            <p:cNvPr id="8" name="Freeform 8"/>
            <p:cNvSpPr/>
            <p:nvPr/>
          </p:nvSpPr>
          <p:spPr>
            <a:xfrm>
              <a:off x="0" y="0"/>
              <a:ext cx="768096" cy="768096"/>
            </a:xfrm>
            <a:custGeom>
              <a:avLst/>
              <a:gdLst/>
              <a:ahLst/>
              <a:cxnLst/>
              <a:rect l="l" t="t" r="r" b="b"/>
              <a:pathLst>
                <a:path w="768096" h="768096">
                  <a:moveTo>
                    <a:pt x="0" y="0"/>
                  </a:moveTo>
                  <a:lnTo>
                    <a:pt x="768096" y="0"/>
                  </a:lnTo>
                  <a:lnTo>
                    <a:pt x="768096" y="768096"/>
                  </a:lnTo>
                  <a:lnTo>
                    <a:pt x="0" y="768096"/>
                  </a:lnTo>
                  <a:close/>
                </a:path>
              </a:pathLst>
            </a:custGeom>
            <a:blipFill>
              <a:blip r:embed="rId1">
                <a:alphaModFix amt="0"/>
              </a:blip>
              <a:stretch>
                <a:fillRect l="-78303" r="-78303"/>
              </a:stretch>
            </a:blipFill>
          </p:spPr>
        </p:sp>
        <p:sp>
          <p:nvSpPr>
            <p:cNvPr id="9" name="TextBox 9"/>
            <p:cNvSpPr txBox="1"/>
            <p:nvPr/>
          </p:nvSpPr>
          <p:spPr>
            <a:xfrm>
              <a:off x="0" y="-28575"/>
              <a:ext cx="768096" cy="796671"/>
            </a:xfrm>
            <a:prstGeom prst="rect">
              <a:avLst/>
            </a:prstGeom>
          </p:spPr>
          <p:txBody>
            <a:bodyPr lIns="0" tIns="0" rIns="0" bIns="0" rtlCol="0" anchor="ctr"/>
            <a:lstStyle/>
            <a:p>
              <a:pPr algn="ctr">
                <a:lnSpc>
                  <a:spcPts val="1965"/>
                </a:lnSpc>
              </a:pPr>
              <a:r>
                <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rPr>
                <a:t>1</a:t>
              </a:r>
              <a:endPar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rot="0">
            <a:off x="1028700" y="4293108"/>
            <a:ext cx="2715768" cy="438912"/>
            <a:chOff x="0" y="0"/>
            <a:chExt cx="3621024" cy="585216"/>
          </a:xfrm>
        </p:grpSpPr>
        <p:sp>
          <p:nvSpPr>
            <p:cNvPr id="11" name="Freeform 11"/>
            <p:cNvSpPr/>
            <p:nvPr/>
          </p:nvSpPr>
          <p:spPr>
            <a:xfrm>
              <a:off x="0" y="0"/>
              <a:ext cx="3621024" cy="585216"/>
            </a:xfrm>
            <a:custGeom>
              <a:avLst/>
              <a:gdLst/>
              <a:ahLst/>
              <a:cxnLst/>
              <a:rect l="l" t="t" r="r" b="b"/>
              <a:pathLst>
                <a:path w="3621024" h="585216">
                  <a:moveTo>
                    <a:pt x="0" y="0"/>
                  </a:moveTo>
                  <a:lnTo>
                    <a:pt x="3621024" y="0"/>
                  </a:lnTo>
                  <a:lnTo>
                    <a:pt x="3621024" y="585216"/>
                  </a:lnTo>
                  <a:lnTo>
                    <a:pt x="0" y="585216"/>
                  </a:lnTo>
                  <a:close/>
                </a:path>
              </a:pathLst>
            </a:custGeom>
            <a:blipFill>
              <a:blip r:embed="rId1">
                <a:alphaModFix amt="0"/>
              </a:blip>
              <a:stretch>
                <a:fillRect t="-70563" b="-70563"/>
              </a:stretch>
            </a:blipFill>
          </p:spPr>
        </p:sp>
        <p:sp>
          <p:nvSpPr>
            <p:cNvPr id="12" name="TextBox 12"/>
            <p:cNvSpPr txBox="1"/>
            <p:nvPr/>
          </p:nvSpPr>
          <p:spPr>
            <a:xfrm>
              <a:off x="0" y="-38100"/>
              <a:ext cx="3621024" cy="623316"/>
            </a:xfrm>
            <a:prstGeom prst="rect">
              <a:avLst/>
            </a:prstGeom>
          </p:spPr>
          <p:txBody>
            <a:bodyPr lIns="0" tIns="0" rIns="0" bIns="0" rtlCol="0" anchor="ctr"/>
            <a:lstStyle/>
            <a:p>
              <a:pPr algn="l">
                <a:lnSpc>
                  <a:spcPts val="1710"/>
                </a:lnSpc>
              </a:pPr>
              <a:r>
                <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rPr>
                <a:t>HOSTNAME</a:t>
              </a:r>
              <a:endPar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3" name="TextBox 13"/>
          <p:cNvSpPr txBox="1"/>
          <p:nvPr/>
        </p:nvSpPr>
        <p:spPr>
          <a:xfrm>
            <a:off x="1028700" y="4722495"/>
            <a:ext cx="2715768" cy="969645"/>
          </a:xfrm>
          <a:prstGeom prst="rect">
            <a:avLst/>
          </a:prstGeom>
        </p:spPr>
        <p:txBody>
          <a:bodyPr lIns="0" tIns="0" rIns="0" bIns="0" rtlCol="0" anchor="t">
            <a:spAutoFit/>
          </a:bodyPr>
          <a:lstStyle/>
          <a:p>
            <a:pPr algn="l">
              <a:lnSpc>
                <a:spcPts val="3420"/>
              </a:lnSpc>
            </a:pPr>
            <a:r>
              <a:rPr lang="en-US" sz="2850" b="1">
                <a:solidFill>
                  <a:srgbClr val="0D1B2A"/>
                </a:solidFill>
                <a:latin typeface="Cambria Bold" panose="02040803050406030204"/>
                <a:ea typeface="Cambria Bold" panose="02040803050406030204"/>
                <a:cs typeface="Cambria Bold" panose="02040803050406030204"/>
                <a:sym typeface="Cambria Bold" panose="02040803050406030204"/>
              </a:rPr>
              <a:t>kali</a:t>
            </a:r>
            <a:endParaRPr lang="en-US" sz="28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14" name="Group 14"/>
          <p:cNvGrpSpPr/>
          <p:nvPr/>
        </p:nvGrpSpPr>
        <p:grpSpPr>
          <a:xfrm rot="0">
            <a:off x="4187571" y="3213735"/>
            <a:ext cx="3146298" cy="2625090"/>
            <a:chOff x="0" y="0"/>
            <a:chExt cx="4195064" cy="3500120"/>
          </a:xfrm>
        </p:grpSpPr>
        <p:sp>
          <p:nvSpPr>
            <p:cNvPr id="15" name="Freeform 15"/>
            <p:cNvSpPr/>
            <p:nvPr/>
          </p:nvSpPr>
          <p:spPr>
            <a:xfrm>
              <a:off x="0" y="0"/>
              <a:ext cx="4195064" cy="3500120"/>
            </a:xfrm>
            <a:custGeom>
              <a:avLst/>
              <a:gdLst/>
              <a:ahLst/>
              <a:cxnLst/>
              <a:rect l="l" t="t" r="r" b="b"/>
              <a:pathLst>
                <a:path w="4195064" h="3500120">
                  <a:moveTo>
                    <a:pt x="0" y="147447"/>
                  </a:moveTo>
                  <a:cubicBezTo>
                    <a:pt x="0" y="66040"/>
                    <a:pt x="66040" y="0"/>
                    <a:pt x="147447" y="0"/>
                  </a:cubicBezTo>
                  <a:lnTo>
                    <a:pt x="4047617" y="0"/>
                  </a:lnTo>
                  <a:cubicBezTo>
                    <a:pt x="4129024" y="0"/>
                    <a:pt x="4195064" y="66040"/>
                    <a:pt x="4195064" y="147447"/>
                  </a:cubicBezTo>
                  <a:lnTo>
                    <a:pt x="4195064" y="3352673"/>
                  </a:lnTo>
                  <a:cubicBezTo>
                    <a:pt x="4195064" y="3434080"/>
                    <a:pt x="4129024" y="3500120"/>
                    <a:pt x="4047617" y="3500120"/>
                  </a:cubicBezTo>
                  <a:lnTo>
                    <a:pt x="147447" y="3500120"/>
                  </a:lnTo>
                  <a:cubicBezTo>
                    <a:pt x="66040" y="3500120"/>
                    <a:pt x="0" y="3434080"/>
                    <a:pt x="0" y="3352673"/>
                  </a:cubicBezTo>
                  <a:close/>
                </a:path>
              </a:pathLst>
            </a:custGeom>
            <a:solidFill>
              <a:srgbClr val="FFFFFF"/>
            </a:solidFill>
            <a:ln w="19050" cap="sq">
              <a:solidFill>
                <a:srgbClr val="D9E0E8"/>
              </a:solidFill>
              <a:prstDash val="solid"/>
              <a:miter/>
            </a:ln>
          </p:spPr>
        </p:sp>
      </p:grpSp>
      <p:grpSp>
        <p:nvGrpSpPr>
          <p:cNvPr id="16" name="Group 16"/>
          <p:cNvGrpSpPr/>
          <p:nvPr/>
        </p:nvGrpSpPr>
        <p:grpSpPr>
          <a:xfrm rot="0">
            <a:off x="4471416" y="3525012"/>
            <a:ext cx="576072" cy="576072"/>
            <a:chOff x="0" y="0"/>
            <a:chExt cx="768096" cy="768096"/>
          </a:xfrm>
        </p:grpSpPr>
        <p:sp>
          <p:nvSpPr>
            <p:cNvPr id="17" name="Freeform 17"/>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00C2D1"/>
            </a:solidFill>
          </p:spPr>
        </p:sp>
      </p:grpSp>
      <p:grpSp>
        <p:nvGrpSpPr>
          <p:cNvPr id="18" name="Group 18"/>
          <p:cNvGrpSpPr/>
          <p:nvPr/>
        </p:nvGrpSpPr>
        <p:grpSpPr>
          <a:xfrm rot="0">
            <a:off x="4471416" y="3525012"/>
            <a:ext cx="576072" cy="576072"/>
            <a:chOff x="0" y="0"/>
            <a:chExt cx="768096" cy="768096"/>
          </a:xfrm>
        </p:grpSpPr>
        <p:sp>
          <p:nvSpPr>
            <p:cNvPr id="19" name="Freeform 19"/>
            <p:cNvSpPr/>
            <p:nvPr/>
          </p:nvSpPr>
          <p:spPr>
            <a:xfrm>
              <a:off x="0" y="0"/>
              <a:ext cx="768096" cy="768096"/>
            </a:xfrm>
            <a:custGeom>
              <a:avLst/>
              <a:gdLst/>
              <a:ahLst/>
              <a:cxnLst/>
              <a:rect l="l" t="t" r="r" b="b"/>
              <a:pathLst>
                <a:path w="768096" h="768096">
                  <a:moveTo>
                    <a:pt x="0" y="0"/>
                  </a:moveTo>
                  <a:lnTo>
                    <a:pt x="768096" y="0"/>
                  </a:lnTo>
                  <a:lnTo>
                    <a:pt x="768096" y="768096"/>
                  </a:lnTo>
                  <a:lnTo>
                    <a:pt x="0" y="768096"/>
                  </a:lnTo>
                  <a:close/>
                </a:path>
              </a:pathLst>
            </a:custGeom>
            <a:blipFill>
              <a:blip r:embed="rId1">
                <a:alphaModFix amt="0"/>
              </a:blip>
              <a:stretch>
                <a:fillRect l="-78303" r="-78303"/>
              </a:stretch>
            </a:blipFill>
          </p:spPr>
        </p:sp>
        <p:sp>
          <p:nvSpPr>
            <p:cNvPr id="20" name="TextBox 20"/>
            <p:cNvSpPr txBox="1"/>
            <p:nvPr/>
          </p:nvSpPr>
          <p:spPr>
            <a:xfrm>
              <a:off x="0" y="-28575"/>
              <a:ext cx="768096" cy="796671"/>
            </a:xfrm>
            <a:prstGeom prst="rect">
              <a:avLst/>
            </a:prstGeom>
          </p:spPr>
          <p:txBody>
            <a:bodyPr lIns="0" tIns="0" rIns="0" bIns="0" rtlCol="0" anchor="ctr"/>
            <a:lstStyle/>
            <a:p>
              <a:pPr algn="ctr">
                <a:lnSpc>
                  <a:spcPts val="1965"/>
                </a:lnSpc>
              </a:pPr>
              <a:r>
                <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rPr>
                <a:t>2</a:t>
              </a:r>
              <a:endPar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1" name="Group 21"/>
          <p:cNvGrpSpPr/>
          <p:nvPr/>
        </p:nvGrpSpPr>
        <p:grpSpPr>
          <a:xfrm rot="0">
            <a:off x="4402836" y="4293108"/>
            <a:ext cx="2715768" cy="438912"/>
            <a:chOff x="0" y="0"/>
            <a:chExt cx="3621024" cy="585216"/>
          </a:xfrm>
        </p:grpSpPr>
        <p:sp>
          <p:nvSpPr>
            <p:cNvPr id="22" name="Freeform 22"/>
            <p:cNvSpPr/>
            <p:nvPr/>
          </p:nvSpPr>
          <p:spPr>
            <a:xfrm>
              <a:off x="0" y="0"/>
              <a:ext cx="3621024" cy="585216"/>
            </a:xfrm>
            <a:custGeom>
              <a:avLst/>
              <a:gdLst/>
              <a:ahLst/>
              <a:cxnLst/>
              <a:rect l="l" t="t" r="r" b="b"/>
              <a:pathLst>
                <a:path w="3621024" h="585216">
                  <a:moveTo>
                    <a:pt x="0" y="0"/>
                  </a:moveTo>
                  <a:lnTo>
                    <a:pt x="3621024" y="0"/>
                  </a:lnTo>
                  <a:lnTo>
                    <a:pt x="3621024" y="585216"/>
                  </a:lnTo>
                  <a:lnTo>
                    <a:pt x="0" y="585216"/>
                  </a:lnTo>
                  <a:close/>
                </a:path>
              </a:pathLst>
            </a:custGeom>
            <a:blipFill>
              <a:blip r:embed="rId1">
                <a:alphaModFix amt="0"/>
              </a:blip>
              <a:stretch>
                <a:fillRect t="-70563" b="-70563"/>
              </a:stretch>
            </a:blipFill>
          </p:spPr>
        </p:sp>
        <p:sp>
          <p:nvSpPr>
            <p:cNvPr id="23" name="TextBox 23"/>
            <p:cNvSpPr txBox="1"/>
            <p:nvPr/>
          </p:nvSpPr>
          <p:spPr>
            <a:xfrm>
              <a:off x="0" y="-38100"/>
              <a:ext cx="3621024" cy="623316"/>
            </a:xfrm>
            <a:prstGeom prst="rect">
              <a:avLst/>
            </a:prstGeom>
          </p:spPr>
          <p:txBody>
            <a:bodyPr lIns="0" tIns="0" rIns="0" bIns="0" rtlCol="0" anchor="ctr"/>
            <a:lstStyle/>
            <a:p>
              <a:pPr algn="l">
                <a:lnSpc>
                  <a:spcPts val="1710"/>
                </a:lnSpc>
              </a:pPr>
              <a:r>
                <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rPr>
                <a:t>ACTIVE INTERFACE</a:t>
              </a:r>
              <a:endPar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24" name="TextBox 24"/>
          <p:cNvSpPr txBox="1"/>
          <p:nvPr/>
        </p:nvSpPr>
        <p:spPr>
          <a:xfrm>
            <a:off x="4402836" y="4722495"/>
            <a:ext cx="2715768" cy="969645"/>
          </a:xfrm>
          <a:prstGeom prst="rect">
            <a:avLst/>
          </a:prstGeom>
        </p:spPr>
        <p:txBody>
          <a:bodyPr lIns="0" tIns="0" rIns="0" bIns="0" rtlCol="0" anchor="t">
            <a:spAutoFit/>
          </a:bodyPr>
          <a:lstStyle/>
          <a:p>
            <a:pPr algn="l">
              <a:lnSpc>
                <a:spcPts val="3420"/>
              </a:lnSpc>
            </a:pPr>
            <a:r>
              <a:rPr lang="en-US" sz="2850" b="1">
                <a:solidFill>
                  <a:srgbClr val="0D1B2A"/>
                </a:solidFill>
                <a:latin typeface="Cambria Bold" panose="02040803050406030204"/>
                <a:ea typeface="Cambria Bold" panose="02040803050406030204"/>
                <a:cs typeface="Cambria Bold" panose="02040803050406030204"/>
                <a:sym typeface="Cambria Bold" panose="02040803050406030204"/>
              </a:rPr>
              <a:t>eth0</a:t>
            </a:r>
            <a:endParaRPr lang="en-US" sz="28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25" name="Group 25"/>
          <p:cNvGrpSpPr/>
          <p:nvPr/>
        </p:nvGrpSpPr>
        <p:grpSpPr>
          <a:xfrm rot="0">
            <a:off x="7561707" y="3213735"/>
            <a:ext cx="3146298" cy="2625090"/>
            <a:chOff x="0" y="0"/>
            <a:chExt cx="4195064" cy="3500120"/>
          </a:xfrm>
        </p:grpSpPr>
        <p:sp>
          <p:nvSpPr>
            <p:cNvPr id="26" name="Freeform 26"/>
            <p:cNvSpPr/>
            <p:nvPr/>
          </p:nvSpPr>
          <p:spPr>
            <a:xfrm>
              <a:off x="0" y="0"/>
              <a:ext cx="4195064" cy="3500120"/>
            </a:xfrm>
            <a:custGeom>
              <a:avLst/>
              <a:gdLst/>
              <a:ahLst/>
              <a:cxnLst/>
              <a:rect l="l" t="t" r="r" b="b"/>
              <a:pathLst>
                <a:path w="4195064" h="3500120">
                  <a:moveTo>
                    <a:pt x="0" y="147447"/>
                  </a:moveTo>
                  <a:cubicBezTo>
                    <a:pt x="0" y="66040"/>
                    <a:pt x="66040" y="0"/>
                    <a:pt x="147447" y="0"/>
                  </a:cubicBezTo>
                  <a:lnTo>
                    <a:pt x="4047617" y="0"/>
                  </a:lnTo>
                  <a:cubicBezTo>
                    <a:pt x="4129024" y="0"/>
                    <a:pt x="4195064" y="66040"/>
                    <a:pt x="4195064" y="147447"/>
                  </a:cubicBezTo>
                  <a:lnTo>
                    <a:pt x="4195064" y="3352673"/>
                  </a:lnTo>
                  <a:cubicBezTo>
                    <a:pt x="4195064" y="3434080"/>
                    <a:pt x="4129024" y="3500120"/>
                    <a:pt x="4047617" y="3500120"/>
                  </a:cubicBezTo>
                  <a:lnTo>
                    <a:pt x="147447" y="3500120"/>
                  </a:lnTo>
                  <a:cubicBezTo>
                    <a:pt x="66040" y="3500120"/>
                    <a:pt x="0" y="3434080"/>
                    <a:pt x="0" y="3352673"/>
                  </a:cubicBezTo>
                  <a:close/>
                </a:path>
              </a:pathLst>
            </a:custGeom>
            <a:solidFill>
              <a:srgbClr val="FFFFFF"/>
            </a:solidFill>
            <a:ln w="19050" cap="sq">
              <a:solidFill>
                <a:srgbClr val="D9E0E8"/>
              </a:solidFill>
              <a:prstDash val="solid"/>
              <a:miter/>
            </a:ln>
          </p:spPr>
        </p:sp>
      </p:grpSp>
      <p:grpSp>
        <p:nvGrpSpPr>
          <p:cNvPr id="27" name="Group 27"/>
          <p:cNvGrpSpPr/>
          <p:nvPr/>
        </p:nvGrpSpPr>
        <p:grpSpPr>
          <a:xfrm rot="0">
            <a:off x="7845552" y="3525012"/>
            <a:ext cx="576072" cy="576072"/>
            <a:chOff x="0" y="0"/>
            <a:chExt cx="768096" cy="768096"/>
          </a:xfrm>
        </p:grpSpPr>
        <p:sp>
          <p:nvSpPr>
            <p:cNvPr id="28" name="Freeform 28"/>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00C2D1"/>
            </a:solidFill>
          </p:spPr>
        </p:sp>
      </p:grpSp>
      <p:grpSp>
        <p:nvGrpSpPr>
          <p:cNvPr id="29" name="Group 29"/>
          <p:cNvGrpSpPr/>
          <p:nvPr/>
        </p:nvGrpSpPr>
        <p:grpSpPr>
          <a:xfrm rot="0">
            <a:off x="7845552" y="3525012"/>
            <a:ext cx="576072" cy="576072"/>
            <a:chOff x="0" y="0"/>
            <a:chExt cx="768096" cy="768096"/>
          </a:xfrm>
        </p:grpSpPr>
        <p:sp>
          <p:nvSpPr>
            <p:cNvPr id="30" name="Freeform 30"/>
            <p:cNvSpPr/>
            <p:nvPr/>
          </p:nvSpPr>
          <p:spPr>
            <a:xfrm>
              <a:off x="0" y="0"/>
              <a:ext cx="768096" cy="768096"/>
            </a:xfrm>
            <a:custGeom>
              <a:avLst/>
              <a:gdLst/>
              <a:ahLst/>
              <a:cxnLst/>
              <a:rect l="l" t="t" r="r" b="b"/>
              <a:pathLst>
                <a:path w="768096" h="768096">
                  <a:moveTo>
                    <a:pt x="0" y="0"/>
                  </a:moveTo>
                  <a:lnTo>
                    <a:pt x="768096" y="0"/>
                  </a:lnTo>
                  <a:lnTo>
                    <a:pt x="768096" y="768096"/>
                  </a:lnTo>
                  <a:lnTo>
                    <a:pt x="0" y="768096"/>
                  </a:lnTo>
                  <a:close/>
                </a:path>
              </a:pathLst>
            </a:custGeom>
            <a:blipFill>
              <a:blip r:embed="rId1">
                <a:alphaModFix amt="0"/>
              </a:blip>
              <a:stretch>
                <a:fillRect l="-78303" r="-78303"/>
              </a:stretch>
            </a:blipFill>
          </p:spPr>
        </p:sp>
        <p:sp>
          <p:nvSpPr>
            <p:cNvPr id="31" name="TextBox 31"/>
            <p:cNvSpPr txBox="1"/>
            <p:nvPr/>
          </p:nvSpPr>
          <p:spPr>
            <a:xfrm>
              <a:off x="0" y="-28575"/>
              <a:ext cx="768096" cy="796671"/>
            </a:xfrm>
            <a:prstGeom prst="rect">
              <a:avLst/>
            </a:prstGeom>
          </p:spPr>
          <p:txBody>
            <a:bodyPr lIns="0" tIns="0" rIns="0" bIns="0" rtlCol="0" anchor="ctr"/>
            <a:lstStyle/>
            <a:p>
              <a:pPr algn="ctr">
                <a:lnSpc>
                  <a:spcPts val="1965"/>
                </a:lnSpc>
              </a:pPr>
              <a:r>
                <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rPr>
                <a:t>3</a:t>
              </a:r>
              <a:endPar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2" name="Group 32"/>
          <p:cNvGrpSpPr/>
          <p:nvPr/>
        </p:nvGrpSpPr>
        <p:grpSpPr>
          <a:xfrm rot="0">
            <a:off x="7776972" y="4293108"/>
            <a:ext cx="2715768" cy="438912"/>
            <a:chOff x="0" y="0"/>
            <a:chExt cx="3621024" cy="585216"/>
          </a:xfrm>
        </p:grpSpPr>
        <p:sp>
          <p:nvSpPr>
            <p:cNvPr id="33" name="Freeform 33"/>
            <p:cNvSpPr/>
            <p:nvPr/>
          </p:nvSpPr>
          <p:spPr>
            <a:xfrm>
              <a:off x="0" y="0"/>
              <a:ext cx="3621024" cy="585216"/>
            </a:xfrm>
            <a:custGeom>
              <a:avLst/>
              <a:gdLst/>
              <a:ahLst/>
              <a:cxnLst/>
              <a:rect l="l" t="t" r="r" b="b"/>
              <a:pathLst>
                <a:path w="3621024" h="585216">
                  <a:moveTo>
                    <a:pt x="0" y="0"/>
                  </a:moveTo>
                  <a:lnTo>
                    <a:pt x="3621024" y="0"/>
                  </a:lnTo>
                  <a:lnTo>
                    <a:pt x="3621024" y="585216"/>
                  </a:lnTo>
                  <a:lnTo>
                    <a:pt x="0" y="585216"/>
                  </a:lnTo>
                  <a:close/>
                </a:path>
              </a:pathLst>
            </a:custGeom>
            <a:blipFill>
              <a:blip r:embed="rId1">
                <a:alphaModFix amt="0"/>
              </a:blip>
              <a:stretch>
                <a:fillRect t="-70563" b="-70563"/>
              </a:stretch>
            </a:blipFill>
          </p:spPr>
        </p:sp>
        <p:sp>
          <p:nvSpPr>
            <p:cNvPr id="34" name="TextBox 34"/>
            <p:cNvSpPr txBox="1"/>
            <p:nvPr/>
          </p:nvSpPr>
          <p:spPr>
            <a:xfrm>
              <a:off x="0" y="-38100"/>
              <a:ext cx="3621024" cy="623316"/>
            </a:xfrm>
            <a:prstGeom prst="rect">
              <a:avLst/>
            </a:prstGeom>
          </p:spPr>
          <p:txBody>
            <a:bodyPr lIns="0" tIns="0" rIns="0" bIns="0" rtlCol="0" anchor="ctr"/>
            <a:lstStyle/>
            <a:p>
              <a:pPr algn="l">
                <a:lnSpc>
                  <a:spcPts val="1710"/>
                </a:lnSpc>
              </a:pPr>
              <a:r>
                <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rPr>
                <a:t>IPV4 ADDRESS</a:t>
              </a:r>
              <a:endPar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35" name="TextBox 35"/>
          <p:cNvSpPr txBox="1"/>
          <p:nvPr/>
        </p:nvSpPr>
        <p:spPr>
          <a:xfrm>
            <a:off x="7776972" y="4722495"/>
            <a:ext cx="2715768" cy="969645"/>
          </a:xfrm>
          <a:prstGeom prst="rect">
            <a:avLst/>
          </a:prstGeom>
        </p:spPr>
        <p:txBody>
          <a:bodyPr lIns="0" tIns="0" rIns="0" bIns="0" rtlCol="0" anchor="t">
            <a:spAutoFit/>
          </a:bodyPr>
          <a:lstStyle/>
          <a:p>
            <a:pPr algn="l">
              <a:lnSpc>
                <a:spcPts val="3420"/>
              </a:lnSpc>
            </a:pPr>
            <a:r>
              <a:rPr lang="en-US" sz="2850" b="1">
                <a:solidFill>
                  <a:srgbClr val="0D1B2A"/>
                </a:solidFill>
                <a:latin typeface="Cambria Bold" panose="02040803050406030204"/>
                <a:ea typeface="Cambria Bold" panose="02040803050406030204"/>
                <a:cs typeface="Cambria Bold" panose="02040803050406030204"/>
                <a:sym typeface="Cambria Bold" panose="02040803050406030204"/>
              </a:rPr>
              <a:t>10.0.2.15</a:t>
            </a:r>
            <a:endParaRPr lang="en-US" sz="28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36" name="Group 36"/>
          <p:cNvGrpSpPr/>
          <p:nvPr/>
        </p:nvGrpSpPr>
        <p:grpSpPr>
          <a:xfrm rot="0">
            <a:off x="10935843" y="3213735"/>
            <a:ext cx="3146298" cy="2625090"/>
            <a:chOff x="0" y="0"/>
            <a:chExt cx="4195064" cy="3500120"/>
          </a:xfrm>
        </p:grpSpPr>
        <p:sp>
          <p:nvSpPr>
            <p:cNvPr id="37" name="Freeform 37"/>
            <p:cNvSpPr/>
            <p:nvPr/>
          </p:nvSpPr>
          <p:spPr>
            <a:xfrm>
              <a:off x="0" y="0"/>
              <a:ext cx="4195064" cy="3500120"/>
            </a:xfrm>
            <a:custGeom>
              <a:avLst/>
              <a:gdLst/>
              <a:ahLst/>
              <a:cxnLst/>
              <a:rect l="l" t="t" r="r" b="b"/>
              <a:pathLst>
                <a:path w="4195064" h="3500120">
                  <a:moveTo>
                    <a:pt x="0" y="147447"/>
                  </a:moveTo>
                  <a:cubicBezTo>
                    <a:pt x="0" y="66040"/>
                    <a:pt x="66040" y="0"/>
                    <a:pt x="147447" y="0"/>
                  </a:cubicBezTo>
                  <a:lnTo>
                    <a:pt x="4047617" y="0"/>
                  </a:lnTo>
                  <a:cubicBezTo>
                    <a:pt x="4129024" y="0"/>
                    <a:pt x="4195064" y="66040"/>
                    <a:pt x="4195064" y="147447"/>
                  </a:cubicBezTo>
                  <a:lnTo>
                    <a:pt x="4195064" y="3352673"/>
                  </a:lnTo>
                  <a:cubicBezTo>
                    <a:pt x="4195064" y="3434080"/>
                    <a:pt x="4129024" y="3500120"/>
                    <a:pt x="4047617" y="3500120"/>
                  </a:cubicBezTo>
                  <a:lnTo>
                    <a:pt x="147447" y="3500120"/>
                  </a:lnTo>
                  <a:cubicBezTo>
                    <a:pt x="66040" y="3500120"/>
                    <a:pt x="0" y="3434080"/>
                    <a:pt x="0" y="3352673"/>
                  </a:cubicBezTo>
                  <a:close/>
                </a:path>
              </a:pathLst>
            </a:custGeom>
            <a:solidFill>
              <a:srgbClr val="FFFFFF"/>
            </a:solidFill>
            <a:ln w="19050" cap="sq">
              <a:solidFill>
                <a:srgbClr val="D9E0E8"/>
              </a:solidFill>
              <a:prstDash val="solid"/>
              <a:miter/>
            </a:ln>
          </p:spPr>
        </p:sp>
      </p:grpSp>
      <p:grpSp>
        <p:nvGrpSpPr>
          <p:cNvPr id="38" name="Group 38"/>
          <p:cNvGrpSpPr/>
          <p:nvPr/>
        </p:nvGrpSpPr>
        <p:grpSpPr>
          <a:xfrm rot="0">
            <a:off x="11219688" y="3525012"/>
            <a:ext cx="576072" cy="576072"/>
            <a:chOff x="0" y="0"/>
            <a:chExt cx="768096" cy="768096"/>
          </a:xfrm>
        </p:grpSpPr>
        <p:sp>
          <p:nvSpPr>
            <p:cNvPr id="39" name="Freeform 39"/>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00C2D1"/>
            </a:solidFill>
          </p:spPr>
        </p:sp>
      </p:grpSp>
      <p:grpSp>
        <p:nvGrpSpPr>
          <p:cNvPr id="40" name="Group 40"/>
          <p:cNvGrpSpPr/>
          <p:nvPr/>
        </p:nvGrpSpPr>
        <p:grpSpPr>
          <a:xfrm rot="0">
            <a:off x="11219688" y="3525012"/>
            <a:ext cx="576072" cy="576072"/>
            <a:chOff x="0" y="0"/>
            <a:chExt cx="768096" cy="768096"/>
          </a:xfrm>
        </p:grpSpPr>
        <p:sp>
          <p:nvSpPr>
            <p:cNvPr id="41" name="Freeform 41"/>
            <p:cNvSpPr/>
            <p:nvPr/>
          </p:nvSpPr>
          <p:spPr>
            <a:xfrm>
              <a:off x="0" y="0"/>
              <a:ext cx="768096" cy="768096"/>
            </a:xfrm>
            <a:custGeom>
              <a:avLst/>
              <a:gdLst/>
              <a:ahLst/>
              <a:cxnLst/>
              <a:rect l="l" t="t" r="r" b="b"/>
              <a:pathLst>
                <a:path w="768096" h="768096">
                  <a:moveTo>
                    <a:pt x="0" y="0"/>
                  </a:moveTo>
                  <a:lnTo>
                    <a:pt x="768096" y="0"/>
                  </a:lnTo>
                  <a:lnTo>
                    <a:pt x="768096" y="768096"/>
                  </a:lnTo>
                  <a:lnTo>
                    <a:pt x="0" y="768096"/>
                  </a:lnTo>
                  <a:close/>
                </a:path>
              </a:pathLst>
            </a:custGeom>
            <a:blipFill>
              <a:blip r:embed="rId1">
                <a:alphaModFix amt="0"/>
              </a:blip>
              <a:stretch>
                <a:fillRect l="-78303" r="-78303"/>
              </a:stretch>
            </a:blipFill>
          </p:spPr>
        </p:sp>
        <p:sp>
          <p:nvSpPr>
            <p:cNvPr id="42" name="TextBox 42"/>
            <p:cNvSpPr txBox="1"/>
            <p:nvPr/>
          </p:nvSpPr>
          <p:spPr>
            <a:xfrm>
              <a:off x="0" y="-28575"/>
              <a:ext cx="768096" cy="796671"/>
            </a:xfrm>
            <a:prstGeom prst="rect">
              <a:avLst/>
            </a:prstGeom>
          </p:spPr>
          <p:txBody>
            <a:bodyPr lIns="0" tIns="0" rIns="0" bIns="0" rtlCol="0" anchor="ctr"/>
            <a:lstStyle/>
            <a:p>
              <a:pPr algn="ctr">
                <a:lnSpc>
                  <a:spcPts val="1965"/>
                </a:lnSpc>
              </a:pPr>
              <a:r>
                <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rPr>
                <a:t>4</a:t>
              </a:r>
              <a:endPar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43" name="Group 43"/>
          <p:cNvGrpSpPr/>
          <p:nvPr/>
        </p:nvGrpSpPr>
        <p:grpSpPr>
          <a:xfrm rot="0">
            <a:off x="11151108" y="4293108"/>
            <a:ext cx="2715768" cy="438912"/>
            <a:chOff x="0" y="0"/>
            <a:chExt cx="3621024" cy="585216"/>
          </a:xfrm>
        </p:grpSpPr>
        <p:sp>
          <p:nvSpPr>
            <p:cNvPr id="44" name="Freeform 44"/>
            <p:cNvSpPr/>
            <p:nvPr/>
          </p:nvSpPr>
          <p:spPr>
            <a:xfrm>
              <a:off x="0" y="0"/>
              <a:ext cx="3621024" cy="585216"/>
            </a:xfrm>
            <a:custGeom>
              <a:avLst/>
              <a:gdLst/>
              <a:ahLst/>
              <a:cxnLst/>
              <a:rect l="l" t="t" r="r" b="b"/>
              <a:pathLst>
                <a:path w="3621024" h="585216">
                  <a:moveTo>
                    <a:pt x="0" y="0"/>
                  </a:moveTo>
                  <a:lnTo>
                    <a:pt x="3621024" y="0"/>
                  </a:lnTo>
                  <a:lnTo>
                    <a:pt x="3621024" y="585216"/>
                  </a:lnTo>
                  <a:lnTo>
                    <a:pt x="0" y="585216"/>
                  </a:lnTo>
                  <a:close/>
                </a:path>
              </a:pathLst>
            </a:custGeom>
            <a:blipFill>
              <a:blip r:embed="rId1">
                <a:alphaModFix amt="0"/>
              </a:blip>
              <a:stretch>
                <a:fillRect t="-70563" b="-70563"/>
              </a:stretch>
            </a:blipFill>
          </p:spPr>
        </p:sp>
        <p:sp>
          <p:nvSpPr>
            <p:cNvPr id="45" name="TextBox 45"/>
            <p:cNvSpPr txBox="1"/>
            <p:nvPr/>
          </p:nvSpPr>
          <p:spPr>
            <a:xfrm>
              <a:off x="0" y="-38100"/>
              <a:ext cx="3621024" cy="623316"/>
            </a:xfrm>
            <a:prstGeom prst="rect">
              <a:avLst/>
            </a:prstGeom>
          </p:spPr>
          <p:txBody>
            <a:bodyPr lIns="0" tIns="0" rIns="0" bIns="0" rtlCol="0" anchor="ctr"/>
            <a:lstStyle/>
            <a:p>
              <a:pPr algn="l">
                <a:lnSpc>
                  <a:spcPts val="1710"/>
                </a:lnSpc>
              </a:pPr>
              <a:r>
                <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rPr>
                <a:t>MAC ADDRESS</a:t>
              </a:r>
              <a:endPar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46" name="TextBox 46"/>
          <p:cNvSpPr txBox="1"/>
          <p:nvPr/>
        </p:nvSpPr>
        <p:spPr>
          <a:xfrm>
            <a:off x="11151108" y="4722495"/>
            <a:ext cx="2715768" cy="969645"/>
          </a:xfrm>
          <a:prstGeom prst="rect">
            <a:avLst/>
          </a:prstGeom>
        </p:spPr>
        <p:txBody>
          <a:bodyPr lIns="0" tIns="0" rIns="0" bIns="0" rtlCol="0" anchor="t">
            <a:spAutoFit/>
          </a:bodyPr>
          <a:lstStyle/>
          <a:p>
            <a:pPr algn="l">
              <a:lnSpc>
                <a:spcPts val="2880"/>
              </a:lnSpc>
            </a:pPr>
            <a:r>
              <a:rPr lang="en-US" sz="2400" b="1">
                <a:solidFill>
                  <a:srgbClr val="0D1B2A"/>
                </a:solidFill>
                <a:latin typeface="Cambria Bold" panose="02040803050406030204"/>
                <a:ea typeface="Cambria Bold" panose="02040803050406030204"/>
                <a:cs typeface="Cambria Bold" panose="02040803050406030204"/>
                <a:sym typeface="Cambria Bold" panose="02040803050406030204"/>
              </a:rPr>
              <a:t>08:00:27:8a</a:t>
            </a:r>
            <a:endParaRPr lang="en-US" sz="240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47" name="Group 47"/>
          <p:cNvGrpSpPr/>
          <p:nvPr/>
        </p:nvGrpSpPr>
        <p:grpSpPr>
          <a:xfrm rot="0">
            <a:off x="14309979" y="3213735"/>
            <a:ext cx="3146298" cy="2625090"/>
            <a:chOff x="0" y="0"/>
            <a:chExt cx="4195064" cy="3500120"/>
          </a:xfrm>
        </p:grpSpPr>
        <p:sp>
          <p:nvSpPr>
            <p:cNvPr id="48" name="Freeform 48"/>
            <p:cNvSpPr/>
            <p:nvPr/>
          </p:nvSpPr>
          <p:spPr>
            <a:xfrm>
              <a:off x="0" y="0"/>
              <a:ext cx="4195064" cy="3500120"/>
            </a:xfrm>
            <a:custGeom>
              <a:avLst/>
              <a:gdLst/>
              <a:ahLst/>
              <a:cxnLst/>
              <a:rect l="l" t="t" r="r" b="b"/>
              <a:pathLst>
                <a:path w="4195064" h="3500120">
                  <a:moveTo>
                    <a:pt x="0" y="147447"/>
                  </a:moveTo>
                  <a:cubicBezTo>
                    <a:pt x="0" y="66040"/>
                    <a:pt x="66040" y="0"/>
                    <a:pt x="147447" y="0"/>
                  </a:cubicBezTo>
                  <a:lnTo>
                    <a:pt x="4047617" y="0"/>
                  </a:lnTo>
                  <a:cubicBezTo>
                    <a:pt x="4129024" y="0"/>
                    <a:pt x="4195064" y="66040"/>
                    <a:pt x="4195064" y="147447"/>
                  </a:cubicBezTo>
                  <a:lnTo>
                    <a:pt x="4195064" y="3352673"/>
                  </a:lnTo>
                  <a:cubicBezTo>
                    <a:pt x="4195064" y="3434080"/>
                    <a:pt x="4129024" y="3500120"/>
                    <a:pt x="4047617" y="3500120"/>
                  </a:cubicBezTo>
                  <a:lnTo>
                    <a:pt x="147447" y="3500120"/>
                  </a:lnTo>
                  <a:cubicBezTo>
                    <a:pt x="66040" y="3500120"/>
                    <a:pt x="0" y="3434080"/>
                    <a:pt x="0" y="3352673"/>
                  </a:cubicBezTo>
                  <a:close/>
                </a:path>
              </a:pathLst>
            </a:custGeom>
            <a:solidFill>
              <a:srgbClr val="FFFFFF"/>
            </a:solidFill>
            <a:ln w="19050" cap="sq">
              <a:solidFill>
                <a:srgbClr val="D9E0E8"/>
              </a:solidFill>
              <a:prstDash val="solid"/>
              <a:miter/>
            </a:ln>
          </p:spPr>
        </p:sp>
      </p:grpSp>
      <p:grpSp>
        <p:nvGrpSpPr>
          <p:cNvPr id="49" name="Group 49"/>
          <p:cNvGrpSpPr/>
          <p:nvPr/>
        </p:nvGrpSpPr>
        <p:grpSpPr>
          <a:xfrm rot="0">
            <a:off x="14593824" y="3525012"/>
            <a:ext cx="576072" cy="576072"/>
            <a:chOff x="0" y="0"/>
            <a:chExt cx="768096" cy="768096"/>
          </a:xfrm>
        </p:grpSpPr>
        <p:sp>
          <p:nvSpPr>
            <p:cNvPr id="50" name="Freeform 50"/>
            <p:cNvSpPr/>
            <p:nvPr/>
          </p:nvSpPr>
          <p:spPr>
            <a:xfrm>
              <a:off x="0" y="0"/>
              <a:ext cx="768096" cy="768096"/>
            </a:xfrm>
            <a:custGeom>
              <a:avLst/>
              <a:gdLst/>
              <a:ahLst/>
              <a:cxnLst/>
              <a:rect l="l" t="t" r="r" b="b"/>
              <a:pathLst>
                <a:path w="768096" h="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00C2D1"/>
            </a:solidFill>
          </p:spPr>
        </p:sp>
      </p:grpSp>
      <p:grpSp>
        <p:nvGrpSpPr>
          <p:cNvPr id="51" name="Group 51"/>
          <p:cNvGrpSpPr/>
          <p:nvPr/>
        </p:nvGrpSpPr>
        <p:grpSpPr>
          <a:xfrm rot="0">
            <a:off x="14593824" y="3525012"/>
            <a:ext cx="576072" cy="576072"/>
            <a:chOff x="0" y="0"/>
            <a:chExt cx="768096" cy="768096"/>
          </a:xfrm>
        </p:grpSpPr>
        <p:sp>
          <p:nvSpPr>
            <p:cNvPr id="52" name="Freeform 52"/>
            <p:cNvSpPr/>
            <p:nvPr/>
          </p:nvSpPr>
          <p:spPr>
            <a:xfrm>
              <a:off x="0" y="0"/>
              <a:ext cx="768096" cy="768096"/>
            </a:xfrm>
            <a:custGeom>
              <a:avLst/>
              <a:gdLst/>
              <a:ahLst/>
              <a:cxnLst/>
              <a:rect l="l" t="t" r="r" b="b"/>
              <a:pathLst>
                <a:path w="768096" h="768096">
                  <a:moveTo>
                    <a:pt x="0" y="0"/>
                  </a:moveTo>
                  <a:lnTo>
                    <a:pt x="768096" y="0"/>
                  </a:lnTo>
                  <a:lnTo>
                    <a:pt x="768096" y="768096"/>
                  </a:lnTo>
                  <a:lnTo>
                    <a:pt x="0" y="768096"/>
                  </a:lnTo>
                  <a:close/>
                </a:path>
              </a:pathLst>
            </a:custGeom>
            <a:blipFill>
              <a:blip r:embed="rId1">
                <a:alphaModFix amt="0"/>
              </a:blip>
              <a:stretch>
                <a:fillRect l="-78303" r="-78303"/>
              </a:stretch>
            </a:blipFill>
          </p:spPr>
        </p:sp>
        <p:sp>
          <p:nvSpPr>
            <p:cNvPr id="53" name="TextBox 53"/>
            <p:cNvSpPr txBox="1"/>
            <p:nvPr/>
          </p:nvSpPr>
          <p:spPr>
            <a:xfrm>
              <a:off x="0" y="-28575"/>
              <a:ext cx="768096" cy="796671"/>
            </a:xfrm>
            <a:prstGeom prst="rect">
              <a:avLst/>
            </a:prstGeom>
          </p:spPr>
          <p:txBody>
            <a:bodyPr lIns="0" tIns="0" rIns="0" bIns="0" rtlCol="0" anchor="ctr"/>
            <a:lstStyle/>
            <a:p>
              <a:pPr algn="ctr">
                <a:lnSpc>
                  <a:spcPts val="1965"/>
                </a:lnSpc>
              </a:pPr>
              <a:r>
                <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rPr>
                <a:t>5</a:t>
              </a:r>
              <a:endParaRPr lang="en-US" sz="164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54" name="Group 54"/>
          <p:cNvGrpSpPr/>
          <p:nvPr/>
        </p:nvGrpSpPr>
        <p:grpSpPr>
          <a:xfrm rot="0">
            <a:off x="14525244" y="4293108"/>
            <a:ext cx="2715768" cy="438912"/>
            <a:chOff x="0" y="0"/>
            <a:chExt cx="3621024" cy="585216"/>
          </a:xfrm>
        </p:grpSpPr>
        <p:sp>
          <p:nvSpPr>
            <p:cNvPr id="55" name="Freeform 55"/>
            <p:cNvSpPr/>
            <p:nvPr/>
          </p:nvSpPr>
          <p:spPr>
            <a:xfrm>
              <a:off x="0" y="0"/>
              <a:ext cx="3621024" cy="585216"/>
            </a:xfrm>
            <a:custGeom>
              <a:avLst/>
              <a:gdLst/>
              <a:ahLst/>
              <a:cxnLst/>
              <a:rect l="l" t="t" r="r" b="b"/>
              <a:pathLst>
                <a:path w="3621024" h="585216">
                  <a:moveTo>
                    <a:pt x="0" y="0"/>
                  </a:moveTo>
                  <a:lnTo>
                    <a:pt x="3621024" y="0"/>
                  </a:lnTo>
                  <a:lnTo>
                    <a:pt x="3621024" y="585216"/>
                  </a:lnTo>
                  <a:lnTo>
                    <a:pt x="0" y="585216"/>
                  </a:lnTo>
                  <a:close/>
                </a:path>
              </a:pathLst>
            </a:custGeom>
            <a:blipFill>
              <a:blip r:embed="rId1">
                <a:alphaModFix amt="0"/>
              </a:blip>
              <a:stretch>
                <a:fillRect t="-70563" b="-70563"/>
              </a:stretch>
            </a:blipFill>
          </p:spPr>
        </p:sp>
        <p:sp>
          <p:nvSpPr>
            <p:cNvPr id="56" name="TextBox 56"/>
            <p:cNvSpPr txBox="1"/>
            <p:nvPr/>
          </p:nvSpPr>
          <p:spPr>
            <a:xfrm>
              <a:off x="0" y="-38100"/>
              <a:ext cx="3621024" cy="623316"/>
            </a:xfrm>
            <a:prstGeom prst="rect">
              <a:avLst/>
            </a:prstGeom>
          </p:spPr>
          <p:txBody>
            <a:bodyPr lIns="0" tIns="0" rIns="0" bIns="0" rtlCol="0" anchor="ctr"/>
            <a:lstStyle/>
            <a:p>
              <a:pPr algn="l">
                <a:lnSpc>
                  <a:spcPts val="1710"/>
                </a:lnSpc>
              </a:pPr>
              <a:r>
                <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rPr>
                <a:t>DEFAULT GATEWAY</a:t>
              </a:r>
              <a:endParaRPr lang="en-US" sz="1425" b="1" spc="75">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57" name="TextBox 57"/>
          <p:cNvSpPr txBox="1"/>
          <p:nvPr/>
        </p:nvSpPr>
        <p:spPr>
          <a:xfrm>
            <a:off x="14525244" y="4722495"/>
            <a:ext cx="2715768" cy="969645"/>
          </a:xfrm>
          <a:prstGeom prst="rect">
            <a:avLst/>
          </a:prstGeom>
        </p:spPr>
        <p:txBody>
          <a:bodyPr lIns="0" tIns="0" rIns="0" bIns="0" rtlCol="0" anchor="t">
            <a:spAutoFit/>
          </a:bodyPr>
          <a:lstStyle/>
          <a:p>
            <a:pPr algn="l">
              <a:lnSpc>
                <a:spcPts val="3420"/>
              </a:lnSpc>
            </a:pPr>
            <a:r>
              <a:rPr lang="en-US" sz="2850" b="1">
                <a:solidFill>
                  <a:srgbClr val="0D1B2A"/>
                </a:solidFill>
                <a:latin typeface="Cambria Bold" panose="02040803050406030204"/>
                <a:ea typeface="Cambria Bold" panose="02040803050406030204"/>
                <a:cs typeface="Cambria Bold" panose="02040803050406030204"/>
                <a:sym typeface="Cambria Bold" panose="02040803050406030204"/>
              </a:rPr>
              <a:t>10.0.2.2</a:t>
            </a:r>
            <a:endParaRPr lang="en-US" sz="28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sp>
        <p:nvSpPr>
          <p:cNvPr id="58" name="TextBox 58"/>
          <p:cNvSpPr txBox="1"/>
          <p:nvPr/>
        </p:nvSpPr>
        <p:spPr>
          <a:xfrm>
            <a:off x="822960" y="6419850"/>
            <a:ext cx="16596360" cy="1215390"/>
          </a:xfrm>
          <a:prstGeom prst="rect">
            <a:avLst/>
          </a:prstGeom>
        </p:spPr>
        <p:txBody>
          <a:bodyPr lIns="0" tIns="0" rIns="0" bIns="0" rtlCol="0" anchor="t">
            <a:spAutoFit/>
          </a:bodyPr>
          <a:lstStyle/>
          <a:p>
            <a:pPr marL="407035" lvl="1" indent="-203835" algn="l">
              <a:lnSpc>
                <a:spcPts val="3105"/>
              </a:lnSpc>
              <a:buFont typeface="Arial" panose="020B0604020202020204"/>
              <a:buChar char="•"/>
            </a:pPr>
            <a:r>
              <a:rPr lang="en-US" sz="2250">
                <a:solidFill>
                  <a:srgbClr val="1B2A4A"/>
                </a:solidFill>
                <a:latin typeface="Calibri (MS)" panose="020F0502020204030204"/>
                <a:ea typeface="Calibri (MS)" panose="020F0502020204030204"/>
                <a:cs typeface="Calibri (MS)" panose="020F0502020204030204"/>
                <a:sym typeface="Calibri (MS)" panose="020F0502020204030204"/>
              </a:rPr>
              <a:t>Host “kali” operates on interface eth0, assigned IPv4 10.0.2.15</a:t>
            </a:r>
            <a:endParaRPr lang="en-US" sz="2250">
              <a:solidFill>
                <a:srgbClr val="1B2A4A"/>
              </a:solidFill>
              <a:latin typeface="Calibri (MS)" panose="020F0502020204030204"/>
              <a:ea typeface="Calibri (MS)" panose="020F0502020204030204"/>
              <a:cs typeface="Calibri (MS)" panose="020F0502020204030204"/>
              <a:sym typeface="Calibri (MS)" panose="020F0502020204030204"/>
            </a:endParaRPr>
          </a:p>
          <a:p>
            <a:pPr marL="407035" lvl="1" indent="-203835" algn="l">
              <a:lnSpc>
                <a:spcPts val="3105"/>
              </a:lnSpc>
              <a:buFont typeface="Arial" panose="020B0604020202020204"/>
              <a:buChar char="•"/>
            </a:pPr>
            <a:r>
              <a:rPr lang="en-US" sz="2250">
                <a:solidFill>
                  <a:srgbClr val="1B2A4A"/>
                </a:solidFill>
                <a:latin typeface="Calibri (MS)" panose="020F0502020204030204"/>
                <a:ea typeface="Calibri (MS)" panose="020F0502020204030204"/>
                <a:cs typeface="Calibri (MS)" panose="020F0502020204030204"/>
                <a:sym typeface="Calibri (MS)" panose="020F0502020204030204"/>
              </a:rPr>
              <a:t>Hardware identity fixed at MAC 08:00:27:8a</a:t>
            </a:r>
            <a:endParaRPr lang="en-US" sz="2250">
              <a:solidFill>
                <a:srgbClr val="1B2A4A"/>
              </a:solidFill>
              <a:latin typeface="Calibri (MS)" panose="020F0502020204030204"/>
              <a:ea typeface="Calibri (MS)" panose="020F0502020204030204"/>
              <a:cs typeface="Calibri (MS)" panose="020F0502020204030204"/>
              <a:sym typeface="Calibri (MS)" panose="020F0502020204030204"/>
            </a:endParaRPr>
          </a:p>
          <a:p>
            <a:pPr algn="l">
              <a:lnSpc>
                <a:spcPts val="3105"/>
              </a:lnSpc>
            </a:pPr>
          </a:p>
        </p:txBody>
      </p:sp>
      <p:grpSp>
        <p:nvGrpSpPr>
          <p:cNvPr id="59" name="Group 59"/>
          <p:cNvGrpSpPr/>
          <p:nvPr/>
        </p:nvGrpSpPr>
        <p:grpSpPr>
          <a:xfrm rot="0">
            <a:off x="685800" y="9710928"/>
            <a:ext cx="10972800" cy="411480"/>
            <a:chOff x="0" y="0"/>
            <a:chExt cx="14630400" cy="548640"/>
          </a:xfrm>
        </p:grpSpPr>
        <p:sp>
          <p:nvSpPr>
            <p:cNvPr id="60" name="Freeform 60"/>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61" name="TextBox 61"/>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62" name="Group 62"/>
          <p:cNvGrpSpPr/>
          <p:nvPr/>
        </p:nvGrpSpPr>
        <p:grpSpPr>
          <a:xfrm rot="0">
            <a:off x="16911828" y="9710928"/>
            <a:ext cx="685800" cy="411480"/>
            <a:chOff x="0" y="0"/>
            <a:chExt cx="914400" cy="548640"/>
          </a:xfrm>
        </p:grpSpPr>
        <p:sp>
          <p:nvSpPr>
            <p:cNvPr id="63" name="Freeform 63"/>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64" name="TextBox 64"/>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2</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822960" y="607695"/>
            <a:ext cx="16637508" cy="581025"/>
          </a:xfrm>
          <a:prstGeom prst="rect">
            <a:avLst/>
          </a:prstGeom>
        </p:spPr>
        <p:txBody>
          <a:bodyPr lIns="0" tIns="0" rIns="0" bIns="0" rtlCol="0" anchor="t">
            <a:spAutoFit/>
          </a:bodyPr>
          <a:lstStyle/>
          <a:p>
            <a:pPr algn="l">
              <a:lnSpc>
                <a:spcPts val="4500"/>
              </a:lnSpc>
            </a:pPr>
            <a:r>
              <a:rPr lang="en-US" sz="3750" b="1">
                <a:solidFill>
                  <a:srgbClr val="0D1B2A"/>
                </a:solidFill>
                <a:latin typeface="Cambria Bold" panose="02040803050406030204"/>
                <a:ea typeface="Cambria Bold" panose="02040803050406030204"/>
                <a:cs typeface="Cambria Bold" panose="02040803050406030204"/>
                <a:sym typeface="Cambria Bold" panose="02040803050406030204"/>
              </a:rPr>
              <a:t>DNS  Information </a:t>
            </a:r>
            <a:endParaRPr lang="en-US" sz="37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sp>
        <p:nvSpPr>
          <p:cNvPr id="3" name="TextBox 3"/>
          <p:cNvSpPr txBox="1"/>
          <p:nvPr/>
        </p:nvSpPr>
        <p:spPr>
          <a:xfrm>
            <a:off x="822960" y="3128010"/>
            <a:ext cx="16596360" cy="2152650"/>
          </a:xfrm>
          <a:prstGeom prst="rect">
            <a:avLst/>
          </a:prstGeom>
        </p:spPr>
        <p:txBody>
          <a:bodyPr lIns="0" tIns="0" rIns="0" bIns="0" rtlCol="0" anchor="t">
            <a:spAutoFit/>
          </a:bodyPr>
          <a:lstStyle/>
          <a:p>
            <a:pPr marL="421005" lvl="1" indent="-210185" algn="l">
              <a:lnSpc>
                <a:spcPts val="3210"/>
              </a:lnSpc>
              <a:buFont typeface="Arial" panose="020B0604020202020204"/>
              <a:buChar char="•"/>
            </a:pPr>
            <a:r>
              <a:rPr lang="en-US" sz="2325">
                <a:solidFill>
                  <a:srgbClr val="1B2A4A"/>
                </a:solidFill>
                <a:latin typeface="Calibri (MS)" panose="020F0502020204030204"/>
                <a:ea typeface="Calibri (MS)" panose="020F0502020204030204"/>
                <a:cs typeface="Calibri (MS)" panose="020F0502020204030204"/>
                <a:sym typeface="Calibri (MS)" panose="020F0502020204030204"/>
              </a:rPr>
              <a:t>Configured DNS server: 127.0.0.53 (loopback)</a:t>
            </a:r>
            <a:endParaRPr lang="en-US" sz="2325">
              <a:solidFill>
                <a:srgbClr val="1B2A4A"/>
              </a:solidFill>
              <a:latin typeface="Calibri (MS)" panose="020F0502020204030204"/>
              <a:ea typeface="Calibri (MS)" panose="020F0502020204030204"/>
              <a:cs typeface="Calibri (MS)" panose="020F0502020204030204"/>
              <a:sym typeface="Calibri (MS)" panose="020F0502020204030204"/>
            </a:endParaRPr>
          </a:p>
          <a:p>
            <a:pPr marL="421005" lvl="1" indent="-210185" algn="l">
              <a:lnSpc>
                <a:spcPts val="3210"/>
              </a:lnSpc>
              <a:buFont typeface="Arial" panose="020B0604020202020204"/>
              <a:buChar char="•"/>
            </a:pPr>
            <a:r>
              <a:rPr lang="en-US" sz="2325">
                <a:solidFill>
                  <a:srgbClr val="1B2A4A"/>
                </a:solidFill>
                <a:latin typeface="Calibri (MS)" panose="020F0502020204030204"/>
                <a:ea typeface="Calibri (MS)" panose="020F0502020204030204"/>
                <a:cs typeface="Calibri (MS)" panose="020F0502020204030204"/>
                <a:sym typeface="Calibri (MS)" panose="020F0502020204030204"/>
              </a:rPr>
              <a:t>Resolver operates in stub mode</a:t>
            </a:r>
            <a:endParaRPr lang="en-US" sz="2325">
              <a:solidFill>
                <a:srgbClr val="1B2A4A"/>
              </a:solidFill>
              <a:latin typeface="Calibri (MS)" panose="020F0502020204030204"/>
              <a:ea typeface="Calibri (MS)" panose="020F0502020204030204"/>
              <a:cs typeface="Calibri (MS)" panose="020F0502020204030204"/>
              <a:sym typeface="Calibri (MS)" panose="020F0502020204030204"/>
            </a:endParaRPr>
          </a:p>
          <a:p>
            <a:pPr marL="421005" lvl="1" indent="-210185" algn="l">
              <a:lnSpc>
                <a:spcPts val="3210"/>
              </a:lnSpc>
              <a:buFont typeface="Arial" panose="020B0604020202020204"/>
              <a:buChar char="•"/>
            </a:pPr>
            <a:r>
              <a:rPr lang="en-US" sz="2325">
                <a:solidFill>
                  <a:srgbClr val="1B2A4A"/>
                </a:solidFill>
                <a:latin typeface="Calibri (MS)" panose="020F0502020204030204"/>
                <a:ea typeface="Calibri (MS)" panose="020F0502020204030204"/>
                <a:cs typeface="Calibri (MS)" panose="020F0502020204030204"/>
                <a:sym typeface="Calibri (MS)" panose="020F0502020204030204"/>
              </a:rPr>
              <a:t>Upstream DNS server was not exposed by the configuration</a:t>
            </a:r>
            <a:endParaRPr lang="en-US" sz="2325">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nvGrpSpPr>
          <p:cNvPr id="4" name="Group 4"/>
          <p:cNvGrpSpPr/>
          <p:nvPr/>
        </p:nvGrpSpPr>
        <p:grpSpPr>
          <a:xfrm rot="0">
            <a:off x="2047875" y="6231255"/>
            <a:ext cx="3036570" cy="1596390"/>
            <a:chOff x="0" y="0"/>
            <a:chExt cx="4048760" cy="2128520"/>
          </a:xfrm>
        </p:grpSpPr>
        <p:sp>
          <p:nvSpPr>
            <p:cNvPr id="5" name="Freeform 5"/>
            <p:cNvSpPr/>
            <p:nvPr/>
          </p:nvSpPr>
          <p:spPr>
            <a:xfrm>
              <a:off x="0" y="0"/>
              <a:ext cx="4048760" cy="2128520"/>
            </a:xfrm>
            <a:custGeom>
              <a:avLst/>
              <a:gdLst/>
              <a:ahLst/>
              <a:cxnLst/>
              <a:rect l="l" t="t" r="r" b="b"/>
              <a:pathLst>
                <a:path w="4048760" h="2128520">
                  <a:moveTo>
                    <a:pt x="0" y="148082"/>
                  </a:moveTo>
                  <a:cubicBezTo>
                    <a:pt x="0" y="66294"/>
                    <a:pt x="66294" y="0"/>
                    <a:pt x="148082" y="0"/>
                  </a:cubicBezTo>
                  <a:lnTo>
                    <a:pt x="3900678" y="0"/>
                  </a:lnTo>
                  <a:cubicBezTo>
                    <a:pt x="3982466" y="0"/>
                    <a:pt x="4048760" y="66294"/>
                    <a:pt x="4048760" y="148082"/>
                  </a:cubicBezTo>
                  <a:lnTo>
                    <a:pt x="4048760" y="1980438"/>
                  </a:lnTo>
                  <a:cubicBezTo>
                    <a:pt x="4048760" y="2062226"/>
                    <a:pt x="3982466" y="2128520"/>
                    <a:pt x="3900678" y="2128520"/>
                  </a:cubicBezTo>
                  <a:lnTo>
                    <a:pt x="148082" y="2128520"/>
                  </a:lnTo>
                  <a:cubicBezTo>
                    <a:pt x="66294" y="2128520"/>
                    <a:pt x="0" y="2062226"/>
                    <a:pt x="0" y="1980438"/>
                  </a:cubicBezTo>
                  <a:close/>
                </a:path>
              </a:pathLst>
            </a:custGeom>
            <a:solidFill>
              <a:srgbClr val="1B2A4A"/>
            </a:solidFill>
            <a:ln w="19050" cap="sq">
              <a:solidFill>
                <a:srgbClr val="26405F"/>
              </a:solidFill>
              <a:prstDash val="solid"/>
              <a:miter/>
            </a:ln>
          </p:spPr>
        </p:sp>
      </p:grpSp>
      <p:grpSp>
        <p:nvGrpSpPr>
          <p:cNvPr id="6" name="Group 6"/>
          <p:cNvGrpSpPr/>
          <p:nvPr/>
        </p:nvGrpSpPr>
        <p:grpSpPr>
          <a:xfrm rot="0">
            <a:off x="2057400" y="6240780"/>
            <a:ext cx="3017520" cy="1577340"/>
            <a:chOff x="0" y="0"/>
            <a:chExt cx="4023360" cy="2103120"/>
          </a:xfrm>
        </p:grpSpPr>
        <p:sp>
          <p:nvSpPr>
            <p:cNvPr id="7" name="Freeform 7"/>
            <p:cNvSpPr/>
            <p:nvPr/>
          </p:nvSpPr>
          <p:spPr>
            <a:xfrm>
              <a:off x="0" y="0"/>
              <a:ext cx="4023360" cy="2103120"/>
            </a:xfrm>
            <a:custGeom>
              <a:avLst/>
              <a:gdLst/>
              <a:ahLst/>
              <a:cxnLst/>
              <a:rect l="l" t="t" r="r" b="b"/>
              <a:pathLst>
                <a:path w="4023360" h="2103120">
                  <a:moveTo>
                    <a:pt x="0" y="0"/>
                  </a:moveTo>
                  <a:lnTo>
                    <a:pt x="4023360" y="0"/>
                  </a:lnTo>
                  <a:lnTo>
                    <a:pt x="4023360" y="2103120"/>
                  </a:lnTo>
                  <a:lnTo>
                    <a:pt x="0" y="2103120"/>
                  </a:lnTo>
                  <a:close/>
                </a:path>
              </a:pathLst>
            </a:custGeom>
            <a:blipFill>
              <a:blip r:embed="rId1">
                <a:alphaModFix amt="0"/>
              </a:blip>
              <a:stretch>
                <a:fillRect l="-17067" r="-17067"/>
              </a:stretch>
            </a:blipFill>
          </p:spPr>
        </p:sp>
        <p:sp>
          <p:nvSpPr>
            <p:cNvPr id="8" name="TextBox 8"/>
            <p:cNvSpPr txBox="1"/>
            <p:nvPr/>
          </p:nvSpPr>
          <p:spPr>
            <a:xfrm>
              <a:off x="0" y="-47625"/>
              <a:ext cx="4023360" cy="2150745"/>
            </a:xfrm>
            <a:prstGeom prst="rect">
              <a:avLst/>
            </a:prstGeom>
          </p:spPr>
          <p:txBody>
            <a:bodyPr lIns="0" tIns="0" rIns="0" bIns="0" rtlCol="0" anchor="ctr"/>
            <a:lstStyle/>
            <a:p>
              <a:pPr algn="ctr">
                <a:lnSpc>
                  <a:spcPts val="2340"/>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Workstation</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340"/>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10.0.2.15</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9" name="AutoShape 9"/>
          <p:cNvSpPr/>
          <p:nvPr/>
        </p:nvSpPr>
        <p:spPr>
          <a:xfrm rot="82200">
            <a:off x="5129041" y="7019925"/>
            <a:ext cx="1194778" cy="0"/>
          </a:xfrm>
          <a:prstGeom prst="line">
            <a:avLst/>
          </a:prstGeom>
          <a:ln w="19050" cap="rnd">
            <a:solidFill>
              <a:srgbClr val="6B7A8F"/>
            </a:solidFill>
            <a:prstDash val="solid"/>
            <a:headEnd type="none" w="sm" len="sm"/>
            <a:tailEnd type="triangle" w="lg" len="med"/>
          </a:ln>
        </p:spPr>
      </p:sp>
      <p:grpSp>
        <p:nvGrpSpPr>
          <p:cNvPr id="10" name="Group 10"/>
          <p:cNvGrpSpPr/>
          <p:nvPr/>
        </p:nvGrpSpPr>
        <p:grpSpPr>
          <a:xfrm rot="0">
            <a:off x="6505575" y="6025515"/>
            <a:ext cx="3996690" cy="2007870"/>
            <a:chOff x="0" y="0"/>
            <a:chExt cx="5328920" cy="2677160"/>
          </a:xfrm>
        </p:grpSpPr>
        <p:sp>
          <p:nvSpPr>
            <p:cNvPr id="11" name="Freeform 11"/>
            <p:cNvSpPr/>
            <p:nvPr/>
          </p:nvSpPr>
          <p:spPr>
            <a:xfrm>
              <a:off x="0" y="0"/>
              <a:ext cx="5328920" cy="2677160"/>
            </a:xfrm>
            <a:custGeom>
              <a:avLst/>
              <a:gdLst/>
              <a:ahLst/>
              <a:cxnLst/>
              <a:rect l="l" t="t" r="r" b="b"/>
              <a:pathLst>
                <a:path w="5328920" h="2677160">
                  <a:moveTo>
                    <a:pt x="0" y="147701"/>
                  </a:moveTo>
                  <a:cubicBezTo>
                    <a:pt x="0" y="66167"/>
                    <a:pt x="66167" y="0"/>
                    <a:pt x="147701" y="0"/>
                  </a:cubicBezTo>
                  <a:lnTo>
                    <a:pt x="5181219" y="0"/>
                  </a:lnTo>
                  <a:cubicBezTo>
                    <a:pt x="5262753" y="0"/>
                    <a:pt x="5328920" y="66167"/>
                    <a:pt x="5328920" y="147701"/>
                  </a:cubicBezTo>
                  <a:lnTo>
                    <a:pt x="5328920" y="2529459"/>
                  </a:lnTo>
                  <a:cubicBezTo>
                    <a:pt x="5328920" y="2610993"/>
                    <a:pt x="5262753" y="2677160"/>
                    <a:pt x="5181219" y="2677160"/>
                  </a:cubicBezTo>
                  <a:lnTo>
                    <a:pt x="147701" y="2677160"/>
                  </a:lnTo>
                  <a:cubicBezTo>
                    <a:pt x="66167" y="2677160"/>
                    <a:pt x="0" y="2610993"/>
                    <a:pt x="0" y="2529459"/>
                  </a:cubicBezTo>
                  <a:close/>
                </a:path>
              </a:pathLst>
            </a:custGeom>
            <a:solidFill>
              <a:srgbClr val="FFFFFF"/>
            </a:solidFill>
            <a:ln w="19050" cap="sq">
              <a:solidFill>
                <a:srgbClr val="00C2D1"/>
              </a:solidFill>
              <a:prstDash val="solid"/>
              <a:miter/>
            </a:ln>
          </p:spPr>
        </p:sp>
      </p:grpSp>
      <p:grpSp>
        <p:nvGrpSpPr>
          <p:cNvPr id="12" name="Group 12"/>
          <p:cNvGrpSpPr/>
          <p:nvPr/>
        </p:nvGrpSpPr>
        <p:grpSpPr>
          <a:xfrm rot="0">
            <a:off x="6515100" y="6035040"/>
            <a:ext cx="3977640" cy="1028700"/>
            <a:chOff x="0" y="0"/>
            <a:chExt cx="5303520" cy="1371600"/>
          </a:xfrm>
        </p:grpSpPr>
        <p:sp>
          <p:nvSpPr>
            <p:cNvPr id="13" name="Freeform 13"/>
            <p:cNvSpPr/>
            <p:nvPr/>
          </p:nvSpPr>
          <p:spPr>
            <a:xfrm>
              <a:off x="0" y="0"/>
              <a:ext cx="5303520" cy="1371600"/>
            </a:xfrm>
            <a:custGeom>
              <a:avLst/>
              <a:gdLst/>
              <a:ahLst/>
              <a:cxnLst/>
              <a:rect l="l" t="t" r="r" b="b"/>
              <a:pathLst>
                <a:path w="5303520" h="1371600">
                  <a:moveTo>
                    <a:pt x="0" y="0"/>
                  </a:moveTo>
                  <a:lnTo>
                    <a:pt x="5303520" y="0"/>
                  </a:lnTo>
                  <a:lnTo>
                    <a:pt x="5303520" y="1371600"/>
                  </a:lnTo>
                  <a:lnTo>
                    <a:pt x="0" y="1371600"/>
                  </a:lnTo>
                  <a:close/>
                </a:path>
              </a:pathLst>
            </a:custGeom>
            <a:blipFill>
              <a:blip r:embed="rId1">
                <a:alphaModFix amt="0"/>
              </a:blip>
              <a:stretch>
                <a:fillRect t="-25342" b="-25342"/>
              </a:stretch>
            </a:blipFill>
          </p:spPr>
        </p:sp>
        <p:sp>
          <p:nvSpPr>
            <p:cNvPr id="14" name="TextBox 14"/>
            <p:cNvSpPr txBox="1"/>
            <p:nvPr/>
          </p:nvSpPr>
          <p:spPr>
            <a:xfrm>
              <a:off x="0" y="-47625"/>
              <a:ext cx="5303520" cy="1419225"/>
            </a:xfrm>
            <a:prstGeom prst="rect">
              <a:avLst/>
            </a:prstGeom>
          </p:spPr>
          <p:txBody>
            <a:bodyPr lIns="0" tIns="0" rIns="0" bIns="0" rtlCol="0" anchor="ctr"/>
            <a:lstStyle/>
            <a:p>
              <a:pPr algn="ctr">
                <a:lnSpc>
                  <a:spcPts val="2520"/>
                </a:lnSpc>
              </a:pPr>
              <a:r>
                <a:rPr lang="en-US" sz="2100" b="1">
                  <a:solidFill>
                    <a:srgbClr val="0D1B2A"/>
                  </a:solidFill>
                  <a:latin typeface="Calibri (MS) Bold" panose="020F0702030404030204"/>
                  <a:ea typeface="Calibri (MS) Bold" panose="020F0702030404030204"/>
                  <a:cs typeface="Calibri (MS) Bold" panose="020F0702030404030204"/>
                  <a:sym typeface="Calibri (MS) Bold" panose="020F0702030404030204"/>
                </a:rPr>
                <a:t>Stub Resolver</a:t>
              </a:r>
              <a:endParaRPr lang="en-US" sz="210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520"/>
                </a:lnSpc>
              </a:pPr>
              <a:r>
                <a:rPr lang="en-US" sz="2100" b="1">
                  <a:solidFill>
                    <a:srgbClr val="0D1B2A"/>
                  </a:solidFill>
                  <a:latin typeface="Calibri (MS) Bold" panose="020F0702030404030204"/>
                  <a:ea typeface="Calibri (MS) Bold" panose="020F0702030404030204"/>
                  <a:cs typeface="Calibri (MS) Bold" panose="020F0702030404030204"/>
                  <a:sym typeface="Calibri (MS) Bold" panose="020F0702030404030204"/>
                </a:rPr>
                <a:t>127.0.0.53</a:t>
              </a:r>
              <a:endParaRPr lang="en-US" sz="210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5" name="Group 15"/>
          <p:cNvGrpSpPr/>
          <p:nvPr/>
        </p:nvGrpSpPr>
        <p:grpSpPr>
          <a:xfrm rot="0">
            <a:off x="6515100" y="6995160"/>
            <a:ext cx="3977640" cy="685800"/>
            <a:chOff x="0" y="0"/>
            <a:chExt cx="5303520" cy="914400"/>
          </a:xfrm>
        </p:grpSpPr>
        <p:sp>
          <p:nvSpPr>
            <p:cNvPr id="16" name="Freeform 16"/>
            <p:cNvSpPr/>
            <p:nvPr/>
          </p:nvSpPr>
          <p:spPr>
            <a:xfrm>
              <a:off x="0" y="0"/>
              <a:ext cx="5303520" cy="914400"/>
            </a:xfrm>
            <a:custGeom>
              <a:avLst/>
              <a:gdLst/>
              <a:ahLst/>
              <a:cxnLst/>
              <a:rect l="l" t="t" r="r" b="b"/>
              <a:pathLst>
                <a:path w="5303520" h="914400">
                  <a:moveTo>
                    <a:pt x="0" y="0"/>
                  </a:moveTo>
                  <a:lnTo>
                    <a:pt x="5303520" y="0"/>
                  </a:lnTo>
                  <a:lnTo>
                    <a:pt x="5303520" y="914400"/>
                  </a:lnTo>
                  <a:lnTo>
                    <a:pt x="0" y="914400"/>
                  </a:lnTo>
                  <a:close/>
                </a:path>
              </a:pathLst>
            </a:custGeom>
            <a:blipFill>
              <a:blip r:embed="rId1">
                <a:alphaModFix amt="0"/>
              </a:blip>
              <a:stretch>
                <a:fillRect t="-63013" b="-63013"/>
              </a:stretch>
            </a:blipFill>
          </p:spPr>
        </p:sp>
        <p:sp>
          <p:nvSpPr>
            <p:cNvPr id="17" name="TextBox 17"/>
            <p:cNvSpPr txBox="1"/>
            <p:nvPr/>
          </p:nvSpPr>
          <p:spPr>
            <a:xfrm>
              <a:off x="0" y="-28575"/>
              <a:ext cx="5303520" cy="942975"/>
            </a:xfrm>
            <a:prstGeom prst="rect">
              <a:avLst/>
            </a:prstGeom>
          </p:spPr>
          <p:txBody>
            <a:bodyPr lIns="0" tIns="0" rIns="0" bIns="0" rtlCol="0" anchor="ctr"/>
            <a:lstStyle/>
            <a:p>
              <a:pPr algn="ctr">
                <a:lnSpc>
                  <a:spcPts val="1980"/>
                </a:lnSpc>
              </a:pPr>
              <a:r>
                <a:rPr lang="en-US" sz="1650" i="1">
                  <a:solidFill>
                    <a:srgbClr val="6B7A8F"/>
                  </a:solidFill>
                  <a:latin typeface="Calibri (MS) Italics" panose="020F05020202040A0204"/>
                  <a:ea typeface="Calibri (MS) Italics" panose="020F05020202040A0204"/>
                  <a:cs typeface="Calibri (MS) Italics" panose="020F05020202040A0204"/>
                  <a:sym typeface="Calibri (MS) Italics" panose="020F05020202040A0204"/>
                </a:rPr>
                <a:t>mode: stub</a:t>
              </a:r>
              <a:endParaRPr lang="en-US" sz="1650" i="1">
                <a:solidFill>
                  <a:srgbClr val="6B7A8F"/>
                </a:solidFill>
                <a:latin typeface="Calibri (MS) Italics" panose="020F05020202040A0204"/>
                <a:ea typeface="Calibri (MS) Italics" panose="020F05020202040A0204"/>
                <a:cs typeface="Calibri (MS) Italics" panose="020F05020202040A0204"/>
                <a:sym typeface="Calibri (MS) Italics" panose="020F05020202040A0204"/>
              </a:endParaRPr>
            </a:p>
          </p:txBody>
        </p:sp>
      </p:grpSp>
      <p:sp>
        <p:nvSpPr>
          <p:cNvPr id="18" name="AutoShape 18"/>
          <p:cNvSpPr/>
          <p:nvPr/>
        </p:nvSpPr>
        <p:spPr>
          <a:xfrm rot="82200">
            <a:off x="10546861" y="7019925"/>
            <a:ext cx="1194778" cy="0"/>
          </a:xfrm>
          <a:prstGeom prst="line">
            <a:avLst/>
          </a:prstGeom>
          <a:ln w="19050" cap="rnd">
            <a:solidFill>
              <a:srgbClr val="6B7A8F"/>
            </a:solidFill>
            <a:prstDash val="solid"/>
            <a:headEnd type="none" w="sm" len="sm"/>
            <a:tailEnd type="triangle" w="lg" len="med"/>
          </a:ln>
        </p:spPr>
      </p:sp>
      <p:grpSp>
        <p:nvGrpSpPr>
          <p:cNvPr id="19" name="Group 19"/>
          <p:cNvGrpSpPr/>
          <p:nvPr/>
        </p:nvGrpSpPr>
        <p:grpSpPr>
          <a:xfrm rot="0">
            <a:off x="11854815" y="6025515"/>
            <a:ext cx="3585210" cy="2007870"/>
            <a:chOff x="0" y="0"/>
            <a:chExt cx="4780280" cy="2677160"/>
          </a:xfrm>
        </p:grpSpPr>
        <p:sp>
          <p:nvSpPr>
            <p:cNvPr id="20" name="Freeform 20"/>
            <p:cNvSpPr/>
            <p:nvPr/>
          </p:nvSpPr>
          <p:spPr>
            <a:xfrm>
              <a:off x="0" y="0"/>
              <a:ext cx="4780280" cy="2677160"/>
            </a:xfrm>
            <a:custGeom>
              <a:avLst/>
              <a:gdLst/>
              <a:ahLst/>
              <a:cxnLst/>
              <a:rect l="l" t="t" r="r" b="b"/>
              <a:pathLst>
                <a:path w="4780280" h="2677160">
                  <a:moveTo>
                    <a:pt x="0" y="147701"/>
                  </a:moveTo>
                  <a:cubicBezTo>
                    <a:pt x="0" y="66167"/>
                    <a:pt x="66167" y="0"/>
                    <a:pt x="147701" y="0"/>
                  </a:cubicBezTo>
                  <a:lnTo>
                    <a:pt x="4632579" y="0"/>
                  </a:lnTo>
                  <a:cubicBezTo>
                    <a:pt x="4714113" y="0"/>
                    <a:pt x="4780280" y="66167"/>
                    <a:pt x="4780280" y="147701"/>
                  </a:cubicBezTo>
                  <a:lnTo>
                    <a:pt x="4780280" y="2529459"/>
                  </a:lnTo>
                  <a:cubicBezTo>
                    <a:pt x="4780280" y="2610993"/>
                    <a:pt x="4714113" y="2677160"/>
                    <a:pt x="4632579" y="2677160"/>
                  </a:cubicBezTo>
                  <a:lnTo>
                    <a:pt x="147701" y="2677160"/>
                  </a:lnTo>
                  <a:cubicBezTo>
                    <a:pt x="66167" y="2677160"/>
                    <a:pt x="0" y="2610993"/>
                    <a:pt x="0" y="2529459"/>
                  </a:cubicBezTo>
                  <a:close/>
                </a:path>
              </a:pathLst>
            </a:custGeom>
            <a:solidFill>
              <a:srgbClr val="F5F7FA"/>
            </a:solidFill>
            <a:ln w="19050" cap="sq">
              <a:solidFill>
                <a:srgbClr val="D9E0E8"/>
              </a:solidFill>
              <a:prstDash val="solid"/>
              <a:miter/>
            </a:ln>
          </p:spPr>
        </p:sp>
      </p:grpSp>
      <p:grpSp>
        <p:nvGrpSpPr>
          <p:cNvPr id="21" name="Group 21"/>
          <p:cNvGrpSpPr/>
          <p:nvPr/>
        </p:nvGrpSpPr>
        <p:grpSpPr>
          <a:xfrm rot="0">
            <a:off x="11864340" y="6035040"/>
            <a:ext cx="3566160" cy="1988820"/>
            <a:chOff x="0" y="0"/>
            <a:chExt cx="4754880" cy="2651760"/>
          </a:xfrm>
        </p:grpSpPr>
        <p:sp>
          <p:nvSpPr>
            <p:cNvPr id="22" name="Freeform 22"/>
            <p:cNvSpPr/>
            <p:nvPr/>
          </p:nvSpPr>
          <p:spPr>
            <a:xfrm>
              <a:off x="0" y="0"/>
              <a:ext cx="4754880" cy="2651760"/>
            </a:xfrm>
            <a:custGeom>
              <a:avLst/>
              <a:gdLst/>
              <a:ahLst/>
              <a:cxnLst/>
              <a:rect l="l" t="t" r="r" b="b"/>
              <a:pathLst>
                <a:path w="4754880" h="2651760">
                  <a:moveTo>
                    <a:pt x="0" y="0"/>
                  </a:moveTo>
                  <a:lnTo>
                    <a:pt x="4754880" y="0"/>
                  </a:lnTo>
                  <a:lnTo>
                    <a:pt x="4754880" y="2651760"/>
                  </a:lnTo>
                  <a:lnTo>
                    <a:pt x="0" y="2651760"/>
                  </a:lnTo>
                  <a:close/>
                </a:path>
              </a:pathLst>
            </a:custGeom>
            <a:blipFill>
              <a:blip r:embed="rId1">
                <a:alphaModFix amt="0"/>
              </a:blip>
              <a:stretch>
                <a:fillRect l="-21553" r="-21553"/>
              </a:stretch>
            </a:blipFill>
          </p:spPr>
        </p:sp>
        <p:sp>
          <p:nvSpPr>
            <p:cNvPr id="23" name="TextBox 23"/>
            <p:cNvSpPr txBox="1"/>
            <p:nvPr/>
          </p:nvSpPr>
          <p:spPr>
            <a:xfrm>
              <a:off x="0" y="-38100"/>
              <a:ext cx="4754880" cy="2689860"/>
            </a:xfrm>
            <a:prstGeom prst="rect">
              <a:avLst/>
            </a:prstGeom>
          </p:spPr>
          <p:txBody>
            <a:bodyPr lIns="0" tIns="0" rIns="0" bIns="0" rtlCol="0" anchor="ctr"/>
            <a:lstStyle/>
            <a:p>
              <a:pPr algn="ctr">
                <a:lnSpc>
                  <a:spcPts val="2250"/>
                </a:lnSpc>
              </a:pPr>
              <a:r>
                <a:rPr lang="en-US" sz="1875" i="1">
                  <a:solidFill>
                    <a:srgbClr val="6B7A8F"/>
                  </a:solidFill>
                  <a:latin typeface="Calibri (MS) Italics" panose="020F05020202040A0204"/>
                  <a:ea typeface="Calibri (MS) Italics" panose="020F05020202040A0204"/>
                  <a:cs typeface="Calibri (MS) Italics" panose="020F05020202040A0204"/>
                  <a:sym typeface="Calibri (MS) Italics" panose="020F05020202040A0204"/>
                </a:rPr>
                <a:t>Upstream DNS</a:t>
              </a:r>
              <a:endParaRPr lang="en-US" sz="1875" i="1">
                <a:solidFill>
                  <a:srgbClr val="6B7A8F"/>
                </a:solidFill>
                <a:latin typeface="Calibri (MS) Italics" panose="020F05020202040A0204"/>
                <a:ea typeface="Calibri (MS) Italics" panose="020F05020202040A0204"/>
                <a:cs typeface="Calibri (MS) Italics" panose="020F05020202040A0204"/>
                <a:sym typeface="Calibri (MS) Italics" panose="020F05020202040A0204"/>
              </a:endParaRPr>
            </a:p>
            <a:p>
              <a:pPr algn="ctr">
                <a:lnSpc>
                  <a:spcPts val="2250"/>
                </a:lnSpc>
              </a:pPr>
              <a:r>
                <a:rPr lang="en-US" sz="1875" i="1">
                  <a:solidFill>
                    <a:srgbClr val="6B7A8F"/>
                  </a:solidFill>
                  <a:latin typeface="Calibri (MS) Italics" panose="020F05020202040A0204"/>
                  <a:ea typeface="Calibri (MS) Italics" panose="020F05020202040A0204"/>
                  <a:cs typeface="Calibri (MS) Italics" panose="020F05020202040A0204"/>
                  <a:sym typeface="Calibri (MS) Italics" panose="020F05020202040A0204"/>
                </a:rPr>
                <a:t>not displayed</a:t>
              </a:r>
              <a:endParaRPr lang="en-US" sz="1875" i="1">
                <a:solidFill>
                  <a:srgbClr val="6B7A8F"/>
                </a:solidFill>
                <a:latin typeface="Calibri (MS) Italics" panose="020F05020202040A0204"/>
                <a:ea typeface="Calibri (MS) Italics" panose="020F05020202040A0204"/>
                <a:cs typeface="Calibri (MS) Italics" panose="020F05020202040A0204"/>
                <a:sym typeface="Calibri (MS) Italics" panose="020F05020202040A0204"/>
              </a:endParaRPr>
            </a:p>
          </p:txBody>
        </p:sp>
      </p:grpSp>
      <p:grpSp>
        <p:nvGrpSpPr>
          <p:cNvPr id="24" name="Group 24"/>
          <p:cNvGrpSpPr/>
          <p:nvPr/>
        </p:nvGrpSpPr>
        <p:grpSpPr>
          <a:xfrm rot="0">
            <a:off x="685800" y="9710928"/>
            <a:ext cx="10972800" cy="411480"/>
            <a:chOff x="0" y="0"/>
            <a:chExt cx="14630400" cy="548640"/>
          </a:xfrm>
        </p:grpSpPr>
        <p:sp>
          <p:nvSpPr>
            <p:cNvPr id="25" name="Freeform 25"/>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26" name="TextBox 26"/>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27" name="Group 27"/>
          <p:cNvGrpSpPr/>
          <p:nvPr/>
        </p:nvGrpSpPr>
        <p:grpSpPr>
          <a:xfrm rot="0">
            <a:off x="16911828" y="9710928"/>
            <a:ext cx="685800" cy="411480"/>
            <a:chOff x="0" y="0"/>
            <a:chExt cx="914400" cy="548640"/>
          </a:xfrm>
        </p:grpSpPr>
        <p:sp>
          <p:nvSpPr>
            <p:cNvPr id="28" name="Freeform 28"/>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29" name="TextBox 29"/>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3</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822960" y="607695"/>
            <a:ext cx="16637508" cy="504825"/>
          </a:xfrm>
          <a:prstGeom prst="rect">
            <a:avLst/>
          </a:prstGeom>
        </p:spPr>
        <p:txBody>
          <a:bodyPr lIns="0" tIns="0" rIns="0" bIns="0" rtlCol="0" anchor="t">
            <a:spAutoFit/>
          </a:bodyPr>
          <a:lstStyle/>
          <a:p>
            <a:pPr algn="l">
              <a:lnSpc>
                <a:spcPts val="3960"/>
              </a:lnSpc>
            </a:pPr>
            <a:r>
              <a:rPr lang="en-US" sz="3300">
                <a:solidFill>
                  <a:srgbClr val="0D1B2A"/>
                </a:solidFill>
                <a:latin typeface="Cambria" panose="02040503050406030204"/>
                <a:ea typeface="Cambria" panose="02040503050406030204"/>
                <a:cs typeface="Cambria" panose="02040503050406030204"/>
                <a:sym typeface="Cambria" panose="02040503050406030204"/>
              </a:rPr>
              <a:t>Connectivity testing </a:t>
            </a:r>
            <a:endParaRPr lang="en-US" sz="3300">
              <a:solidFill>
                <a:srgbClr val="0D1B2A"/>
              </a:solidFill>
              <a:latin typeface="Cambria" panose="02040503050406030204"/>
              <a:ea typeface="Cambria" panose="02040503050406030204"/>
              <a:cs typeface="Cambria" panose="02040503050406030204"/>
              <a:sym typeface="Cambria" panose="02040503050406030204"/>
            </a:endParaRPr>
          </a:p>
        </p:txBody>
      </p:sp>
      <p:grpSp>
        <p:nvGrpSpPr>
          <p:cNvPr id="3" name="Group 3"/>
          <p:cNvGrpSpPr/>
          <p:nvPr/>
        </p:nvGrpSpPr>
        <p:grpSpPr>
          <a:xfrm rot="0">
            <a:off x="815816" y="3421856"/>
            <a:ext cx="3580447" cy="946976"/>
            <a:chOff x="0" y="0"/>
            <a:chExt cx="4773930" cy="1262634"/>
          </a:xfrm>
        </p:grpSpPr>
        <p:sp>
          <p:nvSpPr>
            <p:cNvPr id="4" name="Freeform 4"/>
            <p:cNvSpPr/>
            <p:nvPr/>
          </p:nvSpPr>
          <p:spPr>
            <a:xfrm>
              <a:off x="0" y="0"/>
              <a:ext cx="4773930" cy="1262634"/>
            </a:xfrm>
            <a:custGeom>
              <a:avLst/>
              <a:gdLst/>
              <a:ahLst/>
              <a:cxnLst/>
              <a:rect l="l" t="t" r="r" b="b"/>
              <a:pathLst>
                <a:path w="4773930" h="1262634">
                  <a:moveTo>
                    <a:pt x="0" y="0"/>
                  </a:moveTo>
                  <a:lnTo>
                    <a:pt x="4773930" y="0"/>
                  </a:lnTo>
                  <a:lnTo>
                    <a:pt x="4773930" y="1262634"/>
                  </a:lnTo>
                  <a:lnTo>
                    <a:pt x="0" y="1262634"/>
                  </a:lnTo>
                  <a:close/>
                </a:path>
              </a:pathLst>
            </a:custGeom>
            <a:solidFill>
              <a:srgbClr val="1B2A4A"/>
            </a:solidFill>
            <a:ln w="14288" cap="sq">
              <a:solidFill>
                <a:srgbClr val="D9E0E8"/>
              </a:solidFill>
              <a:prstDash val="solid"/>
              <a:miter/>
            </a:ln>
          </p:spPr>
        </p:sp>
      </p:grpSp>
      <p:grpSp>
        <p:nvGrpSpPr>
          <p:cNvPr id="5" name="Group 5"/>
          <p:cNvGrpSpPr/>
          <p:nvPr/>
        </p:nvGrpSpPr>
        <p:grpSpPr>
          <a:xfrm rot="0">
            <a:off x="987552" y="3429000"/>
            <a:ext cx="3236976" cy="932688"/>
            <a:chOff x="0" y="0"/>
            <a:chExt cx="4315968" cy="1243584"/>
          </a:xfrm>
        </p:grpSpPr>
        <p:sp>
          <p:nvSpPr>
            <p:cNvPr id="6" name="Freeform 6"/>
            <p:cNvSpPr/>
            <p:nvPr/>
          </p:nvSpPr>
          <p:spPr>
            <a:xfrm>
              <a:off x="0" y="0"/>
              <a:ext cx="4315968" cy="1243584"/>
            </a:xfrm>
            <a:custGeom>
              <a:avLst/>
              <a:gdLst/>
              <a:ahLst/>
              <a:cxnLst/>
              <a:rect l="l" t="t" r="r" b="b"/>
              <a:pathLst>
                <a:path w="4315968" h="1243584">
                  <a:moveTo>
                    <a:pt x="0" y="0"/>
                  </a:moveTo>
                  <a:lnTo>
                    <a:pt x="4315968" y="0"/>
                  </a:lnTo>
                  <a:lnTo>
                    <a:pt x="4315968" y="1243584"/>
                  </a:lnTo>
                  <a:lnTo>
                    <a:pt x="0" y="1243584"/>
                  </a:lnTo>
                  <a:close/>
                </a:path>
              </a:pathLst>
            </a:custGeom>
            <a:blipFill>
              <a:blip r:embed="rId1">
                <a:alphaModFix amt="0"/>
              </a:blip>
              <a:stretch>
                <a:fillRect t="-17624" b="-17624"/>
              </a:stretch>
            </a:blipFill>
          </p:spPr>
        </p:sp>
        <p:sp>
          <p:nvSpPr>
            <p:cNvPr id="7" name="TextBox 7"/>
            <p:cNvSpPr txBox="1"/>
            <p:nvPr/>
          </p:nvSpPr>
          <p:spPr>
            <a:xfrm>
              <a:off x="0" y="-38100"/>
              <a:ext cx="4315968" cy="1281684"/>
            </a:xfrm>
            <a:prstGeom prst="rect">
              <a:avLst/>
            </a:prstGeom>
          </p:spPr>
          <p:txBody>
            <a:bodyPr lIns="0" tIns="0" rIns="0" bIns="0" rtlCol="0" anchor="ctr"/>
            <a:lstStyle/>
            <a:p>
              <a:pPr algn="l">
                <a:lnSpc>
                  <a:spcPts val="2250"/>
                </a:lnSpc>
              </a:pPr>
              <a:r>
                <a:rPr lang="en-US" sz="1875" b="1">
                  <a:solidFill>
                    <a:srgbClr val="FFFFFF"/>
                  </a:solidFill>
                  <a:latin typeface="Calibri (MS) Bold" panose="020F0702030404030204"/>
                  <a:ea typeface="Calibri (MS) Bold" panose="020F0702030404030204"/>
                  <a:cs typeface="Calibri (MS) Bold" panose="020F0702030404030204"/>
                  <a:sym typeface="Calibri (MS) Bold" panose="020F0702030404030204"/>
                </a:rPr>
                <a:t>Destination</a:t>
              </a:r>
              <a:endParaRPr lang="en-US" sz="1875"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8" name="Group 8"/>
          <p:cNvGrpSpPr/>
          <p:nvPr/>
        </p:nvGrpSpPr>
        <p:grpSpPr>
          <a:xfrm rot="0">
            <a:off x="4381976" y="3421856"/>
            <a:ext cx="8106728" cy="946976"/>
            <a:chOff x="0" y="0"/>
            <a:chExt cx="10808970" cy="1262634"/>
          </a:xfrm>
        </p:grpSpPr>
        <p:sp>
          <p:nvSpPr>
            <p:cNvPr id="9" name="Freeform 9"/>
            <p:cNvSpPr/>
            <p:nvPr/>
          </p:nvSpPr>
          <p:spPr>
            <a:xfrm>
              <a:off x="0" y="0"/>
              <a:ext cx="10808970" cy="1262634"/>
            </a:xfrm>
            <a:custGeom>
              <a:avLst/>
              <a:gdLst/>
              <a:ahLst/>
              <a:cxnLst/>
              <a:rect l="l" t="t" r="r" b="b"/>
              <a:pathLst>
                <a:path w="10808970" h="1262634">
                  <a:moveTo>
                    <a:pt x="0" y="0"/>
                  </a:moveTo>
                  <a:lnTo>
                    <a:pt x="10808970" y="0"/>
                  </a:lnTo>
                  <a:lnTo>
                    <a:pt x="10808970" y="1262634"/>
                  </a:lnTo>
                  <a:lnTo>
                    <a:pt x="0" y="1262634"/>
                  </a:lnTo>
                  <a:close/>
                </a:path>
              </a:pathLst>
            </a:custGeom>
            <a:solidFill>
              <a:srgbClr val="1B2A4A"/>
            </a:solidFill>
            <a:ln w="14288" cap="sq">
              <a:solidFill>
                <a:srgbClr val="D9E0E8"/>
              </a:solidFill>
              <a:prstDash val="solid"/>
              <a:miter/>
            </a:ln>
          </p:spPr>
        </p:sp>
      </p:grpSp>
      <p:grpSp>
        <p:nvGrpSpPr>
          <p:cNvPr id="10" name="Group 10"/>
          <p:cNvGrpSpPr/>
          <p:nvPr/>
        </p:nvGrpSpPr>
        <p:grpSpPr>
          <a:xfrm rot="0">
            <a:off x="4553712" y="3429000"/>
            <a:ext cx="7763256" cy="932688"/>
            <a:chOff x="0" y="0"/>
            <a:chExt cx="10351008" cy="1243584"/>
          </a:xfrm>
        </p:grpSpPr>
        <p:sp>
          <p:nvSpPr>
            <p:cNvPr id="11" name="Freeform 11"/>
            <p:cNvSpPr/>
            <p:nvPr/>
          </p:nvSpPr>
          <p:spPr>
            <a:xfrm>
              <a:off x="0" y="0"/>
              <a:ext cx="10351008" cy="1243584"/>
            </a:xfrm>
            <a:custGeom>
              <a:avLst/>
              <a:gdLst/>
              <a:ahLst/>
              <a:cxnLst/>
              <a:rect l="l" t="t" r="r" b="b"/>
              <a:pathLst>
                <a:path w="10351008" h="1243584">
                  <a:moveTo>
                    <a:pt x="0" y="0"/>
                  </a:moveTo>
                  <a:lnTo>
                    <a:pt x="10351008" y="0"/>
                  </a:lnTo>
                  <a:lnTo>
                    <a:pt x="10351008" y="1243584"/>
                  </a:lnTo>
                  <a:lnTo>
                    <a:pt x="0" y="1243584"/>
                  </a:lnTo>
                  <a:close/>
                </a:path>
              </a:pathLst>
            </a:custGeom>
            <a:blipFill>
              <a:blip r:embed="rId1">
                <a:alphaModFix amt="0"/>
              </a:blip>
              <a:stretch>
                <a:fillRect t="-112184" b="-112184"/>
              </a:stretch>
            </a:blipFill>
          </p:spPr>
        </p:sp>
        <p:sp>
          <p:nvSpPr>
            <p:cNvPr id="12" name="TextBox 12"/>
            <p:cNvSpPr txBox="1"/>
            <p:nvPr/>
          </p:nvSpPr>
          <p:spPr>
            <a:xfrm>
              <a:off x="0" y="-38100"/>
              <a:ext cx="10351008" cy="1281684"/>
            </a:xfrm>
            <a:prstGeom prst="rect">
              <a:avLst/>
            </a:prstGeom>
          </p:spPr>
          <p:txBody>
            <a:bodyPr lIns="0" tIns="0" rIns="0" bIns="0" rtlCol="0" anchor="ctr"/>
            <a:lstStyle/>
            <a:p>
              <a:pPr algn="l">
                <a:lnSpc>
                  <a:spcPts val="2250"/>
                </a:lnSpc>
              </a:pPr>
              <a:r>
                <a:rPr lang="en-US" sz="1875" b="1">
                  <a:solidFill>
                    <a:srgbClr val="FFFFFF"/>
                  </a:solidFill>
                  <a:latin typeface="Calibri (MS) Bold" panose="020F0702030404030204"/>
                  <a:ea typeface="Calibri (MS) Bold" panose="020F0702030404030204"/>
                  <a:cs typeface="Calibri (MS) Bold" panose="020F0702030404030204"/>
                  <a:sym typeface="Calibri (MS) Bold" panose="020F0702030404030204"/>
                </a:rPr>
                <a:t>Reply</a:t>
              </a:r>
              <a:endParaRPr lang="en-US" sz="1875"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3" name="Group 13"/>
          <p:cNvGrpSpPr/>
          <p:nvPr/>
        </p:nvGrpSpPr>
        <p:grpSpPr>
          <a:xfrm rot="0">
            <a:off x="12474416" y="3421856"/>
            <a:ext cx="3031808" cy="946976"/>
            <a:chOff x="0" y="0"/>
            <a:chExt cx="4042410" cy="1262634"/>
          </a:xfrm>
        </p:grpSpPr>
        <p:sp>
          <p:nvSpPr>
            <p:cNvPr id="14" name="Freeform 14"/>
            <p:cNvSpPr/>
            <p:nvPr/>
          </p:nvSpPr>
          <p:spPr>
            <a:xfrm>
              <a:off x="0" y="0"/>
              <a:ext cx="4042410" cy="1262634"/>
            </a:xfrm>
            <a:custGeom>
              <a:avLst/>
              <a:gdLst/>
              <a:ahLst/>
              <a:cxnLst/>
              <a:rect l="l" t="t" r="r" b="b"/>
              <a:pathLst>
                <a:path w="4042410" h="1262634">
                  <a:moveTo>
                    <a:pt x="0" y="0"/>
                  </a:moveTo>
                  <a:lnTo>
                    <a:pt x="4042410" y="0"/>
                  </a:lnTo>
                  <a:lnTo>
                    <a:pt x="4042410" y="1262634"/>
                  </a:lnTo>
                  <a:lnTo>
                    <a:pt x="0" y="1262634"/>
                  </a:lnTo>
                  <a:close/>
                </a:path>
              </a:pathLst>
            </a:custGeom>
            <a:solidFill>
              <a:srgbClr val="1B2A4A"/>
            </a:solidFill>
            <a:ln w="14288" cap="sq">
              <a:solidFill>
                <a:srgbClr val="D9E0E8"/>
              </a:solidFill>
              <a:prstDash val="solid"/>
              <a:miter/>
            </a:ln>
          </p:spPr>
        </p:sp>
      </p:grpSp>
      <p:grpSp>
        <p:nvGrpSpPr>
          <p:cNvPr id="15" name="Group 15"/>
          <p:cNvGrpSpPr/>
          <p:nvPr/>
        </p:nvGrpSpPr>
        <p:grpSpPr>
          <a:xfrm rot="0">
            <a:off x="12646152" y="3429000"/>
            <a:ext cx="2688336" cy="932688"/>
            <a:chOff x="0" y="0"/>
            <a:chExt cx="3584448" cy="1243584"/>
          </a:xfrm>
        </p:grpSpPr>
        <p:sp>
          <p:nvSpPr>
            <p:cNvPr id="16" name="Freeform 16"/>
            <p:cNvSpPr/>
            <p:nvPr/>
          </p:nvSpPr>
          <p:spPr>
            <a:xfrm>
              <a:off x="0" y="0"/>
              <a:ext cx="3584448" cy="1243584"/>
            </a:xfrm>
            <a:custGeom>
              <a:avLst/>
              <a:gdLst/>
              <a:ahLst/>
              <a:cxnLst/>
              <a:rect l="l" t="t" r="r" b="b"/>
              <a:pathLst>
                <a:path w="3584448" h="1243584">
                  <a:moveTo>
                    <a:pt x="0" y="0"/>
                  </a:moveTo>
                  <a:lnTo>
                    <a:pt x="3584448" y="0"/>
                  </a:lnTo>
                  <a:lnTo>
                    <a:pt x="3584448" y="1243584"/>
                  </a:lnTo>
                  <a:lnTo>
                    <a:pt x="0" y="1243584"/>
                  </a:lnTo>
                  <a:close/>
                </a:path>
              </a:pathLst>
            </a:custGeom>
            <a:blipFill>
              <a:blip r:embed="rId1">
                <a:alphaModFix amt="0"/>
              </a:blip>
              <a:stretch>
                <a:fillRect t="-6162" b="-6162"/>
              </a:stretch>
            </a:blipFill>
          </p:spPr>
        </p:sp>
        <p:sp>
          <p:nvSpPr>
            <p:cNvPr id="17" name="TextBox 17"/>
            <p:cNvSpPr txBox="1"/>
            <p:nvPr/>
          </p:nvSpPr>
          <p:spPr>
            <a:xfrm>
              <a:off x="0" y="-38100"/>
              <a:ext cx="3584448" cy="1281684"/>
            </a:xfrm>
            <a:prstGeom prst="rect">
              <a:avLst/>
            </a:prstGeom>
          </p:spPr>
          <p:txBody>
            <a:bodyPr lIns="0" tIns="0" rIns="0" bIns="0" rtlCol="0" anchor="ctr"/>
            <a:lstStyle/>
            <a:p>
              <a:pPr algn="l">
                <a:lnSpc>
                  <a:spcPts val="2250"/>
                </a:lnSpc>
              </a:pPr>
              <a:r>
                <a:rPr lang="en-US" sz="1875" b="1">
                  <a:solidFill>
                    <a:srgbClr val="FFFFFF"/>
                  </a:solidFill>
                  <a:latin typeface="Calibri (MS) Bold" panose="020F0702030404030204"/>
                  <a:ea typeface="Calibri (MS) Bold" panose="020F0702030404030204"/>
                  <a:cs typeface="Calibri (MS) Bold" panose="020F0702030404030204"/>
                  <a:sym typeface="Calibri (MS) Bold" panose="020F0702030404030204"/>
                </a:rPr>
                <a:t>Meaning</a:t>
              </a:r>
              <a:endParaRPr lang="en-US" sz="1875"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8" name="Group 18"/>
          <p:cNvGrpSpPr/>
          <p:nvPr/>
        </p:nvGrpSpPr>
        <p:grpSpPr>
          <a:xfrm rot="0">
            <a:off x="815816" y="4354544"/>
            <a:ext cx="3580447" cy="946976"/>
            <a:chOff x="0" y="0"/>
            <a:chExt cx="4773930" cy="1262634"/>
          </a:xfrm>
        </p:grpSpPr>
        <p:sp>
          <p:nvSpPr>
            <p:cNvPr id="19" name="Freeform 19"/>
            <p:cNvSpPr/>
            <p:nvPr/>
          </p:nvSpPr>
          <p:spPr>
            <a:xfrm>
              <a:off x="0" y="0"/>
              <a:ext cx="4773930" cy="1262634"/>
            </a:xfrm>
            <a:custGeom>
              <a:avLst/>
              <a:gdLst/>
              <a:ahLst/>
              <a:cxnLst/>
              <a:rect l="l" t="t" r="r" b="b"/>
              <a:pathLst>
                <a:path w="4773930" h="1262634">
                  <a:moveTo>
                    <a:pt x="0" y="0"/>
                  </a:moveTo>
                  <a:lnTo>
                    <a:pt x="4773930" y="0"/>
                  </a:lnTo>
                  <a:lnTo>
                    <a:pt x="4773930" y="1262634"/>
                  </a:lnTo>
                  <a:lnTo>
                    <a:pt x="0" y="1262634"/>
                  </a:lnTo>
                  <a:close/>
                </a:path>
              </a:pathLst>
            </a:custGeom>
            <a:solidFill>
              <a:srgbClr val="FFFFFF"/>
            </a:solidFill>
            <a:ln w="14288" cap="sq">
              <a:solidFill>
                <a:srgbClr val="D9E0E8"/>
              </a:solidFill>
              <a:prstDash val="solid"/>
              <a:miter/>
            </a:ln>
          </p:spPr>
        </p:sp>
      </p:grpSp>
      <p:grpSp>
        <p:nvGrpSpPr>
          <p:cNvPr id="20" name="Group 20"/>
          <p:cNvGrpSpPr/>
          <p:nvPr/>
        </p:nvGrpSpPr>
        <p:grpSpPr>
          <a:xfrm rot="0">
            <a:off x="987552" y="4361688"/>
            <a:ext cx="3236976" cy="932688"/>
            <a:chOff x="0" y="0"/>
            <a:chExt cx="4315968" cy="1243584"/>
          </a:xfrm>
        </p:grpSpPr>
        <p:sp>
          <p:nvSpPr>
            <p:cNvPr id="21" name="Freeform 21"/>
            <p:cNvSpPr/>
            <p:nvPr/>
          </p:nvSpPr>
          <p:spPr>
            <a:xfrm>
              <a:off x="0" y="0"/>
              <a:ext cx="4315968" cy="1243584"/>
            </a:xfrm>
            <a:custGeom>
              <a:avLst/>
              <a:gdLst/>
              <a:ahLst/>
              <a:cxnLst/>
              <a:rect l="l" t="t" r="r" b="b"/>
              <a:pathLst>
                <a:path w="4315968" h="1243584">
                  <a:moveTo>
                    <a:pt x="0" y="0"/>
                  </a:moveTo>
                  <a:lnTo>
                    <a:pt x="4315968" y="0"/>
                  </a:lnTo>
                  <a:lnTo>
                    <a:pt x="4315968" y="1243584"/>
                  </a:lnTo>
                  <a:lnTo>
                    <a:pt x="0" y="1243584"/>
                  </a:lnTo>
                  <a:close/>
                </a:path>
              </a:pathLst>
            </a:custGeom>
            <a:blipFill>
              <a:blip r:embed="rId1">
                <a:alphaModFix amt="0"/>
              </a:blip>
              <a:stretch>
                <a:fillRect t="-17624" b="-17624"/>
              </a:stretch>
            </a:blipFill>
          </p:spPr>
        </p:sp>
        <p:sp>
          <p:nvSpPr>
            <p:cNvPr id="22" name="TextBox 22"/>
            <p:cNvSpPr txBox="1"/>
            <p:nvPr/>
          </p:nvSpPr>
          <p:spPr>
            <a:xfrm>
              <a:off x="0" y="-38100"/>
              <a:ext cx="4315968" cy="1281684"/>
            </a:xfrm>
            <a:prstGeom prst="rect">
              <a:avLst/>
            </a:prstGeom>
          </p:spPr>
          <p:txBody>
            <a:bodyPr lIns="0" tIns="0" rIns="0" bIns="0" rtlCol="0" anchor="ctr"/>
            <a:lstStyle/>
            <a:p>
              <a:pPr algn="l">
                <a:lnSpc>
                  <a:spcPts val="2250"/>
                </a:lnSpc>
              </a:pPr>
              <a:r>
                <a:rPr lang="en-US" sz="1875">
                  <a:solidFill>
                    <a:srgbClr val="1B2A4A"/>
                  </a:solidFill>
                  <a:latin typeface="Calibri (MS)" panose="020F0502020204030204"/>
                  <a:ea typeface="Calibri (MS)" panose="020F0502020204030204"/>
                  <a:cs typeface="Calibri (MS)" panose="020F0502020204030204"/>
                  <a:sym typeface="Calibri (MS)" panose="020F0502020204030204"/>
                </a:rPr>
                <a:t>127.0.0.1</a:t>
              </a:r>
              <a:endParaRPr lang="en-US" sz="1875">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grpSp>
        <p:nvGrpSpPr>
          <p:cNvPr id="23" name="Group 23"/>
          <p:cNvGrpSpPr/>
          <p:nvPr/>
        </p:nvGrpSpPr>
        <p:grpSpPr>
          <a:xfrm rot="0">
            <a:off x="4381976" y="4354544"/>
            <a:ext cx="8106728" cy="946976"/>
            <a:chOff x="0" y="0"/>
            <a:chExt cx="10808970" cy="1262634"/>
          </a:xfrm>
        </p:grpSpPr>
        <p:sp>
          <p:nvSpPr>
            <p:cNvPr id="24" name="Freeform 24"/>
            <p:cNvSpPr/>
            <p:nvPr/>
          </p:nvSpPr>
          <p:spPr>
            <a:xfrm>
              <a:off x="0" y="0"/>
              <a:ext cx="10808970" cy="1262634"/>
            </a:xfrm>
            <a:custGeom>
              <a:avLst/>
              <a:gdLst/>
              <a:ahLst/>
              <a:cxnLst/>
              <a:rect l="l" t="t" r="r" b="b"/>
              <a:pathLst>
                <a:path w="10808970" h="1262634">
                  <a:moveTo>
                    <a:pt x="0" y="0"/>
                  </a:moveTo>
                  <a:lnTo>
                    <a:pt x="10808970" y="0"/>
                  </a:lnTo>
                  <a:lnTo>
                    <a:pt x="10808970" y="1262634"/>
                  </a:lnTo>
                  <a:lnTo>
                    <a:pt x="0" y="1262634"/>
                  </a:lnTo>
                  <a:close/>
                </a:path>
              </a:pathLst>
            </a:custGeom>
            <a:solidFill>
              <a:srgbClr val="FFFFFF"/>
            </a:solidFill>
            <a:ln w="14288" cap="sq">
              <a:solidFill>
                <a:srgbClr val="D9E0E8"/>
              </a:solidFill>
              <a:prstDash val="solid"/>
              <a:miter/>
            </a:ln>
          </p:spPr>
        </p:sp>
      </p:grpSp>
      <p:grpSp>
        <p:nvGrpSpPr>
          <p:cNvPr id="25" name="Group 25"/>
          <p:cNvGrpSpPr/>
          <p:nvPr/>
        </p:nvGrpSpPr>
        <p:grpSpPr>
          <a:xfrm rot="0">
            <a:off x="4553712" y="4361688"/>
            <a:ext cx="7763256" cy="932688"/>
            <a:chOff x="0" y="0"/>
            <a:chExt cx="10351008" cy="1243584"/>
          </a:xfrm>
        </p:grpSpPr>
        <p:sp>
          <p:nvSpPr>
            <p:cNvPr id="26" name="Freeform 26"/>
            <p:cNvSpPr/>
            <p:nvPr/>
          </p:nvSpPr>
          <p:spPr>
            <a:xfrm>
              <a:off x="0" y="0"/>
              <a:ext cx="10351008" cy="1243584"/>
            </a:xfrm>
            <a:custGeom>
              <a:avLst/>
              <a:gdLst/>
              <a:ahLst/>
              <a:cxnLst/>
              <a:rect l="l" t="t" r="r" b="b"/>
              <a:pathLst>
                <a:path w="10351008" h="1243584">
                  <a:moveTo>
                    <a:pt x="0" y="0"/>
                  </a:moveTo>
                  <a:lnTo>
                    <a:pt x="10351008" y="0"/>
                  </a:lnTo>
                  <a:lnTo>
                    <a:pt x="10351008" y="1243584"/>
                  </a:lnTo>
                  <a:lnTo>
                    <a:pt x="0" y="1243584"/>
                  </a:lnTo>
                  <a:close/>
                </a:path>
              </a:pathLst>
            </a:custGeom>
            <a:blipFill>
              <a:blip r:embed="rId1">
                <a:alphaModFix amt="0"/>
              </a:blip>
              <a:stretch>
                <a:fillRect t="-112184" b="-112184"/>
              </a:stretch>
            </a:blipFill>
          </p:spPr>
        </p:sp>
        <p:sp>
          <p:nvSpPr>
            <p:cNvPr id="27" name="TextBox 27"/>
            <p:cNvSpPr txBox="1"/>
            <p:nvPr/>
          </p:nvSpPr>
          <p:spPr>
            <a:xfrm>
              <a:off x="0" y="-38100"/>
              <a:ext cx="10351008" cy="1281684"/>
            </a:xfrm>
            <a:prstGeom prst="rect">
              <a:avLst/>
            </a:prstGeom>
          </p:spPr>
          <p:txBody>
            <a:bodyPr lIns="0" tIns="0" rIns="0" bIns="0" rtlCol="0" anchor="ctr"/>
            <a:lstStyle/>
            <a:p>
              <a:pPr algn="l">
                <a:lnSpc>
                  <a:spcPts val="2250"/>
                </a:lnSpc>
              </a:pPr>
              <a:r>
                <a:rPr lang="en-US" sz="1875">
                  <a:solidFill>
                    <a:srgbClr val="1B2A4A"/>
                  </a:solidFill>
                  <a:latin typeface="Calibri (MS)" panose="020F0502020204030204"/>
                  <a:ea typeface="Calibri (MS)" panose="020F0502020204030204"/>
                  <a:cs typeface="Calibri (MS)" panose="020F0502020204030204"/>
                  <a:sym typeface="Calibri (MS)" panose="020F0502020204030204"/>
                </a:rPr>
                <a:t>5 received successfully, 0% loss</a:t>
              </a:r>
              <a:endParaRPr lang="en-US" sz="1875">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grpSp>
        <p:nvGrpSpPr>
          <p:cNvPr id="28" name="Group 28"/>
          <p:cNvGrpSpPr/>
          <p:nvPr/>
        </p:nvGrpSpPr>
        <p:grpSpPr>
          <a:xfrm rot="0">
            <a:off x="12474416" y="4354544"/>
            <a:ext cx="3031808" cy="946976"/>
            <a:chOff x="0" y="0"/>
            <a:chExt cx="4042410" cy="1262634"/>
          </a:xfrm>
        </p:grpSpPr>
        <p:sp>
          <p:nvSpPr>
            <p:cNvPr id="29" name="Freeform 29"/>
            <p:cNvSpPr/>
            <p:nvPr/>
          </p:nvSpPr>
          <p:spPr>
            <a:xfrm>
              <a:off x="0" y="0"/>
              <a:ext cx="4042410" cy="1262634"/>
            </a:xfrm>
            <a:custGeom>
              <a:avLst/>
              <a:gdLst/>
              <a:ahLst/>
              <a:cxnLst/>
              <a:rect l="l" t="t" r="r" b="b"/>
              <a:pathLst>
                <a:path w="4042410" h="1262634">
                  <a:moveTo>
                    <a:pt x="0" y="0"/>
                  </a:moveTo>
                  <a:lnTo>
                    <a:pt x="4042410" y="0"/>
                  </a:lnTo>
                  <a:lnTo>
                    <a:pt x="4042410" y="1262634"/>
                  </a:lnTo>
                  <a:lnTo>
                    <a:pt x="0" y="1262634"/>
                  </a:lnTo>
                  <a:close/>
                </a:path>
              </a:pathLst>
            </a:custGeom>
            <a:solidFill>
              <a:srgbClr val="FFFFFF"/>
            </a:solidFill>
            <a:ln w="14288" cap="sq">
              <a:solidFill>
                <a:srgbClr val="D9E0E8"/>
              </a:solidFill>
              <a:prstDash val="solid"/>
              <a:miter/>
            </a:ln>
          </p:spPr>
        </p:sp>
      </p:grpSp>
      <p:grpSp>
        <p:nvGrpSpPr>
          <p:cNvPr id="30" name="Group 30"/>
          <p:cNvGrpSpPr/>
          <p:nvPr/>
        </p:nvGrpSpPr>
        <p:grpSpPr>
          <a:xfrm rot="0">
            <a:off x="12646152" y="4361688"/>
            <a:ext cx="2688336" cy="932688"/>
            <a:chOff x="0" y="0"/>
            <a:chExt cx="3584448" cy="1243584"/>
          </a:xfrm>
        </p:grpSpPr>
        <p:sp>
          <p:nvSpPr>
            <p:cNvPr id="31" name="Freeform 31"/>
            <p:cNvSpPr/>
            <p:nvPr/>
          </p:nvSpPr>
          <p:spPr>
            <a:xfrm>
              <a:off x="0" y="0"/>
              <a:ext cx="3584448" cy="1243584"/>
            </a:xfrm>
            <a:custGeom>
              <a:avLst/>
              <a:gdLst/>
              <a:ahLst/>
              <a:cxnLst/>
              <a:rect l="l" t="t" r="r" b="b"/>
              <a:pathLst>
                <a:path w="3584448" h="1243584">
                  <a:moveTo>
                    <a:pt x="0" y="0"/>
                  </a:moveTo>
                  <a:lnTo>
                    <a:pt x="3584448" y="0"/>
                  </a:lnTo>
                  <a:lnTo>
                    <a:pt x="3584448" y="1243584"/>
                  </a:lnTo>
                  <a:lnTo>
                    <a:pt x="0" y="1243584"/>
                  </a:lnTo>
                  <a:close/>
                </a:path>
              </a:pathLst>
            </a:custGeom>
            <a:blipFill>
              <a:blip r:embed="rId1">
                <a:alphaModFix amt="0"/>
              </a:blip>
              <a:stretch>
                <a:fillRect t="-6162" b="-6162"/>
              </a:stretch>
            </a:blipFill>
          </p:spPr>
        </p:sp>
        <p:sp>
          <p:nvSpPr>
            <p:cNvPr id="32" name="TextBox 32"/>
            <p:cNvSpPr txBox="1"/>
            <p:nvPr/>
          </p:nvSpPr>
          <p:spPr>
            <a:xfrm>
              <a:off x="0" y="-38100"/>
              <a:ext cx="3584448" cy="1281684"/>
            </a:xfrm>
            <a:prstGeom prst="rect">
              <a:avLst/>
            </a:prstGeom>
          </p:spPr>
          <p:txBody>
            <a:bodyPr lIns="0" tIns="0" rIns="0" bIns="0" rtlCol="0" anchor="ctr"/>
            <a:lstStyle/>
            <a:p>
              <a:pPr algn="l">
                <a:lnSpc>
                  <a:spcPts val="2250"/>
                </a:lnSpc>
              </a:pPr>
              <a:r>
                <a:rPr lang="en-US" sz="1875" b="1">
                  <a:solidFill>
                    <a:srgbClr val="1F9D55"/>
                  </a:solidFill>
                  <a:latin typeface="Calibri (MS) Bold" panose="020F0702030404030204"/>
                  <a:ea typeface="Calibri (MS) Bold" panose="020F0702030404030204"/>
                  <a:cs typeface="Calibri (MS) Bold" panose="020F0702030404030204"/>
                  <a:sym typeface="Calibri (MS) Bold" panose="020F0702030404030204"/>
                </a:rPr>
                <a:t>Successful</a:t>
              </a:r>
              <a:endParaRPr lang="en-US" sz="1875" b="1">
                <a:solidFill>
                  <a:srgbClr val="1F9D55"/>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3" name="Group 33"/>
          <p:cNvGrpSpPr/>
          <p:nvPr/>
        </p:nvGrpSpPr>
        <p:grpSpPr>
          <a:xfrm rot="0">
            <a:off x="815816" y="5287232"/>
            <a:ext cx="3580447" cy="946976"/>
            <a:chOff x="0" y="0"/>
            <a:chExt cx="4773930" cy="1262634"/>
          </a:xfrm>
        </p:grpSpPr>
        <p:sp>
          <p:nvSpPr>
            <p:cNvPr id="34" name="Freeform 34"/>
            <p:cNvSpPr/>
            <p:nvPr/>
          </p:nvSpPr>
          <p:spPr>
            <a:xfrm>
              <a:off x="0" y="0"/>
              <a:ext cx="4773930" cy="1262634"/>
            </a:xfrm>
            <a:custGeom>
              <a:avLst/>
              <a:gdLst/>
              <a:ahLst/>
              <a:cxnLst/>
              <a:rect l="l" t="t" r="r" b="b"/>
              <a:pathLst>
                <a:path w="4773930" h="1262634">
                  <a:moveTo>
                    <a:pt x="0" y="0"/>
                  </a:moveTo>
                  <a:lnTo>
                    <a:pt x="4773930" y="0"/>
                  </a:lnTo>
                  <a:lnTo>
                    <a:pt x="4773930" y="1262634"/>
                  </a:lnTo>
                  <a:lnTo>
                    <a:pt x="0" y="1262634"/>
                  </a:lnTo>
                  <a:close/>
                </a:path>
              </a:pathLst>
            </a:custGeom>
            <a:solidFill>
              <a:srgbClr val="F5F7FA"/>
            </a:solidFill>
            <a:ln w="14288" cap="sq">
              <a:solidFill>
                <a:srgbClr val="D9E0E8"/>
              </a:solidFill>
              <a:prstDash val="solid"/>
              <a:miter/>
            </a:ln>
          </p:spPr>
        </p:sp>
      </p:grpSp>
      <p:grpSp>
        <p:nvGrpSpPr>
          <p:cNvPr id="35" name="Group 35"/>
          <p:cNvGrpSpPr/>
          <p:nvPr/>
        </p:nvGrpSpPr>
        <p:grpSpPr>
          <a:xfrm rot="0">
            <a:off x="987552" y="5294376"/>
            <a:ext cx="3236976" cy="932688"/>
            <a:chOff x="0" y="0"/>
            <a:chExt cx="4315968" cy="1243584"/>
          </a:xfrm>
        </p:grpSpPr>
        <p:sp>
          <p:nvSpPr>
            <p:cNvPr id="36" name="Freeform 36"/>
            <p:cNvSpPr/>
            <p:nvPr/>
          </p:nvSpPr>
          <p:spPr>
            <a:xfrm>
              <a:off x="0" y="0"/>
              <a:ext cx="4315968" cy="1243584"/>
            </a:xfrm>
            <a:custGeom>
              <a:avLst/>
              <a:gdLst/>
              <a:ahLst/>
              <a:cxnLst/>
              <a:rect l="l" t="t" r="r" b="b"/>
              <a:pathLst>
                <a:path w="4315968" h="1243584">
                  <a:moveTo>
                    <a:pt x="0" y="0"/>
                  </a:moveTo>
                  <a:lnTo>
                    <a:pt x="4315968" y="0"/>
                  </a:lnTo>
                  <a:lnTo>
                    <a:pt x="4315968" y="1243584"/>
                  </a:lnTo>
                  <a:lnTo>
                    <a:pt x="0" y="1243584"/>
                  </a:lnTo>
                  <a:close/>
                </a:path>
              </a:pathLst>
            </a:custGeom>
            <a:blipFill>
              <a:blip r:embed="rId1">
                <a:alphaModFix amt="0"/>
              </a:blip>
              <a:stretch>
                <a:fillRect t="-17624" b="-17624"/>
              </a:stretch>
            </a:blipFill>
          </p:spPr>
        </p:sp>
        <p:sp>
          <p:nvSpPr>
            <p:cNvPr id="37" name="TextBox 37"/>
            <p:cNvSpPr txBox="1"/>
            <p:nvPr/>
          </p:nvSpPr>
          <p:spPr>
            <a:xfrm>
              <a:off x="0" y="-38100"/>
              <a:ext cx="4315968" cy="1281684"/>
            </a:xfrm>
            <a:prstGeom prst="rect">
              <a:avLst/>
            </a:prstGeom>
          </p:spPr>
          <p:txBody>
            <a:bodyPr lIns="0" tIns="0" rIns="0" bIns="0" rtlCol="0" anchor="ctr"/>
            <a:lstStyle/>
            <a:p>
              <a:pPr algn="l">
                <a:lnSpc>
                  <a:spcPts val="2250"/>
                </a:lnSpc>
              </a:pPr>
              <a:r>
                <a:rPr lang="en-US" sz="1875">
                  <a:solidFill>
                    <a:srgbClr val="1B2A4A"/>
                  </a:solidFill>
                  <a:latin typeface="Calibri (MS)" panose="020F0502020204030204"/>
                  <a:ea typeface="Calibri (MS)" panose="020F0502020204030204"/>
                  <a:cs typeface="Calibri (MS)" panose="020F0502020204030204"/>
                  <a:sym typeface="Calibri (MS)" panose="020F0502020204030204"/>
                </a:rPr>
                <a:t>10.0.2.2</a:t>
              </a:r>
              <a:endParaRPr lang="en-US" sz="1875">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grpSp>
        <p:nvGrpSpPr>
          <p:cNvPr id="38" name="Group 38"/>
          <p:cNvGrpSpPr/>
          <p:nvPr/>
        </p:nvGrpSpPr>
        <p:grpSpPr>
          <a:xfrm rot="0">
            <a:off x="4381976" y="5287232"/>
            <a:ext cx="8106728" cy="946976"/>
            <a:chOff x="0" y="0"/>
            <a:chExt cx="10808970" cy="1262634"/>
          </a:xfrm>
        </p:grpSpPr>
        <p:sp>
          <p:nvSpPr>
            <p:cNvPr id="39" name="Freeform 39"/>
            <p:cNvSpPr/>
            <p:nvPr/>
          </p:nvSpPr>
          <p:spPr>
            <a:xfrm>
              <a:off x="0" y="0"/>
              <a:ext cx="10808970" cy="1262634"/>
            </a:xfrm>
            <a:custGeom>
              <a:avLst/>
              <a:gdLst/>
              <a:ahLst/>
              <a:cxnLst/>
              <a:rect l="l" t="t" r="r" b="b"/>
              <a:pathLst>
                <a:path w="10808970" h="1262634">
                  <a:moveTo>
                    <a:pt x="0" y="0"/>
                  </a:moveTo>
                  <a:lnTo>
                    <a:pt x="10808970" y="0"/>
                  </a:lnTo>
                  <a:lnTo>
                    <a:pt x="10808970" y="1262634"/>
                  </a:lnTo>
                  <a:lnTo>
                    <a:pt x="0" y="1262634"/>
                  </a:lnTo>
                  <a:close/>
                </a:path>
              </a:pathLst>
            </a:custGeom>
            <a:solidFill>
              <a:srgbClr val="F5F7FA"/>
            </a:solidFill>
            <a:ln w="14288" cap="sq">
              <a:solidFill>
                <a:srgbClr val="D9E0E8"/>
              </a:solidFill>
              <a:prstDash val="solid"/>
              <a:miter/>
            </a:ln>
          </p:spPr>
        </p:sp>
      </p:grpSp>
      <p:grpSp>
        <p:nvGrpSpPr>
          <p:cNvPr id="40" name="Group 40"/>
          <p:cNvGrpSpPr/>
          <p:nvPr/>
        </p:nvGrpSpPr>
        <p:grpSpPr>
          <a:xfrm rot="0">
            <a:off x="4553712" y="5294376"/>
            <a:ext cx="7763256" cy="932688"/>
            <a:chOff x="0" y="0"/>
            <a:chExt cx="10351008" cy="1243584"/>
          </a:xfrm>
        </p:grpSpPr>
        <p:sp>
          <p:nvSpPr>
            <p:cNvPr id="41" name="Freeform 41"/>
            <p:cNvSpPr/>
            <p:nvPr/>
          </p:nvSpPr>
          <p:spPr>
            <a:xfrm>
              <a:off x="0" y="0"/>
              <a:ext cx="10351008" cy="1243584"/>
            </a:xfrm>
            <a:custGeom>
              <a:avLst/>
              <a:gdLst/>
              <a:ahLst/>
              <a:cxnLst/>
              <a:rect l="l" t="t" r="r" b="b"/>
              <a:pathLst>
                <a:path w="10351008" h="1243584">
                  <a:moveTo>
                    <a:pt x="0" y="0"/>
                  </a:moveTo>
                  <a:lnTo>
                    <a:pt x="10351008" y="0"/>
                  </a:lnTo>
                  <a:lnTo>
                    <a:pt x="10351008" y="1243584"/>
                  </a:lnTo>
                  <a:lnTo>
                    <a:pt x="0" y="1243584"/>
                  </a:lnTo>
                  <a:close/>
                </a:path>
              </a:pathLst>
            </a:custGeom>
            <a:blipFill>
              <a:blip r:embed="rId1">
                <a:alphaModFix amt="0"/>
              </a:blip>
              <a:stretch>
                <a:fillRect t="-112184" b="-112184"/>
              </a:stretch>
            </a:blipFill>
          </p:spPr>
        </p:sp>
        <p:sp>
          <p:nvSpPr>
            <p:cNvPr id="42" name="TextBox 42"/>
            <p:cNvSpPr txBox="1"/>
            <p:nvPr/>
          </p:nvSpPr>
          <p:spPr>
            <a:xfrm>
              <a:off x="0" y="-38100"/>
              <a:ext cx="10351008" cy="1281684"/>
            </a:xfrm>
            <a:prstGeom prst="rect">
              <a:avLst/>
            </a:prstGeom>
          </p:spPr>
          <p:txBody>
            <a:bodyPr lIns="0" tIns="0" rIns="0" bIns="0" rtlCol="0" anchor="ctr"/>
            <a:lstStyle/>
            <a:p>
              <a:pPr algn="l">
                <a:lnSpc>
                  <a:spcPts val="2250"/>
                </a:lnSpc>
              </a:pPr>
              <a:r>
                <a:rPr lang="en-US" sz="1875">
                  <a:solidFill>
                    <a:srgbClr val="1B2A4A"/>
                  </a:solidFill>
                  <a:latin typeface="Calibri (MS)" panose="020F0502020204030204"/>
                  <a:ea typeface="Calibri (MS)" panose="020F0502020204030204"/>
                  <a:cs typeface="Calibri (MS)" panose="020F0502020204030204"/>
                  <a:sym typeface="Calibri (MS)" panose="020F0502020204030204"/>
                </a:rPr>
                <a:t>4 received successfully, 0% loss</a:t>
              </a:r>
              <a:endParaRPr lang="en-US" sz="1875">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grpSp>
        <p:nvGrpSpPr>
          <p:cNvPr id="43" name="Group 43"/>
          <p:cNvGrpSpPr/>
          <p:nvPr/>
        </p:nvGrpSpPr>
        <p:grpSpPr>
          <a:xfrm rot="0">
            <a:off x="12474416" y="5287232"/>
            <a:ext cx="3031808" cy="946976"/>
            <a:chOff x="0" y="0"/>
            <a:chExt cx="4042410" cy="1262634"/>
          </a:xfrm>
        </p:grpSpPr>
        <p:sp>
          <p:nvSpPr>
            <p:cNvPr id="44" name="Freeform 44"/>
            <p:cNvSpPr/>
            <p:nvPr/>
          </p:nvSpPr>
          <p:spPr>
            <a:xfrm>
              <a:off x="0" y="0"/>
              <a:ext cx="4042410" cy="1262634"/>
            </a:xfrm>
            <a:custGeom>
              <a:avLst/>
              <a:gdLst/>
              <a:ahLst/>
              <a:cxnLst/>
              <a:rect l="l" t="t" r="r" b="b"/>
              <a:pathLst>
                <a:path w="4042410" h="1262634">
                  <a:moveTo>
                    <a:pt x="0" y="0"/>
                  </a:moveTo>
                  <a:lnTo>
                    <a:pt x="4042410" y="0"/>
                  </a:lnTo>
                  <a:lnTo>
                    <a:pt x="4042410" y="1262634"/>
                  </a:lnTo>
                  <a:lnTo>
                    <a:pt x="0" y="1262634"/>
                  </a:lnTo>
                  <a:close/>
                </a:path>
              </a:pathLst>
            </a:custGeom>
            <a:solidFill>
              <a:srgbClr val="F5F7FA"/>
            </a:solidFill>
            <a:ln w="14288" cap="sq">
              <a:solidFill>
                <a:srgbClr val="D9E0E8"/>
              </a:solidFill>
              <a:prstDash val="solid"/>
              <a:miter/>
            </a:ln>
          </p:spPr>
        </p:sp>
      </p:grpSp>
      <p:grpSp>
        <p:nvGrpSpPr>
          <p:cNvPr id="45" name="Group 45"/>
          <p:cNvGrpSpPr/>
          <p:nvPr/>
        </p:nvGrpSpPr>
        <p:grpSpPr>
          <a:xfrm rot="0">
            <a:off x="12646152" y="5294376"/>
            <a:ext cx="2688336" cy="932688"/>
            <a:chOff x="0" y="0"/>
            <a:chExt cx="3584448" cy="1243584"/>
          </a:xfrm>
        </p:grpSpPr>
        <p:sp>
          <p:nvSpPr>
            <p:cNvPr id="46" name="Freeform 46"/>
            <p:cNvSpPr/>
            <p:nvPr/>
          </p:nvSpPr>
          <p:spPr>
            <a:xfrm>
              <a:off x="0" y="0"/>
              <a:ext cx="3584448" cy="1243584"/>
            </a:xfrm>
            <a:custGeom>
              <a:avLst/>
              <a:gdLst/>
              <a:ahLst/>
              <a:cxnLst/>
              <a:rect l="l" t="t" r="r" b="b"/>
              <a:pathLst>
                <a:path w="3584448" h="1243584">
                  <a:moveTo>
                    <a:pt x="0" y="0"/>
                  </a:moveTo>
                  <a:lnTo>
                    <a:pt x="3584448" y="0"/>
                  </a:lnTo>
                  <a:lnTo>
                    <a:pt x="3584448" y="1243584"/>
                  </a:lnTo>
                  <a:lnTo>
                    <a:pt x="0" y="1243584"/>
                  </a:lnTo>
                  <a:close/>
                </a:path>
              </a:pathLst>
            </a:custGeom>
            <a:blipFill>
              <a:blip r:embed="rId1">
                <a:alphaModFix amt="0"/>
              </a:blip>
              <a:stretch>
                <a:fillRect t="-6162" b="-6162"/>
              </a:stretch>
            </a:blipFill>
          </p:spPr>
        </p:sp>
        <p:sp>
          <p:nvSpPr>
            <p:cNvPr id="47" name="TextBox 47"/>
            <p:cNvSpPr txBox="1"/>
            <p:nvPr/>
          </p:nvSpPr>
          <p:spPr>
            <a:xfrm>
              <a:off x="0" y="-38100"/>
              <a:ext cx="3584448" cy="1281684"/>
            </a:xfrm>
            <a:prstGeom prst="rect">
              <a:avLst/>
            </a:prstGeom>
          </p:spPr>
          <p:txBody>
            <a:bodyPr lIns="0" tIns="0" rIns="0" bIns="0" rtlCol="0" anchor="ctr"/>
            <a:lstStyle/>
            <a:p>
              <a:pPr algn="l">
                <a:lnSpc>
                  <a:spcPts val="2250"/>
                </a:lnSpc>
              </a:pPr>
              <a:r>
                <a:rPr lang="en-US" sz="1875" b="1">
                  <a:solidFill>
                    <a:srgbClr val="1F9D55"/>
                  </a:solidFill>
                  <a:latin typeface="Calibri (MS) Bold" panose="020F0702030404030204"/>
                  <a:ea typeface="Calibri (MS) Bold" panose="020F0702030404030204"/>
                  <a:cs typeface="Calibri (MS) Bold" panose="020F0702030404030204"/>
                  <a:sym typeface="Calibri (MS) Bold" panose="020F0702030404030204"/>
                </a:rPr>
                <a:t>Successful</a:t>
              </a:r>
              <a:endParaRPr lang="en-US" sz="1875" b="1">
                <a:solidFill>
                  <a:srgbClr val="1F9D55"/>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48" name="Group 48"/>
          <p:cNvGrpSpPr/>
          <p:nvPr/>
        </p:nvGrpSpPr>
        <p:grpSpPr>
          <a:xfrm rot="0">
            <a:off x="815816" y="6219920"/>
            <a:ext cx="3580447" cy="946976"/>
            <a:chOff x="0" y="0"/>
            <a:chExt cx="4773930" cy="1262634"/>
          </a:xfrm>
        </p:grpSpPr>
        <p:sp>
          <p:nvSpPr>
            <p:cNvPr id="49" name="Freeform 49"/>
            <p:cNvSpPr/>
            <p:nvPr/>
          </p:nvSpPr>
          <p:spPr>
            <a:xfrm>
              <a:off x="0" y="0"/>
              <a:ext cx="4773930" cy="1262634"/>
            </a:xfrm>
            <a:custGeom>
              <a:avLst/>
              <a:gdLst/>
              <a:ahLst/>
              <a:cxnLst/>
              <a:rect l="l" t="t" r="r" b="b"/>
              <a:pathLst>
                <a:path w="4773930" h="1262634">
                  <a:moveTo>
                    <a:pt x="0" y="0"/>
                  </a:moveTo>
                  <a:lnTo>
                    <a:pt x="4773930" y="0"/>
                  </a:lnTo>
                  <a:lnTo>
                    <a:pt x="4773930" y="1262634"/>
                  </a:lnTo>
                  <a:lnTo>
                    <a:pt x="0" y="1262634"/>
                  </a:lnTo>
                  <a:close/>
                </a:path>
              </a:pathLst>
            </a:custGeom>
            <a:solidFill>
              <a:srgbClr val="FFFFFF"/>
            </a:solidFill>
            <a:ln w="14288" cap="sq">
              <a:solidFill>
                <a:srgbClr val="D9E0E8"/>
              </a:solidFill>
              <a:prstDash val="solid"/>
              <a:miter/>
            </a:ln>
          </p:spPr>
        </p:sp>
      </p:grpSp>
      <p:grpSp>
        <p:nvGrpSpPr>
          <p:cNvPr id="50" name="Group 50"/>
          <p:cNvGrpSpPr/>
          <p:nvPr/>
        </p:nvGrpSpPr>
        <p:grpSpPr>
          <a:xfrm rot="0">
            <a:off x="987552" y="6227064"/>
            <a:ext cx="3236976" cy="932688"/>
            <a:chOff x="0" y="0"/>
            <a:chExt cx="4315968" cy="1243584"/>
          </a:xfrm>
        </p:grpSpPr>
        <p:sp>
          <p:nvSpPr>
            <p:cNvPr id="51" name="Freeform 51"/>
            <p:cNvSpPr/>
            <p:nvPr/>
          </p:nvSpPr>
          <p:spPr>
            <a:xfrm>
              <a:off x="0" y="0"/>
              <a:ext cx="4315968" cy="1243584"/>
            </a:xfrm>
            <a:custGeom>
              <a:avLst/>
              <a:gdLst/>
              <a:ahLst/>
              <a:cxnLst/>
              <a:rect l="l" t="t" r="r" b="b"/>
              <a:pathLst>
                <a:path w="4315968" h="1243584">
                  <a:moveTo>
                    <a:pt x="0" y="0"/>
                  </a:moveTo>
                  <a:lnTo>
                    <a:pt x="4315968" y="0"/>
                  </a:lnTo>
                  <a:lnTo>
                    <a:pt x="4315968" y="1243584"/>
                  </a:lnTo>
                  <a:lnTo>
                    <a:pt x="0" y="1243584"/>
                  </a:lnTo>
                  <a:close/>
                </a:path>
              </a:pathLst>
            </a:custGeom>
            <a:blipFill>
              <a:blip r:embed="rId1">
                <a:alphaModFix amt="0"/>
              </a:blip>
              <a:stretch>
                <a:fillRect t="-17624" b="-17624"/>
              </a:stretch>
            </a:blipFill>
          </p:spPr>
        </p:sp>
        <p:sp>
          <p:nvSpPr>
            <p:cNvPr id="52" name="TextBox 52"/>
            <p:cNvSpPr txBox="1"/>
            <p:nvPr/>
          </p:nvSpPr>
          <p:spPr>
            <a:xfrm>
              <a:off x="0" y="-38100"/>
              <a:ext cx="4315968" cy="1281684"/>
            </a:xfrm>
            <a:prstGeom prst="rect">
              <a:avLst/>
            </a:prstGeom>
          </p:spPr>
          <p:txBody>
            <a:bodyPr lIns="0" tIns="0" rIns="0" bIns="0" rtlCol="0" anchor="ctr"/>
            <a:lstStyle/>
            <a:p>
              <a:pPr algn="l">
                <a:lnSpc>
                  <a:spcPts val="2250"/>
                </a:lnSpc>
              </a:pPr>
              <a:r>
                <a:rPr lang="en-US" sz="1875">
                  <a:solidFill>
                    <a:srgbClr val="1B2A4A"/>
                  </a:solidFill>
                  <a:latin typeface="Calibri (MS)" panose="020F0502020204030204"/>
                  <a:ea typeface="Calibri (MS)" panose="020F0502020204030204"/>
                  <a:cs typeface="Calibri (MS)" panose="020F0502020204030204"/>
                  <a:sym typeface="Calibri (MS)" panose="020F0502020204030204"/>
                </a:rPr>
                <a:t>example.com</a:t>
              </a:r>
              <a:endParaRPr lang="en-US" sz="1875">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grpSp>
        <p:nvGrpSpPr>
          <p:cNvPr id="53" name="Group 53"/>
          <p:cNvGrpSpPr/>
          <p:nvPr/>
        </p:nvGrpSpPr>
        <p:grpSpPr>
          <a:xfrm rot="0">
            <a:off x="4381976" y="6219920"/>
            <a:ext cx="8106728" cy="946976"/>
            <a:chOff x="0" y="0"/>
            <a:chExt cx="10808970" cy="1262634"/>
          </a:xfrm>
        </p:grpSpPr>
        <p:sp>
          <p:nvSpPr>
            <p:cNvPr id="54" name="Freeform 54"/>
            <p:cNvSpPr/>
            <p:nvPr/>
          </p:nvSpPr>
          <p:spPr>
            <a:xfrm>
              <a:off x="0" y="0"/>
              <a:ext cx="10808970" cy="1262634"/>
            </a:xfrm>
            <a:custGeom>
              <a:avLst/>
              <a:gdLst/>
              <a:ahLst/>
              <a:cxnLst/>
              <a:rect l="l" t="t" r="r" b="b"/>
              <a:pathLst>
                <a:path w="10808970" h="1262634">
                  <a:moveTo>
                    <a:pt x="0" y="0"/>
                  </a:moveTo>
                  <a:lnTo>
                    <a:pt x="10808970" y="0"/>
                  </a:lnTo>
                  <a:lnTo>
                    <a:pt x="10808970" y="1262634"/>
                  </a:lnTo>
                  <a:lnTo>
                    <a:pt x="0" y="1262634"/>
                  </a:lnTo>
                  <a:close/>
                </a:path>
              </a:pathLst>
            </a:custGeom>
            <a:solidFill>
              <a:srgbClr val="FFFFFF"/>
            </a:solidFill>
            <a:ln w="14288" cap="sq">
              <a:solidFill>
                <a:srgbClr val="D9E0E8"/>
              </a:solidFill>
              <a:prstDash val="solid"/>
              <a:miter/>
            </a:ln>
          </p:spPr>
        </p:sp>
      </p:grpSp>
      <p:grpSp>
        <p:nvGrpSpPr>
          <p:cNvPr id="55" name="Group 55"/>
          <p:cNvGrpSpPr/>
          <p:nvPr/>
        </p:nvGrpSpPr>
        <p:grpSpPr>
          <a:xfrm rot="0">
            <a:off x="4553712" y="6227064"/>
            <a:ext cx="7763256" cy="932688"/>
            <a:chOff x="0" y="0"/>
            <a:chExt cx="10351008" cy="1243584"/>
          </a:xfrm>
        </p:grpSpPr>
        <p:sp>
          <p:nvSpPr>
            <p:cNvPr id="56" name="Freeform 56"/>
            <p:cNvSpPr/>
            <p:nvPr/>
          </p:nvSpPr>
          <p:spPr>
            <a:xfrm>
              <a:off x="0" y="0"/>
              <a:ext cx="10351008" cy="1243584"/>
            </a:xfrm>
            <a:custGeom>
              <a:avLst/>
              <a:gdLst/>
              <a:ahLst/>
              <a:cxnLst/>
              <a:rect l="l" t="t" r="r" b="b"/>
              <a:pathLst>
                <a:path w="10351008" h="1243584">
                  <a:moveTo>
                    <a:pt x="0" y="0"/>
                  </a:moveTo>
                  <a:lnTo>
                    <a:pt x="10351008" y="0"/>
                  </a:lnTo>
                  <a:lnTo>
                    <a:pt x="10351008" y="1243584"/>
                  </a:lnTo>
                  <a:lnTo>
                    <a:pt x="0" y="1243584"/>
                  </a:lnTo>
                  <a:close/>
                </a:path>
              </a:pathLst>
            </a:custGeom>
            <a:blipFill>
              <a:blip r:embed="rId1">
                <a:alphaModFix amt="0"/>
              </a:blip>
              <a:stretch>
                <a:fillRect t="-112184" b="-112184"/>
              </a:stretch>
            </a:blipFill>
          </p:spPr>
        </p:sp>
        <p:sp>
          <p:nvSpPr>
            <p:cNvPr id="57" name="TextBox 57"/>
            <p:cNvSpPr txBox="1"/>
            <p:nvPr/>
          </p:nvSpPr>
          <p:spPr>
            <a:xfrm>
              <a:off x="0" y="-38100"/>
              <a:ext cx="10351008" cy="1281684"/>
            </a:xfrm>
            <a:prstGeom prst="rect">
              <a:avLst/>
            </a:prstGeom>
          </p:spPr>
          <p:txBody>
            <a:bodyPr lIns="0" tIns="0" rIns="0" bIns="0" rtlCol="0" anchor="ctr"/>
            <a:lstStyle/>
            <a:p>
              <a:pPr algn="l">
                <a:lnSpc>
                  <a:spcPts val="2250"/>
                </a:lnSpc>
              </a:pPr>
              <a:r>
                <a:rPr lang="en-US" sz="1875">
                  <a:solidFill>
                    <a:srgbClr val="1B2A4A"/>
                  </a:solidFill>
                  <a:latin typeface="Calibri (MS)" panose="020F0502020204030204"/>
                  <a:ea typeface="Calibri (MS)" panose="020F0502020204030204"/>
                  <a:cs typeface="Calibri (MS)" panose="020F0502020204030204"/>
                  <a:sym typeface="Calibri (MS)" panose="020F0502020204030204"/>
                </a:rPr>
                <a:t>Temporary failure in name resolution</a:t>
              </a:r>
              <a:endParaRPr lang="en-US" sz="1875">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grpSp>
        <p:nvGrpSpPr>
          <p:cNvPr id="58" name="Group 58"/>
          <p:cNvGrpSpPr/>
          <p:nvPr/>
        </p:nvGrpSpPr>
        <p:grpSpPr>
          <a:xfrm rot="0">
            <a:off x="12474416" y="6219920"/>
            <a:ext cx="3031808" cy="946976"/>
            <a:chOff x="0" y="0"/>
            <a:chExt cx="4042410" cy="1262634"/>
          </a:xfrm>
        </p:grpSpPr>
        <p:sp>
          <p:nvSpPr>
            <p:cNvPr id="59" name="Freeform 59"/>
            <p:cNvSpPr/>
            <p:nvPr/>
          </p:nvSpPr>
          <p:spPr>
            <a:xfrm>
              <a:off x="0" y="0"/>
              <a:ext cx="4042410" cy="1262634"/>
            </a:xfrm>
            <a:custGeom>
              <a:avLst/>
              <a:gdLst/>
              <a:ahLst/>
              <a:cxnLst/>
              <a:rect l="l" t="t" r="r" b="b"/>
              <a:pathLst>
                <a:path w="4042410" h="1262634">
                  <a:moveTo>
                    <a:pt x="0" y="0"/>
                  </a:moveTo>
                  <a:lnTo>
                    <a:pt x="4042410" y="0"/>
                  </a:lnTo>
                  <a:lnTo>
                    <a:pt x="4042410" y="1262634"/>
                  </a:lnTo>
                  <a:lnTo>
                    <a:pt x="0" y="1262634"/>
                  </a:lnTo>
                  <a:close/>
                </a:path>
              </a:pathLst>
            </a:custGeom>
            <a:solidFill>
              <a:srgbClr val="FFFFFF"/>
            </a:solidFill>
            <a:ln w="14288" cap="sq">
              <a:solidFill>
                <a:srgbClr val="D9E0E8"/>
              </a:solidFill>
              <a:prstDash val="solid"/>
              <a:miter/>
            </a:ln>
          </p:spPr>
        </p:sp>
      </p:grpSp>
      <p:grpSp>
        <p:nvGrpSpPr>
          <p:cNvPr id="60" name="Group 60"/>
          <p:cNvGrpSpPr/>
          <p:nvPr/>
        </p:nvGrpSpPr>
        <p:grpSpPr>
          <a:xfrm rot="0">
            <a:off x="12646152" y="6227064"/>
            <a:ext cx="2688336" cy="932688"/>
            <a:chOff x="0" y="0"/>
            <a:chExt cx="3584448" cy="1243584"/>
          </a:xfrm>
        </p:grpSpPr>
        <p:sp>
          <p:nvSpPr>
            <p:cNvPr id="61" name="Freeform 61"/>
            <p:cNvSpPr/>
            <p:nvPr/>
          </p:nvSpPr>
          <p:spPr>
            <a:xfrm>
              <a:off x="0" y="0"/>
              <a:ext cx="3584448" cy="1243584"/>
            </a:xfrm>
            <a:custGeom>
              <a:avLst/>
              <a:gdLst/>
              <a:ahLst/>
              <a:cxnLst/>
              <a:rect l="l" t="t" r="r" b="b"/>
              <a:pathLst>
                <a:path w="3584448" h="1243584">
                  <a:moveTo>
                    <a:pt x="0" y="0"/>
                  </a:moveTo>
                  <a:lnTo>
                    <a:pt x="3584448" y="0"/>
                  </a:lnTo>
                  <a:lnTo>
                    <a:pt x="3584448" y="1243584"/>
                  </a:lnTo>
                  <a:lnTo>
                    <a:pt x="0" y="1243584"/>
                  </a:lnTo>
                  <a:close/>
                </a:path>
              </a:pathLst>
            </a:custGeom>
            <a:blipFill>
              <a:blip r:embed="rId1">
                <a:alphaModFix amt="0"/>
              </a:blip>
              <a:stretch>
                <a:fillRect t="-6162" b="-6162"/>
              </a:stretch>
            </a:blipFill>
          </p:spPr>
        </p:sp>
        <p:sp>
          <p:nvSpPr>
            <p:cNvPr id="62" name="TextBox 62"/>
            <p:cNvSpPr txBox="1"/>
            <p:nvPr/>
          </p:nvSpPr>
          <p:spPr>
            <a:xfrm>
              <a:off x="0" y="-38100"/>
              <a:ext cx="3584448" cy="1281684"/>
            </a:xfrm>
            <a:prstGeom prst="rect">
              <a:avLst/>
            </a:prstGeom>
          </p:spPr>
          <p:txBody>
            <a:bodyPr lIns="0" tIns="0" rIns="0" bIns="0" rtlCol="0" anchor="ctr"/>
            <a:lstStyle/>
            <a:p>
              <a:pPr algn="l">
                <a:lnSpc>
                  <a:spcPts val="2250"/>
                </a:lnSpc>
              </a:pPr>
              <a:r>
                <a:rPr lang="en-US" sz="1875" b="1">
                  <a:solidFill>
                    <a:srgbClr val="C0392B"/>
                  </a:solidFill>
                  <a:latin typeface="Calibri (MS) Bold" panose="020F0702030404030204"/>
                  <a:ea typeface="Calibri (MS) Bold" panose="020F0702030404030204"/>
                  <a:cs typeface="Calibri (MS) Bold" panose="020F0702030404030204"/>
                  <a:sym typeface="Calibri (MS) Bold" panose="020F0702030404030204"/>
                </a:rPr>
                <a:t>Failed</a:t>
              </a:r>
              <a:endParaRPr lang="en-US" sz="1875" b="1">
                <a:solidFill>
                  <a:srgbClr val="C0392B"/>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63" name="Group 63"/>
          <p:cNvGrpSpPr/>
          <p:nvPr/>
        </p:nvGrpSpPr>
        <p:grpSpPr>
          <a:xfrm rot="0">
            <a:off x="685800" y="9710928"/>
            <a:ext cx="10972800" cy="411480"/>
            <a:chOff x="0" y="0"/>
            <a:chExt cx="14630400" cy="548640"/>
          </a:xfrm>
        </p:grpSpPr>
        <p:sp>
          <p:nvSpPr>
            <p:cNvPr id="64" name="Freeform 64"/>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65" name="TextBox 65"/>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66" name="Group 66"/>
          <p:cNvGrpSpPr/>
          <p:nvPr/>
        </p:nvGrpSpPr>
        <p:grpSpPr>
          <a:xfrm rot="0">
            <a:off x="16911828" y="9710928"/>
            <a:ext cx="685800" cy="411480"/>
            <a:chOff x="0" y="0"/>
            <a:chExt cx="914400" cy="548640"/>
          </a:xfrm>
        </p:grpSpPr>
        <p:sp>
          <p:nvSpPr>
            <p:cNvPr id="67" name="Freeform 67"/>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68" name="TextBox 68"/>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4</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822960" y="598170"/>
            <a:ext cx="16637508" cy="561975"/>
          </a:xfrm>
          <a:prstGeom prst="rect">
            <a:avLst/>
          </a:prstGeom>
        </p:spPr>
        <p:txBody>
          <a:bodyPr lIns="0" tIns="0" rIns="0" bIns="0" rtlCol="0" anchor="t">
            <a:spAutoFit/>
          </a:bodyPr>
          <a:lstStyle/>
          <a:p>
            <a:pPr algn="l">
              <a:lnSpc>
                <a:spcPts val="4320"/>
              </a:lnSpc>
            </a:pPr>
            <a:r>
              <a:rPr lang="en-US" sz="3600" b="1">
                <a:solidFill>
                  <a:srgbClr val="0D1B2A"/>
                </a:solidFill>
                <a:latin typeface="Cambria Bold" panose="02040803050406030204"/>
                <a:ea typeface="Cambria Bold" panose="02040803050406030204"/>
                <a:cs typeface="Cambria Bold" panose="02040803050406030204"/>
                <a:sym typeface="Cambria Bold" panose="02040803050406030204"/>
              </a:rPr>
              <a:t>DNS Lookup</a:t>
            </a:r>
            <a:endParaRPr lang="en-US" sz="360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3" name="Group 3"/>
          <p:cNvGrpSpPr/>
          <p:nvPr/>
        </p:nvGrpSpPr>
        <p:grpSpPr>
          <a:xfrm rot="0">
            <a:off x="813435" y="3213735"/>
            <a:ext cx="8660130" cy="4133850"/>
            <a:chOff x="0" y="0"/>
            <a:chExt cx="11546840" cy="5511800"/>
          </a:xfrm>
        </p:grpSpPr>
        <p:sp>
          <p:nvSpPr>
            <p:cNvPr id="4" name="Freeform 4"/>
            <p:cNvSpPr/>
            <p:nvPr/>
          </p:nvSpPr>
          <p:spPr>
            <a:xfrm>
              <a:off x="0" y="0"/>
              <a:ext cx="11546840" cy="5511800"/>
            </a:xfrm>
            <a:custGeom>
              <a:avLst/>
              <a:gdLst/>
              <a:ahLst/>
              <a:cxnLst/>
              <a:rect l="l" t="t" r="r" b="b"/>
              <a:pathLst>
                <a:path w="11546840" h="5511800">
                  <a:moveTo>
                    <a:pt x="0" y="146939"/>
                  </a:moveTo>
                  <a:cubicBezTo>
                    <a:pt x="0" y="65786"/>
                    <a:pt x="65786" y="0"/>
                    <a:pt x="146939" y="0"/>
                  </a:cubicBezTo>
                  <a:lnTo>
                    <a:pt x="11399901" y="0"/>
                  </a:lnTo>
                  <a:cubicBezTo>
                    <a:pt x="11481054" y="0"/>
                    <a:pt x="11546840" y="65786"/>
                    <a:pt x="11546840" y="146939"/>
                  </a:cubicBezTo>
                  <a:lnTo>
                    <a:pt x="11546840" y="5364861"/>
                  </a:lnTo>
                  <a:cubicBezTo>
                    <a:pt x="11546840" y="5446014"/>
                    <a:pt x="11481054" y="5511800"/>
                    <a:pt x="11399901" y="5511800"/>
                  </a:cubicBezTo>
                  <a:lnTo>
                    <a:pt x="146939" y="5511800"/>
                  </a:lnTo>
                  <a:cubicBezTo>
                    <a:pt x="65786" y="5511800"/>
                    <a:pt x="0" y="5446014"/>
                    <a:pt x="0" y="5364861"/>
                  </a:cubicBezTo>
                  <a:close/>
                </a:path>
              </a:pathLst>
            </a:custGeom>
            <a:solidFill>
              <a:srgbClr val="0D1B2A"/>
            </a:solidFill>
            <a:ln w="19050" cap="sq">
              <a:solidFill>
                <a:srgbClr val="0D1B2A"/>
              </a:solidFill>
              <a:prstDash val="solid"/>
              <a:miter/>
            </a:ln>
          </p:spPr>
        </p:sp>
      </p:grpSp>
      <p:grpSp>
        <p:nvGrpSpPr>
          <p:cNvPr id="5" name="Group 5"/>
          <p:cNvGrpSpPr/>
          <p:nvPr/>
        </p:nvGrpSpPr>
        <p:grpSpPr>
          <a:xfrm rot="0">
            <a:off x="1165860" y="3538728"/>
            <a:ext cx="192024" cy="192024"/>
            <a:chOff x="0" y="0"/>
            <a:chExt cx="256032" cy="256032"/>
          </a:xfrm>
        </p:grpSpPr>
        <p:sp>
          <p:nvSpPr>
            <p:cNvPr id="6" name="Freeform 6"/>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E0605A"/>
            </a:solidFill>
          </p:spPr>
        </p:sp>
      </p:grpSp>
      <p:grpSp>
        <p:nvGrpSpPr>
          <p:cNvPr id="7" name="Group 7"/>
          <p:cNvGrpSpPr/>
          <p:nvPr/>
        </p:nvGrpSpPr>
        <p:grpSpPr>
          <a:xfrm rot="0">
            <a:off x="1481328" y="3538728"/>
            <a:ext cx="192024" cy="192024"/>
            <a:chOff x="0" y="0"/>
            <a:chExt cx="256032" cy="256032"/>
          </a:xfrm>
        </p:grpSpPr>
        <p:sp>
          <p:nvSpPr>
            <p:cNvPr id="8" name="Freeform 8"/>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E7C24E"/>
            </a:solidFill>
          </p:spPr>
        </p:sp>
      </p:grpSp>
      <p:grpSp>
        <p:nvGrpSpPr>
          <p:cNvPr id="9" name="Group 9"/>
          <p:cNvGrpSpPr/>
          <p:nvPr/>
        </p:nvGrpSpPr>
        <p:grpSpPr>
          <a:xfrm rot="0">
            <a:off x="1796796" y="3538728"/>
            <a:ext cx="192024" cy="192024"/>
            <a:chOff x="0" y="0"/>
            <a:chExt cx="256032" cy="256032"/>
          </a:xfrm>
        </p:grpSpPr>
        <p:sp>
          <p:nvSpPr>
            <p:cNvPr id="10" name="Freeform 10"/>
            <p:cNvSpPr/>
            <p:nvPr/>
          </p:nvSpPr>
          <p:spPr>
            <a:xfrm>
              <a:off x="0" y="0"/>
              <a:ext cx="256032" cy="256032"/>
            </a:xfrm>
            <a:custGeom>
              <a:avLst/>
              <a:gdLst/>
              <a:ahLst/>
              <a:cxnLst/>
              <a:rect l="l" t="t" r="r" b="b"/>
              <a:pathLst>
                <a:path w="256032" h="256032">
                  <a:moveTo>
                    <a:pt x="0" y="128016"/>
                  </a:moveTo>
                  <a:cubicBezTo>
                    <a:pt x="0" y="57277"/>
                    <a:pt x="57277" y="0"/>
                    <a:pt x="128016" y="0"/>
                  </a:cubicBezTo>
                  <a:cubicBezTo>
                    <a:pt x="198755" y="0"/>
                    <a:pt x="256032" y="57277"/>
                    <a:pt x="256032" y="128016"/>
                  </a:cubicBezTo>
                  <a:cubicBezTo>
                    <a:pt x="256032" y="198755"/>
                    <a:pt x="198755" y="256032"/>
                    <a:pt x="128016" y="256032"/>
                  </a:cubicBezTo>
                  <a:cubicBezTo>
                    <a:pt x="57277" y="256032"/>
                    <a:pt x="0" y="198755"/>
                    <a:pt x="0" y="128016"/>
                  </a:cubicBezTo>
                  <a:close/>
                </a:path>
              </a:pathLst>
            </a:custGeom>
            <a:solidFill>
              <a:srgbClr val="5CB85C"/>
            </a:solidFill>
          </p:spPr>
        </p:sp>
      </p:grpSp>
      <p:sp>
        <p:nvSpPr>
          <p:cNvPr id="11" name="TextBox 11"/>
          <p:cNvSpPr txBox="1"/>
          <p:nvPr/>
        </p:nvSpPr>
        <p:spPr>
          <a:xfrm>
            <a:off x="1165860" y="3970020"/>
            <a:ext cx="7955280" cy="3093720"/>
          </a:xfrm>
          <a:prstGeom prst="rect">
            <a:avLst/>
          </a:prstGeom>
        </p:spPr>
        <p:txBody>
          <a:bodyPr lIns="0" tIns="0" rIns="0" bIns="0" rtlCol="0" anchor="t">
            <a:spAutoFit/>
          </a:bodyPr>
          <a:lstStyle/>
          <a:p>
            <a:pPr algn="l">
              <a:lnSpc>
                <a:spcPts val="3040"/>
              </a:lnSpc>
            </a:pPr>
            <a:r>
              <a:rPr lang="en-US" sz="1950">
                <a:solidFill>
                  <a:srgbClr val="8FA3BF"/>
                </a:solidFill>
                <a:latin typeface="Courier New" panose="02070309020205020404"/>
                <a:ea typeface="Courier New" panose="02070309020205020404"/>
                <a:cs typeface="Courier New" panose="02070309020205020404"/>
                <a:sym typeface="Courier New" panose="02070309020205020404"/>
              </a:rPr>
              <a:t>$ nslookup google.com</a:t>
            </a:r>
            <a:endParaRPr lang="en-US" sz="1950">
              <a:solidFill>
                <a:srgbClr val="8FA3BF"/>
              </a:solidFill>
              <a:latin typeface="Courier New" panose="02070309020205020404"/>
              <a:ea typeface="Courier New" panose="02070309020205020404"/>
              <a:cs typeface="Courier New" panose="02070309020205020404"/>
              <a:sym typeface="Courier New" panose="02070309020205020404"/>
            </a:endParaRPr>
          </a:p>
          <a:p>
            <a:pPr algn="l">
              <a:lnSpc>
                <a:spcPts val="3040"/>
              </a:lnSpc>
            </a:pPr>
            <a:r>
              <a:rPr lang="en-US" sz="1950">
                <a:solidFill>
                  <a:srgbClr val="D9E4F0"/>
                </a:solidFill>
                <a:latin typeface="Courier New" panose="02070309020205020404"/>
                <a:ea typeface="Courier New" panose="02070309020205020404"/>
                <a:cs typeface="Courier New" panose="02070309020205020404"/>
                <a:sym typeface="Courier New" panose="02070309020205020404"/>
              </a:rPr>
              <a:t>Server:  127.0.0.53</a:t>
            </a:r>
            <a:endParaRPr lang="en-US" sz="1950">
              <a:solidFill>
                <a:srgbClr val="D9E4F0"/>
              </a:solidFill>
              <a:latin typeface="Courier New" panose="02070309020205020404"/>
              <a:ea typeface="Courier New" panose="02070309020205020404"/>
              <a:cs typeface="Courier New" panose="02070309020205020404"/>
              <a:sym typeface="Courier New" panose="02070309020205020404"/>
            </a:endParaRPr>
          </a:p>
          <a:p>
            <a:pPr algn="l">
              <a:lnSpc>
                <a:spcPts val="3040"/>
              </a:lnSpc>
            </a:pPr>
            <a:r>
              <a:rPr lang="en-US" sz="1950">
                <a:solidFill>
                  <a:srgbClr val="D9E4F0"/>
                </a:solidFill>
                <a:latin typeface="Courier New" panose="02070309020205020404"/>
                <a:ea typeface="Courier New" panose="02070309020205020404"/>
                <a:cs typeface="Courier New" panose="02070309020205020404"/>
                <a:sym typeface="Courier New" panose="02070309020205020404"/>
              </a:rPr>
              <a:t>Address: 127.0.0.53#53</a:t>
            </a:r>
            <a:endParaRPr lang="en-US" sz="1950">
              <a:solidFill>
                <a:srgbClr val="D9E4F0"/>
              </a:solidFill>
              <a:latin typeface="Courier New" panose="02070309020205020404"/>
              <a:ea typeface="Courier New" panose="02070309020205020404"/>
              <a:cs typeface="Courier New" panose="02070309020205020404"/>
              <a:sym typeface="Courier New" panose="02070309020205020404"/>
            </a:endParaRPr>
          </a:p>
          <a:p>
            <a:pPr algn="l">
              <a:lnSpc>
                <a:spcPts val="3040"/>
              </a:lnSpc>
            </a:pPr>
          </a:p>
          <a:p>
            <a:pPr algn="l">
              <a:lnSpc>
                <a:spcPts val="3040"/>
              </a:lnSpc>
            </a:pPr>
            <a:r>
              <a:rPr lang="en-US" sz="1950" b="1">
                <a:solidFill>
                  <a:srgbClr val="F26B5E"/>
                </a:solidFill>
                <a:latin typeface="Courier New Bold" panose="02070609020205020404"/>
                <a:ea typeface="Courier New Bold" panose="02070609020205020404"/>
                <a:cs typeface="Courier New Bold" panose="02070609020205020404"/>
                <a:sym typeface="Courier New Bold" panose="02070609020205020404"/>
              </a:rPr>
              <a:t>** server can't find google.com: REFUSED</a:t>
            </a:r>
            <a:endParaRPr lang="en-US" sz="1950" b="1">
              <a:solidFill>
                <a:srgbClr val="F26B5E"/>
              </a:solidFill>
              <a:latin typeface="Courier New Bold" panose="02070609020205020404"/>
              <a:ea typeface="Courier New Bold" panose="02070609020205020404"/>
              <a:cs typeface="Courier New Bold" panose="02070609020205020404"/>
              <a:sym typeface="Courier New Bold" panose="02070609020205020404"/>
            </a:endParaRPr>
          </a:p>
        </p:txBody>
      </p:sp>
      <p:grpSp>
        <p:nvGrpSpPr>
          <p:cNvPr id="12" name="Group 12"/>
          <p:cNvGrpSpPr/>
          <p:nvPr/>
        </p:nvGrpSpPr>
        <p:grpSpPr>
          <a:xfrm rot="0">
            <a:off x="10003155" y="3213735"/>
            <a:ext cx="7425690" cy="1184910"/>
            <a:chOff x="0" y="0"/>
            <a:chExt cx="9900920" cy="1579880"/>
          </a:xfrm>
        </p:grpSpPr>
        <p:sp>
          <p:nvSpPr>
            <p:cNvPr id="13" name="Freeform 13"/>
            <p:cNvSpPr/>
            <p:nvPr/>
          </p:nvSpPr>
          <p:spPr>
            <a:xfrm>
              <a:off x="0" y="0"/>
              <a:ext cx="9900920" cy="1579880"/>
            </a:xfrm>
            <a:custGeom>
              <a:avLst/>
              <a:gdLst/>
              <a:ahLst/>
              <a:cxnLst/>
              <a:rect l="l" t="t" r="r" b="b"/>
              <a:pathLst>
                <a:path w="9900920" h="1579880">
                  <a:moveTo>
                    <a:pt x="0" y="148717"/>
                  </a:moveTo>
                  <a:cubicBezTo>
                    <a:pt x="0" y="66548"/>
                    <a:pt x="66548" y="0"/>
                    <a:pt x="148717" y="0"/>
                  </a:cubicBezTo>
                  <a:lnTo>
                    <a:pt x="9752203" y="0"/>
                  </a:lnTo>
                  <a:cubicBezTo>
                    <a:pt x="9834372" y="0"/>
                    <a:pt x="9900920" y="66548"/>
                    <a:pt x="9900920" y="148717"/>
                  </a:cubicBezTo>
                  <a:lnTo>
                    <a:pt x="9900920" y="1431163"/>
                  </a:lnTo>
                  <a:cubicBezTo>
                    <a:pt x="9900920" y="1513332"/>
                    <a:pt x="9834372" y="1579880"/>
                    <a:pt x="9752203" y="1579880"/>
                  </a:cubicBezTo>
                  <a:lnTo>
                    <a:pt x="148717" y="1579880"/>
                  </a:lnTo>
                  <a:cubicBezTo>
                    <a:pt x="66548" y="1579880"/>
                    <a:pt x="0" y="1513332"/>
                    <a:pt x="0" y="1431163"/>
                  </a:cubicBezTo>
                  <a:close/>
                </a:path>
              </a:pathLst>
            </a:custGeom>
            <a:solidFill>
              <a:srgbClr val="FFFFFF"/>
            </a:solidFill>
            <a:ln w="19050" cap="sq">
              <a:solidFill>
                <a:srgbClr val="D9E0E8"/>
              </a:solidFill>
              <a:prstDash val="solid"/>
              <a:miter/>
            </a:ln>
          </p:spPr>
        </p:sp>
      </p:grpSp>
      <p:grpSp>
        <p:nvGrpSpPr>
          <p:cNvPr id="14" name="Group 14"/>
          <p:cNvGrpSpPr/>
          <p:nvPr/>
        </p:nvGrpSpPr>
        <p:grpSpPr>
          <a:xfrm rot="0">
            <a:off x="10287000" y="3332988"/>
            <a:ext cx="4114800" cy="411480"/>
            <a:chOff x="0" y="0"/>
            <a:chExt cx="5486400" cy="548640"/>
          </a:xfrm>
        </p:grpSpPr>
        <p:sp>
          <p:nvSpPr>
            <p:cNvPr id="15" name="Freeform 15"/>
            <p:cNvSpPr/>
            <p:nvPr/>
          </p:nvSpPr>
          <p:spPr>
            <a:xfrm>
              <a:off x="0" y="0"/>
              <a:ext cx="5486400" cy="548640"/>
            </a:xfrm>
            <a:custGeom>
              <a:avLst/>
              <a:gdLst/>
              <a:ahLst/>
              <a:cxnLst/>
              <a:rect l="l" t="t" r="r" b="b"/>
              <a:pathLst>
                <a:path w="5486400" h="548640">
                  <a:moveTo>
                    <a:pt x="0" y="0"/>
                  </a:moveTo>
                  <a:lnTo>
                    <a:pt x="5486400" y="0"/>
                  </a:lnTo>
                  <a:lnTo>
                    <a:pt x="5486400" y="548640"/>
                  </a:lnTo>
                  <a:lnTo>
                    <a:pt x="0" y="548640"/>
                  </a:lnTo>
                  <a:close/>
                </a:path>
              </a:pathLst>
            </a:custGeom>
            <a:blipFill>
              <a:blip r:embed="rId1">
                <a:alphaModFix amt="0"/>
              </a:blip>
              <a:stretch>
                <a:fillRect t="-144850" b="-144850"/>
              </a:stretch>
            </a:blipFill>
          </p:spPr>
        </p:sp>
        <p:sp>
          <p:nvSpPr>
            <p:cNvPr id="16" name="TextBox 16"/>
            <p:cNvSpPr txBox="1"/>
            <p:nvPr/>
          </p:nvSpPr>
          <p:spPr>
            <a:xfrm>
              <a:off x="0" y="-38100"/>
              <a:ext cx="5486400" cy="586740"/>
            </a:xfrm>
            <a:prstGeom prst="rect">
              <a:avLst/>
            </a:prstGeom>
          </p:spPr>
          <p:txBody>
            <a:bodyPr lIns="0" tIns="0" rIns="0" bIns="0" rtlCol="0" anchor="ctr"/>
            <a:lstStyle/>
            <a:p>
              <a:pPr algn="l">
                <a:lnSpc>
                  <a:spcPts val="1710"/>
                </a:lnSpc>
              </a:pPr>
              <a:r>
                <a:rPr lang="en-US" sz="1425" b="1">
                  <a:solidFill>
                    <a:srgbClr val="6B7A8F"/>
                  </a:solidFill>
                  <a:latin typeface="Calibri (MS) Bold" panose="020F0702030404030204"/>
                  <a:ea typeface="Calibri (MS) Bold" panose="020F0702030404030204"/>
                  <a:cs typeface="Calibri (MS) Bold" panose="020F0702030404030204"/>
                  <a:sym typeface="Calibri (MS) Bold" panose="020F0702030404030204"/>
                </a:rPr>
                <a:t>DOMAIN QUERIED</a:t>
              </a:r>
              <a:endParaRPr lang="en-US" sz="1425"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7" name="Group 17"/>
          <p:cNvGrpSpPr/>
          <p:nvPr/>
        </p:nvGrpSpPr>
        <p:grpSpPr>
          <a:xfrm rot="0">
            <a:off x="10287000" y="3717036"/>
            <a:ext cx="6858000" cy="548640"/>
            <a:chOff x="0" y="0"/>
            <a:chExt cx="9144000" cy="731520"/>
          </a:xfrm>
        </p:grpSpPr>
        <p:sp>
          <p:nvSpPr>
            <p:cNvPr id="18" name="Freeform 18"/>
            <p:cNvSpPr/>
            <p:nvPr/>
          </p:nvSpPr>
          <p:spPr>
            <a:xfrm>
              <a:off x="0" y="0"/>
              <a:ext cx="9144000" cy="731520"/>
            </a:xfrm>
            <a:custGeom>
              <a:avLst/>
              <a:gdLst/>
              <a:ahLst/>
              <a:cxnLst/>
              <a:rect l="l" t="t" r="r" b="b"/>
              <a:pathLst>
                <a:path w="9144000" h="731520">
                  <a:moveTo>
                    <a:pt x="0" y="0"/>
                  </a:moveTo>
                  <a:lnTo>
                    <a:pt x="9144000" y="0"/>
                  </a:lnTo>
                  <a:lnTo>
                    <a:pt x="9144000" y="731520"/>
                  </a:lnTo>
                  <a:lnTo>
                    <a:pt x="0" y="731520"/>
                  </a:lnTo>
                  <a:close/>
                </a:path>
              </a:pathLst>
            </a:custGeom>
            <a:blipFill>
              <a:blip r:embed="rId1">
                <a:alphaModFix amt="0"/>
              </a:blip>
              <a:stretch>
                <a:fillRect t="-193562" b="-193562"/>
              </a:stretch>
            </a:blipFill>
          </p:spPr>
        </p:sp>
        <p:sp>
          <p:nvSpPr>
            <p:cNvPr id="19" name="TextBox 19"/>
            <p:cNvSpPr txBox="1"/>
            <p:nvPr/>
          </p:nvSpPr>
          <p:spPr>
            <a:xfrm>
              <a:off x="0" y="-19050"/>
              <a:ext cx="9144000" cy="750570"/>
            </a:xfrm>
            <a:prstGeom prst="rect">
              <a:avLst/>
            </a:prstGeom>
          </p:spPr>
          <p:txBody>
            <a:bodyPr lIns="0" tIns="0" rIns="0" bIns="0" rtlCol="0" anchor="ctr"/>
            <a:lstStyle/>
            <a:p>
              <a:pPr algn="l">
                <a:lnSpc>
                  <a:spcPts val="2700"/>
                </a:lnSpc>
              </a:pPr>
              <a:r>
                <a:rPr lang="en-US" sz="2250" b="1">
                  <a:solidFill>
                    <a:srgbClr val="0D1B2A"/>
                  </a:solidFill>
                  <a:latin typeface="Cambria Bold" panose="02040803050406030204"/>
                  <a:ea typeface="Cambria Bold" panose="02040803050406030204"/>
                  <a:cs typeface="Cambria Bold" panose="02040803050406030204"/>
                  <a:sym typeface="Cambria Bold" panose="02040803050406030204"/>
                </a:rPr>
                <a:t>google.com</a:t>
              </a:r>
              <a:endParaRPr lang="en-US" sz="22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grpSp>
        <p:nvGrpSpPr>
          <p:cNvPr id="20" name="Group 20"/>
          <p:cNvGrpSpPr/>
          <p:nvPr/>
        </p:nvGrpSpPr>
        <p:grpSpPr>
          <a:xfrm rot="0">
            <a:off x="10003155" y="4585335"/>
            <a:ext cx="7425690" cy="1184910"/>
            <a:chOff x="0" y="0"/>
            <a:chExt cx="9900920" cy="1579880"/>
          </a:xfrm>
        </p:grpSpPr>
        <p:sp>
          <p:nvSpPr>
            <p:cNvPr id="21" name="Freeform 21"/>
            <p:cNvSpPr/>
            <p:nvPr/>
          </p:nvSpPr>
          <p:spPr>
            <a:xfrm>
              <a:off x="0" y="0"/>
              <a:ext cx="9900920" cy="1579880"/>
            </a:xfrm>
            <a:custGeom>
              <a:avLst/>
              <a:gdLst/>
              <a:ahLst/>
              <a:cxnLst/>
              <a:rect l="l" t="t" r="r" b="b"/>
              <a:pathLst>
                <a:path w="9900920" h="1579880">
                  <a:moveTo>
                    <a:pt x="0" y="148717"/>
                  </a:moveTo>
                  <a:cubicBezTo>
                    <a:pt x="0" y="66548"/>
                    <a:pt x="66548" y="0"/>
                    <a:pt x="148717" y="0"/>
                  </a:cubicBezTo>
                  <a:lnTo>
                    <a:pt x="9752203" y="0"/>
                  </a:lnTo>
                  <a:cubicBezTo>
                    <a:pt x="9834372" y="0"/>
                    <a:pt x="9900920" y="66548"/>
                    <a:pt x="9900920" y="148717"/>
                  </a:cubicBezTo>
                  <a:lnTo>
                    <a:pt x="9900920" y="1431163"/>
                  </a:lnTo>
                  <a:cubicBezTo>
                    <a:pt x="9900920" y="1513332"/>
                    <a:pt x="9834372" y="1579880"/>
                    <a:pt x="9752203" y="1579880"/>
                  </a:cubicBezTo>
                  <a:lnTo>
                    <a:pt x="148717" y="1579880"/>
                  </a:lnTo>
                  <a:cubicBezTo>
                    <a:pt x="66548" y="1579880"/>
                    <a:pt x="0" y="1513332"/>
                    <a:pt x="0" y="1431163"/>
                  </a:cubicBezTo>
                  <a:close/>
                </a:path>
              </a:pathLst>
            </a:custGeom>
            <a:solidFill>
              <a:srgbClr val="FFFFFF"/>
            </a:solidFill>
            <a:ln w="19050" cap="sq">
              <a:solidFill>
                <a:srgbClr val="D9E0E8"/>
              </a:solidFill>
              <a:prstDash val="solid"/>
              <a:miter/>
            </a:ln>
          </p:spPr>
        </p:sp>
      </p:grpSp>
      <p:grpSp>
        <p:nvGrpSpPr>
          <p:cNvPr id="22" name="Group 22"/>
          <p:cNvGrpSpPr/>
          <p:nvPr/>
        </p:nvGrpSpPr>
        <p:grpSpPr>
          <a:xfrm rot="0">
            <a:off x="10287000" y="4704588"/>
            <a:ext cx="4114800" cy="411480"/>
            <a:chOff x="0" y="0"/>
            <a:chExt cx="5486400" cy="548640"/>
          </a:xfrm>
        </p:grpSpPr>
        <p:sp>
          <p:nvSpPr>
            <p:cNvPr id="23" name="Freeform 23"/>
            <p:cNvSpPr/>
            <p:nvPr/>
          </p:nvSpPr>
          <p:spPr>
            <a:xfrm>
              <a:off x="0" y="0"/>
              <a:ext cx="5486400" cy="548640"/>
            </a:xfrm>
            <a:custGeom>
              <a:avLst/>
              <a:gdLst/>
              <a:ahLst/>
              <a:cxnLst/>
              <a:rect l="l" t="t" r="r" b="b"/>
              <a:pathLst>
                <a:path w="5486400" h="548640">
                  <a:moveTo>
                    <a:pt x="0" y="0"/>
                  </a:moveTo>
                  <a:lnTo>
                    <a:pt x="5486400" y="0"/>
                  </a:lnTo>
                  <a:lnTo>
                    <a:pt x="5486400" y="548640"/>
                  </a:lnTo>
                  <a:lnTo>
                    <a:pt x="0" y="548640"/>
                  </a:lnTo>
                  <a:close/>
                </a:path>
              </a:pathLst>
            </a:custGeom>
            <a:blipFill>
              <a:blip r:embed="rId1">
                <a:alphaModFix amt="0"/>
              </a:blip>
              <a:stretch>
                <a:fillRect t="-144850" b="-144850"/>
              </a:stretch>
            </a:blipFill>
          </p:spPr>
        </p:sp>
        <p:sp>
          <p:nvSpPr>
            <p:cNvPr id="24" name="TextBox 24"/>
            <p:cNvSpPr txBox="1"/>
            <p:nvPr/>
          </p:nvSpPr>
          <p:spPr>
            <a:xfrm>
              <a:off x="0" y="-38100"/>
              <a:ext cx="5486400" cy="586740"/>
            </a:xfrm>
            <a:prstGeom prst="rect">
              <a:avLst/>
            </a:prstGeom>
          </p:spPr>
          <p:txBody>
            <a:bodyPr lIns="0" tIns="0" rIns="0" bIns="0" rtlCol="0" anchor="ctr"/>
            <a:lstStyle/>
            <a:p>
              <a:pPr algn="l">
                <a:lnSpc>
                  <a:spcPts val="1710"/>
                </a:lnSpc>
              </a:pPr>
              <a:r>
                <a:rPr lang="en-US" sz="1425" b="1">
                  <a:solidFill>
                    <a:srgbClr val="6B7A8F"/>
                  </a:solidFill>
                  <a:latin typeface="Calibri (MS) Bold" panose="020F0702030404030204"/>
                  <a:ea typeface="Calibri (MS) Bold" panose="020F0702030404030204"/>
                  <a:cs typeface="Calibri (MS) Bold" panose="020F0702030404030204"/>
                  <a:sym typeface="Calibri (MS) Bold" panose="020F0702030404030204"/>
                </a:rPr>
                <a:t>DNS SERVER</a:t>
              </a:r>
              <a:endParaRPr lang="en-US" sz="1425"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5" name="Group 25"/>
          <p:cNvGrpSpPr/>
          <p:nvPr/>
        </p:nvGrpSpPr>
        <p:grpSpPr>
          <a:xfrm rot="0">
            <a:off x="10287000" y="5088636"/>
            <a:ext cx="6858000" cy="548640"/>
            <a:chOff x="0" y="0"/>
            <a:chExt cx="9144000" cy="731520"/>
          </a:xfrm>
        </p:grpSpPr>
        <p:sp>
          <p:nvSpPr>
            <p:cNvPr id="26" name="Freeform 26"/>
            <p:cNvSpPr/>
            <p:nvPr/>
          </p:nvSpPr>
          <p:spPr>
            <a:xfrm>
              <a:off x="0" y="0"/>
              <a:ext cx="9144000" cy="731520"/>
            </a:xfrm>
            <a:custGeom>
              <a:avLst/>
              <a:gdLst/>
              <a:ahLst/>
              <a:cxnLst/>
              <a:rect l="l" t="t" r="r" b="b"/>
              <a:pathLst>
                <a:path w="9144000" h="731520">
                  <a:moveTo>
                    <a:pt x="0" y="0"/>
                  </a:moveTo>
                  <a:lnTo>
                    <a:pt x="9144000" y="0"/>
                  </a:lnTo>
                  <a:lnTo>
                    <a:pt x="9144000" y="731520"/>
                  </a:lnTo>
                  <a:lnTo>
                    <a:pt x="0" y="731520"/>
                  </a:lnTo>
                  <a:close/>
                </a:path>
              </a:pathLst>
            </a:custGeom>
            <a:blipFill>
              <a:blip r:embed="rId1">
                <a:alphaModFix amt="0"/>
              </a:blip>
              <a:stretch>
                <a:fillRect t="-193562" b="-193562"/>
              </a:stretch>
            </a:blipFill>
          </p:spPr>
        </p:sp>
        <p:sp>
          <p:nvSpPr>
            <p:cNvPr id="27" name="TextBox 27"/>
            <p:cNvSpPr txBox="1"/>
            <p:nvPr/>
          </p:nvSpPr>
          <p:spPr>
            <a:xfrm>
              <a:off x="0" y="-19050"/>
              <a:ext cx="9144000" cy="750570"/>
            </a:xfrm>
            <a:prstGeom prst="rect">
              <a:avLst/>
            </a:prstGeom>
          </p:spPr>
          <p:txBody>
            <a:bodyPr lIns="0" tIns="0" rIns="0" bIns="0" rtlCol="0" anchor="ctr"/>
            <a:lstStyle/>
            <a:p>
              <a:pPr algn="l">
                <a:lnSpc>
                  <a:spcPts val="2700"/>
                </a:lnSpc>
              </a:pPr>
              <a:r>
                <a:rPr lang="en-US" sz="2250" b="1">
                  <a:solidFill>
                    <a:srgbClr val="0D1B2A"/>
                  </a:solidFill>
                  <a:latin typeface="Cambria Bold" panose="02040803050406030204"/>
                  <a:ea typeface="Cambria Bold" panose="02040803050406030204"/>
                  <a:cs typeface="Cambria Bold" panose="02040803050406030204"/>
                  <a:sym typeface="Cambria Bold" panose="02040803050406030204"/>
                </a:rPr>
                <a:t>127.0.0.53</a:t>
              </a:r>
              <a:endParaRPr lang="en-US" sz="22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grpSp>
        <p:nvGrpSpPr>
          <p:cNvPr id="28" name="Group 28"/>
          <p:cNvGrpSpPr/>
          <p:nvPr/>
        </p:nvGrpSpPr>
        <p:grpSpPr>
          <a:xfrm rot="0">
            <a:off x="10003155" y="5956935"/>
            <a:ext cx="7425690" cy="1184910"/>
            <a:chOff x="0" y="0"/>
            <a:chExt cx="9900920" cy="1579880"/>
          </a:xfrm>
        </p:grpSpPr>
        <p:sp>
          <p:nvSpPr>
            <p:cNvPr id="29" name="Freeform 29"/>
            <p:cNvSpPr/>
            <p:nvPr/>
          </p:nvSpPr>
          <p:spPr>
            <a:xfrm>
              <a:off x="0" y="0"/>
              <a:ext cx="9900920" cy="1579880"/>
            </a:xfrm>
            <a:custGeom>
              <a:avLst/>
              <a:gdLst/>
              <a:ahLst/>
              <a:cxnLst/>
              <a:rect l="l" t="t" r="r" b="b"/>
              <a:pathLst>
                <a:path w="9900920" h="1579880">
                  <a:moveTo>
                    <a:pt x="0" y="148717"/>
                  </a:moveTo>
                  <a:cubicBezTo>
                    <a:pt x="0" y="66548"/>
                    <a:pt x="66548" y="0"/>
                    <a:pt x="148717" y="0"/>
                  </a:cubicBezTo>
                  <a:lnTo>
                    <a:pt x="9752203" y="0"/>
                  </a:lnTo>
                  <a:cubicBezTo>
                    <a:pt x="9834372" y="0"/>
                    <a:pt x="9900920" y="66548"/>
                    <a:pt x="9900920" y="148717"/>
                  </a:cubicBezTo>
                  <a:lnTo>
                    <a:pt x="9900920" y="1431163"/>
                  </a:lnTo>
                  <a:cubicBezTo>
                    <a:pt x="9900920" y="1513332"/>
                    <a:pt x="9834372" y="1579880"/>
                    <a:pt x="9752203" y="1579880"/>
                  </a:cubicBezTo>
                  <a:lnTo>
                    <a:pt x="148717" y="1579880"/>
                  </a:lnTo>
                  <a:cubicBezTo>
                    <a:pt x="66548" y="1579880"/>
                    <a:pt x="0" y="1513332"/>
                    <a:pt x="0" y="1431163"/>
                  </a:cubicBezTo>
                  <a:close/>
                </a:path>
              </a:pathLst>
            </a:custGeom>
            <a:solidFill>
              <a:srgbClr val="FFFFFF"/>
            </a:solidFill>
            <a:ln w="19050" cap="sq">
              <a:solidFill>
                <a:srgbClr val="D9E0E8"/>
              </a:solidFill>
              <a:prstDash val="solid"/>
              <a:miter/>
            </a:ln>
          </p:spPr>
        </p:sp>
      </p:grpSp>
      <p:grpSp>
        <p:nvGrpSpPr>
          <p:cNvPr id="30" name="Group 30"/>
          <p:cNvGrpSpPr/>
          <p:nvPr/>
        </p:nvGrpSpPr>
        <p:grpSpPr>
          <a:xfrm rot="0">
            <a:off x="10287000" y="6076188"/>
            <a:ext cx="4114800" cy="411480"/>
            <a:chOff x="0" y="0"/>
            <a:chExt cx="5486400" cy="548640"/>
          </a:xfrm>
        </p:grpSpPr>
        <p:sp>
          <p:nvSpPr>
            <p:cNvPr id="31" name="Freeform 31"/>
            <p:cNvSpPr/>
            <p:nvPr/>
          </p:nvSpPr>
          <p:spPr>
            <a:xfrm>
              <a:off x="0" y="0"/>
              <a:ext cx="5486400" cy="548640"/>
            </a:xfrm>
            <a:custGeom>
              <a:avLst/>
              <a:gdLst/>
              <a:ahLst/>
              <a:cxnLst/>
              <a:rect l="l" t="t" r="r" b="b"/>
              <a:pathLst>
                <a:path w="5486400" h="548640">
                  <a:moveTo>
                    <a:pt x="0" y="0"/>
                  </a:moveTo>
                  <a:lnTo>
                    <a:pt x="5486400" y="0"/>
                  </a:lnTo>
                  <a:lnTo>
                    <a:pt x="5486400" y="548640"/>
                  </a:lnTo>
                  <a:lnTo>
                    <a:pt x="0" y="548640"/>
                  </a:lnTo>
                  <a:close/>
                </a:path>
              </a:pathLst>
            </a:custGeom>
            <a:blipFill>
              <a:blip r:embed="rId1">
                <a:alphaModFix amt="0"/>
              </a:blip>
              <a:stretch>
                <a:fillRect t="-144850" b="-144850"/>
              </a:stretch>
            </a:blipFill>
          </p:spPr>
        </p:sp>
        <p:sp>
          <p:nvSpPr>
            <p:cNvPr id="32" name="TextBox 32"/>
            <p:cNvSpPr txBox="1"/>
            <p:nvPr/>
          </p:nvSpPr>
          <p:spPr>
            <a:xfrm>
              <a:off x="0" y="-38100"/>
              <a:ext cx="5486400" cy="586740"/>
            </a:xfrm>
            <a:prstGeom prst="rect">
              <a:avLst/>
            </a:prstGeom>
          </p:spPr>
          <p:txBody>
            <a:bodyPr lIns="0" tIns="0" rIns="0" bIns="0" rtlCol="0" anchor="ctr"/>
            <a:lstStyle/>
            <a:p>
              <a:pPr algn="l">
                <a:lnSpc>
                  <a:spcPts val="1710"/>
                </a:lnSpc>
              </a:pPr>
              <a:r>
                <a:rPr lang="en-US" sz="1425" b="1">
                  <a:solidFill>
                    <a:srgbClr val="6B7A8F"/>
                  </a:solidFill>
                  <a:latin typeface="Calibri (MS) Bold" panose="020F0702030404030204"/>
                  <a:ea typeface="Calibri (MS) Bold" panose="020F0702030404030204"/>
                  <a:cs typeface="Calibri (MS) Bold" panose="020F0702030404030204"/>
                  <a:sym typeface="Calibri (MS) Bold" panose="020F0702030404030204"/>
                </a:rPr>
                <a:t>RESULT</a:t>
              </a:r>
              <a:endParaRPr lang="en-US" sz="1425"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3" name="Group 33"/>
          <p:cNvGrpSpPr/>
          <p:nvPr/>
        </p:nvGrpSpPr>
        <p:grpSpPr>
          <a:xfrm rot="0">
            <a:off x="10287000" y="6460236"/>
            <a:ext cx="6858000" cy="548640"/>
            <a:chOff x="0" y="0"/>
            <a:chExt cx="9144000" cy="731520"/>
          </a:xfrm>
        </p:grpSpPr>
        <p:sp>
          <p:nvSpPr>
            <p:cNvPr id="34" name="Freeform 34"/>
            <p:cNvSpPr/>
            <p:nvPr/>
          </p:nvSpPr>
          <p:spPr>
            <a:xfrm>
              <a:off x="0" y="0"/>
              <a:ext cx="9144000" cy="731520"/>
            </a:xfrm>
            <a:custGeom>
              <a:avLst/>
              <a:gdLst/>
              <a:ahLst/>
              <a:cxnLst/>
              <a:rect l="l" t="t" r="r" b="b"/>
              <a:pathLst>
                <a:path w="9144000" h="731520">
                  <a:moveTo>
                    <a:pt x="0" y="0"/>
                  </a:moveTo>
                  <a:lnTo>
                    <a:pt x="9144000" y="0"/>
                  </a:lnTo>
                  <a:lnTo>
                    <a:pt x="9144000" y="731520"/>
                  </a:lnTo>
                  <a:lnTo>
                    <a:pt x="0" y="731520"/>
                  </a:lnTo>
                  <a:close/>
                </a:path>
              </a:pathLst>
            </a:custGeom>
            <a:blipFill>
              <a:blip r:embed="rId1">
                <a:alphaModFix amt="0"/>
              </a:blip>
              <a:stretch>
                <a:fillRect t="-193562" b="-193562"/>
              </a:stretch>
            </a:blipFill>
          </p:spPr>
        </p:sp>
        <p:sp>
          <p:nvSpPr>
            <p:cNvPr id="35" name="TextBox 35"/>
            <p:cNvSpPr txBox="1"/>
            <p:nvPr/>
          </p:nvSpPr>
          <p:spPr>
            <a:xfrm>
              <a:off x="0" y="-19050"/>
              <a:ext cx="9144000" cy="750570"/>
            </a:xfrm>
            <a:prstGeom prst="rect">
              <a:avLst/>
            </a:prstGeom>
          </p:spPr>
          <p:txBody>
            <a:bodyPr lIns="0" tIns="0" rIns="0" bIns="0" rtlCol="0" anchor="ctr"/>
            <a:lstStyle/>
            <a:p>
              <a:pPr algn="l">
                <a:lnSpc>
                  <a:spcPts val="2700"/>
                </a:lnSpc>
              </a:pPr>
              <a:r>
                <a:rPr lang="en-US" sz="2250" b="1">
                  <a:solidFill>
                    <a:srgbClr val="0D1B2A"/>
                  </a:solidFill>
                  <a:latin typeface="Cambria Bold" panose="02040803050406030204"/>
                  <a:ea typeface="Cambria Bold" panose="02040803050406030204"/>
                  <a:cs typeface="Cambria Bold" panose="02040803050406030204"/>
                  <a:sym typeface="Cambria Bold" panose="02040803050406030204"/>
                </a:rPr>
                <a:t>Query refused — no IP returned</a:t>
              </a:r>
              <a:endParaRPr lang="en-US" sz="22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sp>
        <p:nvSpPr>
          <p:cNvPr id="36" name="TextBox 36"/>
          <p:cNvSpPr txBox="1"/>
          <p:nvPr/>
        </p:nvSpPr>
        <p:spPr>
          <a:xfrm>
            <a:off x="822960" y="7810500"/>
            <a:ext cx="16596360" cy="742315"/>
          </a:xfrm>
          <a:prstGeom prst="rect">
            <a:avLst/>
          </a:prstGeom>
        </p:spPr>
        <p:txBody>
          <a:bodyPr lIns="0" tIns="0" rIns="0" bIns="0" rtlCol="0" anchor="t">
            <a:spAutoFit/>
          </a:bodyPr>
          <a:lstStyle/>
          <a:p>
            <a:pPr marL="380365" lvl="1" indent="-189865" algn="l">
              <a:lnSpc>
                <a:spcPts val="2895"/>
              </a:lnSpc>
              <a:buFont typeface="Arial" panose="020B0604020202020204"/>
              <a:buChar char="•"/>
            </a:pPr>
            <a:r>
              <a:rPr lang="en-US" sz="2100">
                <a:solidFill>
                  <a:srgbClr val="1B2A4A"/>
                </a:solidFill>
                <a:latin typeface="Calibri (MS)" panose="020F0502020204030204"/>
                <a:ea typeface="Calibri (MS)" panose="020F0502020204030204"/>
                <a:cs typeface="Calibri (MS)" panose="020F0502020204030204"/>
                <a:sym typeface="Calibri (MS)" panose="020F0502020204030204"/>
              </a:rPr>
              <a:t>DNS core role: translating domain names to IP addresses so a connection can be established</a:t>
            </a:r>
            <a:endParaRPr lang="en-US" sz="2100">
              <a:solidFill>
                <a:srgbClr val="1B2A4A"/>
              </a:solidFill>
              <a:latin typeface="Calibri (MS)" panose="020F0502020204030204"/>
              <a:ea typeface="Calibri (MS)" panose="020F0502020204030204"/>
              <a:cs typeface="Calibri (MS)" panose="020F0502020204030204"/>
              <a:sym typeface="Calibri (MS)" panose="020F0502020204030204"/>
            </a:endParaRPr>
          </a:p>
          <a:p>
            <a:pPr algn="l">
              <a:lnSpc>
                <a:spcPts val="2895"/>
              </a:lnSpc>
            </a:pPr>
          </a:p>
        </p:txBody>
      </p:sp>
      <p:grpSp>
        <p:nvGrpSpPr>
          <p:cNvPr id="37" name="Group 37"/>
          <p:cNvGrpSpPr/>
          <p:nvPr/>
        </p:nvGrpSpPr>
        <p:grpSpPr>
          <a:xfrm rot="0">
            <a:off x="685800" y="9710928"/>
            <a:ext cx="10972800" cy="411480"/>
            <a:chOff x="0" y="0"/>
            <a:chExt cx="14630400" cy="548640"/>
          </a:xfrm>
        </p:grpSpPr>
        <p:sp>
          <p:nvSpPr>
            <p:cNvPr id="38" name="Freeform 38"/>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39" name="TextBox 39"/>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40" name="Group 40"/>
          <p:cNvGrpSpPr/>
          <p:nvPr/>
        </p:nvGrpSpPr>
        <p:grpSpPr>
          <a:xfrm rot="0">
            <a:off x="16911828" y="9710928"/>
            <a:ext cx="685800" cy="411480"/>
            <a:chOff x="0" y="0"/>
            <a:chExt cx="914400" cy="548640"/>
          </a:xfrm>
        </p:grpSpPr>
        <p:sp>
          <p:nvSpPr>
            <p:cNvPr id="41" name="Freeform 41"/>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42" name="TextBox 42"/>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5</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822960" y="598170"/>
            <a:ext cx="16637508" cy="542925"/>
          </a:xfrm>
          <a:prstGeom prst="rect">
            <a:avLst/>
          </a:prstGeom>
        </p:spPr>
        <p:txBody>
          <a:bodyPr lIns="0" tIns="0" rIns="0" bIns="0" rtlCol="0" anchor="t">
            <a:spAutoFit/>
          </a:bodyPr>
          <a:lstStyle/>
          <a:p>
            <a:pPr algn="l">
              <a:lnSpc>
                <a:spcPts val="4140"/>
              </a:lnSpc>
            </a:pPr>
            <a:r>
              <a:rPr lang="en-US" sz="3450" b="1">
                <a:solidFill>
                  <a:srgbClr val="0D1B2A"/>
                </a:solidFill>
                <a:latin typeface="Cambria Bold" panose="02040803050406030204"/>
                <a:ea typeface="Cambria Bold" panose="02040803050406030204"/>
                <a:cs typeface="Cambria Bold" panose="02040803050406030204"/>
                <a:sym typeface="Cambria Bold" panose="02040803050406030204"/>
              </a:rPr>
              <a:t>Route Investigation </a:t>
            </a:r>
            <a:endParaRPr lang="en-US" sz="34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3" name="Group 3"/>
          <p:cNvGrpSpPr/>
          <p:nvPr/>
        </p:nvGrpSpPr>
        <p:grpSpPr>
          <a:xfrm rot="0">
            <a:off x="754380" y="3566160"/>
            <a:ext cx="1508760" cy="1508760"/>
            <a:chOff x="0" y="0"/>
            <a:chExt cx="2011680" cy="2011680"/>
          </a:xfrm>
        </p:grpSpPr>
        <p:sp>
          <p:nvSpPr>
            <p:cNvPr id="4" name="Freeform 4"/>
            <p:cNvSpPr/>
            <p:nvPr/>
          </p:nvSpPr>
          <p:spPr>
            <a:xfrm>
              <a:off x="0" y="0"/>
              <a:ext cx="2011680" cy="2011680"/>
            </a:xfrm>
            <a:custGeom>
              <a:avLst/>
              <a:gdLst/>
              <a:ahLst/>
              <a:cxnLst/>
              <a:rect l="l" t="t" r="r" b="b"/>
              <a:pathLst>
                <a:path w="2011680" h="2011680">
                  <a:moveTo>
                    <a:pt x="0" y="1005840"/>
                  </a:moveTo>
                  <a:cubicBezTo>
                    <a:pt x="0" y="450342"/>
                    <a:pt x="450342" y="0"/>
                    <a:pt x="1005840" y="0"/>
                  </a:cubicBezTo>
                  <a:cubicBezTo>
                    <a:pt x="1561338" y="0"/>
                    <a:pt x="2011680" y="450342"/>
                    <a:pt x="2011680" y="1005840"/>
                  </a:cubicBezTo>
                  <a:cubicBezTo>
                    <a:pt x="2011680" y="1561338"/>
                    <a:pt x="1561338" y="2011680"/>
                    <a:pt x="1005840" y="2011680"/>
                  </a:cubicBezTo>
                  <a:cubicBezTo>
                    <a:pt x="450342" y="2011680"/>
                    <a:pt x="0" y="1561338"/>
                    <a:pt x="0" y="1005840"/>
                  </a:cubicBezTo>
                  <a:close/>
                </a:path>
              </a:pathLst>
            </a:custGeom>
            <a:solidFill>
              <a:srgbClr val="1B2A4A"/>
            </a:solidFill>
          </p:spPr>
        </p:sp>
      </p:grpSp>
      <p:grpSp>
        <p:nvGrpSpPr>
          <p:cNvPr id="5" name="Group 5"/>
          <p:cNvGrpSpPr/>
          <p:nvPr/>
        </p:nvGrpSpPr>
        <p:grpSpPr>
          <a:xfrm rot="0">
            <a:off x="754380" y="3566160"/>
            <a:ext cx="1508760" cy="1508760"/>
            <a:chOff x="0" y="0"/>
            <a:chExt cx="2011680" cy="2011680"/>
          </a:xfrm>
        </p:grpSpPr>
        <p:sp>
          <p:nvSpPr>
            <p:cNvPr id="6" name="Freeform 6"/>
            <p:cNvSpPr/>
            <p:nvPr/>
          </p:nvSpPr>
          <p:spPr>
            <a:xfrm>
              <a:off x="0" y="0"/>
              <a:ext cx="2011680" cy="2011680"/>
            </a:xfrm>
            <a:custGeom>
              <a:avLst/>
              <a:gdLst/>
              <a:ahLst/>
              <a:cxnLst/>
              <a:rect l="l" t="t" r="r" b="b"/>
              <a:pathLst>
                <a:path w="2011680" h="2011680">
                  <a:moveTo>
                    <a:pt x="0" y="0"/>
                  </a:moveTo>
                  <a:lnTo>
                    <a:pt x="2011680" y="0"/>
                  </a:lnTo>
                  <a:lnTo>
                    <a:pt x="2011680" y="2011680"/>
                  </a:lnTo>
                  <a:lnTo>
                    <a:pt x="0" y="2011680"/>
                  </a:lnTo>
                  <a:close/>
                </a:path>
              </a:pathLst>
            </a:custGeom>
            <a:blipFill>
              <a:blip r:embed="rId1">
                <a:alphaModFix amt="0"/>
              </a:blip>
              <a:stretch>
                <a:fillRect l="-78303" r="-78303"/>
              </a:stretch>
            </a:blipFill>
          </p:spPr>
        </p:sp>
        <p:sp>
          <p:nvSpPr>
            <p:cNvPr id="7" name="TextBox 7"/>
            <p:cNvSpPr txBox="1"/>
            <p:nvPr/>
          </p:nvSpPr>
          <p:spPr>
            <a:xfrm>
              <a:off x="0" y="-85725"/>
              <a:ext cx="2011680" cy="2097405"/>
            </a:xfrm>
            <a:prstGeom prst="rect">
              <a:avLst/>
            </a:prstGeom>
          </p:spPr>
          <p:txBody>
            <a:bodyPr lIns="0" tIns="0" rIns="0" bIns="0" rtlCol="0" anchor="ctr"/>
            <a:lstStyle/>
            <a:p>
              <a:pPr algn="ctr">
                <a:lnSpc>
                  <a:spcPts val="5150"/>
                </a:lnSpc>
              </a:pPr>
              <a:r>
                <a:rPr lang="en-US" sz="4290" b="1">
                  <a:solidFill>
                    <a:srgbClr val="FFFFFF"/>
                  </a:solidFill>
                  <a:latin typeface="Calibri (MS) Bold" panose="020F0702030404030204"/>
                  <a:ea typeface="Calibri (MS) Bold" panose="020F0702030404030204"/>
                  <a:cs typeface="Calibri (MS) Bold" panose="020F0702030404030204"/>
                  <a:sym typeface="Calibri (MS) Bold" panose="020F0702030404030204"/>
                </a:rPr>
                <a:t>0</a:t>
              </a:r>
              <a:endParaRPr lang="en-US" sz="429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8" name="Group 8"/>
          <p:cNvGrpSpPr/>
          <p:nvPr/>
        </p:nvGrpSpPr>
        <p:grpSpPr>
          <a:xfrm rot="0">
            <a:off x="-274320" y="5212080"/>
            <a:ext cx="3566160" cy="822960"/>
            <a:chOff x="0" y="0"/>
            <a:chExt cx="4754880" cy="1097280"/>
          </a:xfrm>
        </p:grpSpPr>
        <p:sp>
          <p:nvSpPr>
            <p:cNvPr id="9" name="Freeform 9"/>
            <p:cNvSpPr/>
            <p:nvPr/>
          </p:nvSpPr>
          <p:spPr>
            <a:xfrm>
              <a:off x="0" y="0"/>
              <a:ext cx="4754880" cy="1097280"/>
            </a:xfrm>
            <a:custGeom>
              <a:avLst/>
              <a:gdLst/>
              <a:ahLst/>
              <a:cxnLst/>
              <a:rect l="l" t="t" r="r" b="b"/>
              <a:pathLst>
                <a:path w="4754880" h="1097280">
                  <a:moveTo>
                    <a:pt x="0" y="0"/>
                  </a:moveTo>
                  <a:lnTo>
                    <a:pt x="4754880" y="0"/>
                  </a:lnTo>
                  <a:lnTo>
                    <a:pt x="4754880" y="1097280"/>
                  </a:lnTo>
                  <a:lnTo>
                    <a:pt x="0" y="1097280"/>
                  </a:lnTo>
                  <a:close/>
                </a:path>
              </a:pathLst>
            </a:custGeom>
            <a:blipFill>
              <a:blip r:embed="rId1">
                <a:alphaModFix amt="0"/>
              </a:blip>
              <a:stretch>
                <a:fillRect t="-34435" b="-34435"/>
              </a:stretch>
            </a:blipFill>
          </p:spPr>
        </p:sp>
        <p:sp>
          <p:nvSpPr>
            <p:cNvPr id="10" name="TextBox 10"/>
            <p:cNvSpPr txBox="1"/>
            <p:nvPr/>
          </p:nvSpPr>
          <p:spPr>
            <a:xfrm>
              <a:off x="0" y="-57150"/>
              <a:ext cx="4754880" cy="1154430"/>
            </a:xfrm>
            <a:prstGeom prst="rect">
              <a:avLst/>
            </a:prstGeom>
          </p:spPr>
          <p:txBody>
            <a:bodyPr lIns="0" tIns="0" rIns="0" bIns="0" rtlCol="0" anchor="ctr"/>
            <a:lstStyle/>
            <a:p>
              <a:pPr algn="ctr">
                <a:lnSpc>
                  <a:spcPts val="2455"/>
                </a:lnSpc>
              </a:pPr>
              <a:r>
                <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rPr>
                <a:t>Workstation</a:t>
              </a:r>
              <a:endPar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1" name="Group 11"/>
          <p:cNvGrpSpPr/>
          <p:nvPr/>
        </p:nvGrpSpPr>
        <p:grpSpPr>
          <a:xfrm rot="0">
            <a:off x="-274320" y="5966460"/>
            <a:ext cx="3566160" cy="548640"/>
            <a:chOff x="0" y="0"/>
            <a:chExt cx="4754880" cy="731520"/>
          </a:xfrm>
        </p:grpSpPr>
        <p:sp>
          <p:nvSpPr>
            <p:cNvPr id="12" name="Freeform 12"/>
            <p:cNvSpPr/>
            <p:nvPr/>
          </p:nvSpPr>
          <p:spPr>
            <a:xfrm>
              <a:off x="0" y="0"/>
              <a:ext cx="4754880" cy="731520"/>
            </a:xfrm>
            <a:custGeom>
              <a:avLst/>
              <a:gdLst/>
              <a:ahLst/>
              <a:cxnLst/>
              <a:rect l="l" t="t" r="r" b="b"/>
              <a:pathLst>
                <a:path w="4754880" h="731520">
                  <a:moveTo>
                    <a:pt x="0" y="0"/>
                  </a:moveTo>
                  <a:lnTo>
                    <a:pt x="4754880" y="0"/>
                  </a:lnTo>
                  <a:lnTo>
                    <a:pt x="4754880" y="731520"/>
                  </a:lnTo>
                  <a:lnTo>
                    <a:pt x="0" y="731520"/>
                  </a:lnTo>
                  <a:close/>
                </a:path>
              </a:pathLst>
            </a:custGeom>
            <a:blipFill>
              <a:blip r:embed="rId1">
                <a:alphaModFix amt="0"/>
              </a:blip>
              <a:stretch>
                <a:fillRect t="-76652" b="-76652"/>
              </a:stretch>
            </a:blipFill>
          </p:spPr>
        </p:sp>
        <p:sp>
          <p:nvSpPr>
            <p:cNvPr id="13" name="TextBox 13"/>
            <p:cNvSpPr txBox="1"/>
            <p:nvPr/>
          </p:nvSpPr>
          <p:spPr>
            <a:xfrm>
              <a:off x="0" y="-28575"/>
              <a:ext cx="4754880" cy="760095"/>
            </a:xfrm>
            <a:prstGeom prst="rect">
              <a:avLst/>
            </a:prstGeom>
          </p:spPr>
          <p:txBody>
            <a:bodyPr lIns="0" tIns="0" rIns="0" bIns="0" rtlCol="0" anchor="ctr"/>
            <a:lstStyle/>
            <a:p>
              <a:pPr algn="ctr">
                <a:lnSpc>
                  <a:spcPts val="1980"/>
                </a:lnSpc>
              </a:pPr>
              <a:r>
                <a:rPr lang="en-US" sz="1650">
                  <a:solidFill>
                    <a:srgbClr val="6B7A8F"/>
                  </a:solidFill>
                  <a:latin typeface="Calibri (MS)" panose="020F0502020204030204"/>
                  <a:ea typeface="Calibri (MS)" panose="020F0502020204030204"/>
                  <a:cs typeface="Calibri (MS)" panose="020F0502020204030204"/>
                  <a:sym typeface="Calibri (MS)" panose="020F0502020204030204"/>
                </a:rPr>
                <a:t>10.0.2.15</a:t>
              </a:r>
              <a:endParaRPr lang="en-US" sz="16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
        <p:nvSpPr>
          <p:cNvPr id="14" name="AutoShape 14"/>
          <p:cNvSpPr/>
          <p:nvPr/>
        </p:nvSpPr>
        <p:spPr>
          <a:xfrm rot="26340">
            <a:off x="2312594" y="4311015"/>
            <a:ext cx="4976003" cy="0"/>
          </a:xfrm>
          <a:prstGeom prst="line">
            <a:avLst/>
          </a:prstGeom>
          <a:ln w="19050" cap="rnd">
            <a:solidFill>
              <a:srgbClr val="AAB6C4"/>
            </a:solidFill>
            <a:prstDash val="solid"/>
            <a:headEnd type="none" w="sm" len="sm"/>
            <a:tailEnd type="triangle" w="lg" len="med"/>
          </a:ln>
        </p:spPr>
      </p:sp>
      <p:grpSp>
        <p:nvGrpSpPr>
          <p:cNvPr id="15" name="Group 15"/>
          <p:cNvGrpSpPr/>
          <p:nvPr/>
        </p:nvGrpSpPr>
        <p:grpSpPr>
          <a:xfrm rot="0">
            <a:off x="7338060" y="3566160"/>
            <a:ext cx="1508760" cy="1508760"/>
            <a:chOff x="0" y="0"/>
            <a:chExt cx="2011680" cy="2011680"/>
          </a:xfrm>
        </p:grpSpPr>
        <p:sp>
          <p:nvSpPr>
            <p:cNvPr id="16" name="Freeform 16"/>
            <p:cNvSpPr/>
            <p:nvPr/>
          </p:nvSpPr>
          <p:spPr>
            <a:xfrm>
              <a:off x="0" y="0"/>
              <a:ext cx="2011680" cy="2011680"/>
            </a:xfrm>
            <a:custGeom>
              <a:avLst/>
              <a:gdLst/>
              <a:ahLst/>
              <a:cxnLst/>
              <a:rect l="l" t="t" r="r" b="b"/>
              <a:pathLst>
                <a:path w="2011680" h="2011680">
                  <a:moveTo>
                    <a:pt x="0" y="1005840"/>
                  </a:moveTo>
                  <a:cubicBezTo>
                    <a:pt x="0" y="450342"/>
                    <a:pt x="450342" y="0"/>
                    <a:pt x="1005840" y="0"/>
                  </a:cubicBezTo>
                  <a:cubicBezTo>
                    <a:pt x="1561338" y="0"/>
                    <a:pt x="2011680" y="450342"/>
                    <a:pt x="2011680" y="1005840"/>
                  </a:cubicBezTo>
                  <a:cubicBezTo>
                    <a:pt x="2011680" y="1561338"/>
                    <a:pt x="1561338" y="2011680"/>
                    <a:pt x="1005840" y="2011680"/>
                  </a:cubicBezTo>
                  <a:cubicBezTo>
                    <a:pt x="450342" y="2011680"/>
                    <a:pt x="0" y="1561338"/>
                    <a:pt x="0" y="1005840"/>
                  </a:cubicBezTo>
                  <a:close/>
                </a:path>
              </a:pathLst>
            </a:custGeom>
            <a:solidFill>
              <a:srgbClr val="00C2D1"/>
            </a:solidFill>
          </p:spPr>
        </p:sp>
      </p:grpSp>
      <p:grpSp>
        <p:nvGrpSpPr>
          <p:cNvPr id="17" name="Group 17"/>
          <p:cNvGrpSpPr/>
          <p:nvPr/>
        </p:nvGrpSpPr>
        <p:grpSpPr>
          <a:xfrm rot="0">
            <a:off x="7338060" y="3566160"/>
            <a:ext cx="1508760" cy="1508760"/>
            <a:chOff x="0" y="0"/>
            <a:chExt cx="2011680" cy="2011680"/>
          </a:xfrm>
        </p:grpSpPr>
        <p:sp>
          <p:nvSpPr>
            <p:cNvPr id="18" name="Freeform 18"/>
            <p:cNvSpPr/>
            <p:nvPr/>
          </p:nvSpPr>
          <p:spPr>
            <a:xfrm>
              <a:off x="0" y="0"/>
              <a:ext cx="2011680" cy="2011680"/>
            </a:xfrm>
            <a:custGeom>
              <a:avLst/>
              <a:gdLst/>
              <a:ahLst/>
              <a:cxnLst/>
              <a:rect l="l" t="t" r="r" b="b"/>
              <a:pathLst>
                <a:path w="2011680" h="2011680">
                  <a:moveTo>
                    <a:pt x="0" y="0"/>
                  </a:moveTo>
                  <a:lnTo>
                    <a:pt x="2011680" y="0"/>
                  </a:lnTo>
                  <a:lnTo>
                    <a:pt x="2011680" y="2011680"/>
                  </a:lnTo>
                  <a:lnTo>
                    <a:pt x="0" y="2011680"/>
                  </a:lnTo>
                  <a:close/>
                </a:path>
              </a:pathLst>
            </a:custGeom>
            <a:blipFill>
              <a:blip r:embed="rId1">
                <a:alphaModFix amt="0"/>
              </a:blip>
              <a:stretch>
                <a:fillRect l="-78303" r="-78303"/>
              </a:stretch>
            </a:blipFill>
          </p:spPr>
        </p:sp>
        <p:sp>
          <p:nvSpPr>
            <p:cNvPr id="19" name="TextBox 19"/>
            <p:cNvSpPr txBox="1"/>
            <p:nvPr/>
          </p:nvSpPr>
          <p:spPr>
            <a:xfrm>
              <a:off x="0" y="-85725"/>
              <a:ext cx="2011680" cy="2097405"/>
            </a:xfrm>
            <a:prstGeom prst="rect">
              <a:avLst/>
            </a:prstGeom>
          </p:spPr>
          <p:txBody>
            <a:bodyPr lIns="0" tIns="0" rIns="0" bIns="0" rtlCol="0" anchor="ctr"/>
            <a:lstStyle/>
            <a:p>
              <a:pPr algn="ctr">
                <a:lnSpc>
                  <a:spcPts val="5150"/>
                </a:lnSpc>
              </a:pPr>
              <a:r>
                <a:rPr lang="en-US" sz="4290" b="1">
                  <a:solidFill>
                    <a:srgbClr val="0D1B2A"/>
                  </a:solidFill>
                  <a:latin typeface="Calibri (MS) Bold" panose="020F0702030404030204"/>
                  <a:ea typeface="Calibri (MS) Bold" panose="020F0702030404030204"/>
                  <a:cs typeface="Calibri (MS) Bold" panose="020F0702030404030204"/>
                  <a:sym typeface="Calibri (MS) Bold" panose="020F0702030404030204"/>
                </a:rPr>
                <a:t>1</a:t>
              </a:r>
              <a:endParaRPr lang="en-US" sz="429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0" name="Group 20"/>
          <p:cNvGrpSpPr/>
          <p:nvPr/>
        </p:nvGrpSpPr>
        <p:grpSpPr>
          <a:xfrm rot="0">
            <a:off x="6309360" y="5212080"/>
            <a:ext cx="3566160" cy="822960"/>
            <a:chOff x="0" y="0"/>
            <a:chExt cx="4754880" cy="1097280"/>
          </a:xfrm>
        </p:grpSpPr>
        <p:sp>
          <p:nvSpPr>
            <p:cNvPr id="21" name="Freeform 21"/>
            <p:cNvSpPr/>
            <p:nvPr/>
          </p:nvSpPr>
          <p:spPr>
            <a:xfrm>
              <a:off x="0" y="0"/>
              <a:ext cx="4754880" cy="1097280"/>
            </a:xfrm>
            <a:custGeom>
              <a:avLst/>
              <a:gdLst/>
              <a:ahLst/>
              <a:cxnLst/>
              <a:rect l="l" t="t" r="r" b="b"/>
              <a:pathLst>
                <a:path w="4754880" h="1097280">
                  <a:moveTo>
                    <a:pt x="0" y="0"/>
                  </a:moveTo>
                  <a:lnTo>
                    <a:pt x="4754880" y="0"/>
                  </a:lnTo>
                  <a:lnTo>
                    <a:pt x="4754880" y="1097280"/>
                  </a:lnTo>
                  <a:lnTo>
                    <a:pt x="0" y="1097280"/>
                  </a:lnTo>
                  <a:close/>
                </a:path>
              </a:pathLst>
            </a:custGeom>
            <a:blipFill>
              <a:blip r:embed="rId1">
                <a:alphaModFix amt="0"/>
              </a:blip>
              <a:stretch>
                <a:fillRect t="-34435" b="-34435"/>
              </a:stretch>
            </a:blipFill>
          </p:spPr>
        </p:sp>
        <p:sp>
          <p:nvSpPr>
            <p:cNvPr id="22" name="TextBox 22"/>
            <p:cNvSpPr txBox="1"/>
            <p:nvPr/>
          </p:nvSpPr>
          <p:spPr>
            <a:xfrm>
              <a:off x="0" y="-57150"/>
              <a:ext cx="4754880" cy="1154430"/>
            </a:xfrm>
            <a:prstGeom prst="rect">
              <a:avLst/>
            </a:prstGeom>
          </p:spPr>
          <p:txBody>
            <a:bodyPr lIns="0" tIns="0" rIns="0" bIns="0" rtlCol="0" anchor="ctr"/>
            <a:lstStyle/>
            <a:p>
              <a:pPr algn="ctr">
                <a:lnSpc>
                  <a:spcPts val="2455"/>
                </a:lnSpc>
              </a:pPr>
              <a:r>
                <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rPr>
                <a:t>Hop 1</a:t>
              </a:r>
              <a:endPar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455"/>
                </a:lnSpc>
              </a:pPr>
              <a:r>
                <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rPr>
                <a:t>_gateway</a:t>
              </a:r>
              <a:endPar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3" name="Group 23"/>
          <p:cNvGrpSpPr/>
          <p:nvPr/>
        </p:nvGrpSpPr>
        <p:grpSpPr>
          <a:xfrm rot="0">
            <a:off x="6309360" y="5966460"/>
            <a:ext cx="3566160" cy="548640"/>
            <a:chOff x="0" y="0"/>
            <a:chExt cx="4754880" cy="731520"/>
          </a:xfrm>
        </p:grpSpPr>
        <p:sp>
          <p:nvSpPr>
            <p:cNvPr id="24" name="Freeform 24"/>
            <p:cNvSpPr/>
            <p:nvPr/>
          </p:nvSpPr>
          <p:spPr>
            <a:xfrm>
              <a:off x="0" y="0"/>
              <a:ext cx="4754880" cy="731520"/>
            </a:xfrm>
            <a:custGeom>
              <a:avLst/>
              <a:gdLst/>
              <a:ahLst/>
              <a:cxnLst/>
              <a:rect l="l" t="t" r="r" b="b"/>
              <a:pathLst>
                <a:path w="4754880" h="731520">
                  <a:moveTo>
                    <a:pt x="0" y="0"/>
                  </a:moveTo>
                  <a:lnTo>
                    <a:pt x="4754880" y="0"/>
                  </a:lnTo>
                  <a:lnTo>
                    <a:pt x="4754880" y="731520"/>
                  </a:lnTo>
                  <a:lnTo>
                    <a:pt x="0" y="731520"/>
                  </a:lnTo>
                  <a:close/>
                </a:path>
              </a:pathLst>
            </a:custGeom>
            <a:blipFill>
              <a:blip r:embed="rId1">
                <a:alphaModFix amt="0"/>
              </a:blip>
              <a:stretch>
                <a:fillRect t="-76652" b="-76652"/>
              </a:stretch>
            </a:blipFill>
          </p:spPr>
        </p:sp>
        <p:sp>
          <p:nvSpPr>
            <p:cNvPr id="25" name="TextBox 25"/>
            <p:cNvSpPr txBox="1"/>
            <p:nvPr/>
          </p:nvSpPr>
          <p:spPr>
            <a:xfrm>
              <a:off x="0" y="-28575"/>
              <a:ext cx="4754880" cy="760095"/>
            </a:xfrm>
            <a:prstGeom prst="rect">
              <a:avLst/>
            </a:prstGeom>
          </p:spPr>
          <p:txBody>
            <a:bodyPr lIns="0" tIns="0" rIns="0" bIns="0" rtlCol="0" anchor="ctr"/>
            <a:lstStyle/>
            <a:p>
              <a:pPr algn="ctr">
                <a:lnSpc>
                  <a:spcPts val="1980"/>
                </a:lnSpc>
              </a:pPr>
              <a:r>
                <a:rPr lang="en-US" sz="1650">
                  <a:solidFill>
                    <a:srgbClr val="6B7A8F"/>
                  </a:solidFill>
                  <a:latin typeface="Calibri (MS)" panose="020F0502020204030204"/>
                  <a:ea typeface="Calibri (MS)" panose="020F0502020204030204"/>
                  <a:cs typeface="Calibri (MS)" panose="020F0502020204030204"/>
                  <a:sym typeface="Calibri (MS)" panose="020F0502020204030204"/>
                </a:rPr>
                <a:t>0.715ms / 0.577ms</a:t>
              </a:r>
              <a:endParaRPr lang="en-US" sz="16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
        <p:nvSpPr>
          <p:cNvPr id="26" name="AutoShape 26"/>
          <p:cNvSpPr/>
          <p:nvPr/>
        </p:nvSpPr>
        <p:spPr>
          <a:xfrm rot="26340">
            <a:off x="8896274" y="4311015"/>
            <a:ext cx="4976003" cy="0"/>
          </a:xfrm>
          <a:prstGeom prst="line">
            <a:avLst/>
          </a:prstGeom>
          <a:ln w="19050" cap="rnd">
            <a:solidFill>
              <a:srgbClr val="AAB6C4"/>
            </a:solidFill>
            <a:prstDash val="solid"/>
            <a:headEnd type="none" w="sm" len="sm"/>
            <a:tailEnd type="triangle" w="lg" len="med"/>
          </a:ln>
        </p:spPr>
      </p:sp>
      <p:grpSp>
        <p:nvGrpSpPr>
          <p:cNvPr id="27" name="Group 27"/>
          <p:cNvGrpSpPr/>
          <p:nvPr/>
        </p:nvGrpSpPr>
        <p:grpSpPr>
          <a:xfrm rot="0">
            <a:off x="13921740" y="3566160"/>
            <a:ext cx="1508760" cy="1508760"/>
            <a:chOff x="0" y="0"/>
            <a:chExt cx="2011680" cy="2011680"/>
          </a:xfrm>
        </p:grpSpPr>
        <p:sp>
          <p:nvSpPr>
            <p:cNvPr id="28" name="Freeform 28"/>
            <p:cNvSpPr/>
            <p:nvPr/>
          </p:nvSpPr>
          <p:spPr>
            <a:xfrm>
              <a:off x="0" y="0"/>
              <a:ext cx="2011680" cy="2011680"/>
            </a:xfrm>
            <a:custGeom>
              <a:avLst/>
              <a:gdLst/>
              <a:ahLst/>
              <a:cxnLst/>
              <a:rect l="l" t="t" r="r" b="b"/>
              <a:pathLst>
                <a:path w="2011680" h="2011680">
                  <a:moveTo>
                    <a:pt x="0" y="1005840"/>
                  </a:moveTo>
                  <a:cubicBezTo>
                    <a:pt x="0" y="450342"/>
                    <a:pt x="450342" y="0"/>
                    <a:pt x="1005840" y="0"/>
                  </a:cubicBezTo>
                  <a:cubicBezTo>
                    <a:pt x="1561338" y="0"/>
                    <a:pt x="2011680" y="450342"/>
                    <a:pt x="2011680" y="1005840"/>
                  </a:cubicBezTo>
                  <a:cubicBezTo>
                    <a:pt x="2011680" y="1561338"/>
                    <a:pt x="1561338" y="2011680"/>
                    <a:pt x="1005840" y="2011680"/>
                  </a:cubicBezTo>
                  <a:cubicBezTo>
                    <a:pt x="450342" y="2011680"/>
                    <a:pt x="0" y="1561338"/>
                    <a:pt x="0" y="1005840"/>
                  </a:cubicBezTo>
                  <a:close/>
                </a:path>
              </a:pathLst>
            </a:custGeom>
            <a:solidFill>
              <a:srgbClr val="1F9D55"/>
            </a:solidFill>
          </p:spPr>
        </p:sp>
      </p:grpSp>
      <p:grpSp>
        <p:nvGrpSpPr>
          <p:cNvPr id="29" name="Group 29"/>
          <p:cNvGrpSpPr/>
          <p:nvPr/>
        </p:nvGrpSpPr>
        <p:grpSpPr>
          <a:xfrm rot="0">
            <a:off x="13921740" y="3566160"/>
            <a:ext cx="1508760" cy="1508760"/>
            <a:chOff x="0" y="0"/>
            <a:chExt cx="2011680" cy="2011680"/>
          </a:xfrm>
        </p:grpSpPr>
        <p:sp>
          <p:nvSpPr>
            <p:cNvPr id="30" name="Freeform 30"/>
            <p:cNvSpPr/>
            <p:nvPr/>
          </p:nvSpPr>
          <p:spPr>
            <a:xfrm>
              <a:off x="0" y="0"/>
              <a:ext cx="2011680" cy="2011680"/>
            </a:xfrm>
            <a:custGeom>
              <a:avLst/>
              <a:gdLst/>
              <a:ahLst/>
              <a:cxnLst/>
              <a:rect l="l" t="t" r="r" b="b"/>
              <a:pathLst>
                <a:path w="2011680" h="2011680">
                  <a:moveTo>
                    <a:pt x="0" y="0"/>
                  </a:moveTo>
                  <a:lnTo>
                    <a:pt x="2011680" y="0"/>
                  </a:lnTo>
                  <a:lnTo>
                    <a:pt x="2011680" y="2011680"/>
                  </a:lnTo>
                  <a:lnTo>
                    <a:pt x="0" y="2011680"/>
                  </a:lnTo>
                  <a:close/>
                </a:path>
              </a:pathLst>
            </a:custGeom>
            <a:blipFill>
              <a:blip r:embed="rId1">
                <a:alphaModFix amt="0"/>
              </a:blip>
              <a:stretch>
                <a:fillRect l="-78303" r="-78303"/>
              </a:stretch>
            </a:blipFill>
          </p:spPr>
        </p:sp>
        <p:sp>
          <p:nvSpPr>
            <p:cNvPr id="31" name="TextBox 31"/>
            <p:cNvSpPr txBox="1"/>
            <p:nvPr/>
          </p:nvSpPr>
          <p:spPr>
            <a:xfrm>
              <a:off x="0" y="-85725"/>
              <a:ext cx="2011680" cy="2097405"/>
            </a:xfrm>
            <a:prstGeom prst="rect">
              <a:avLst/>
            </a:prstGeom>
          </p:spPr>
          <p:txBody>
            <a:bodyPr lIns="0" tIns="0" rIns="0" bIns="0" rtlCol="0" anchor="ctr"/>
            <a:lstStyle/>
            <a:p>
              <a:pPr algn="ctr">
                <a:lnSpc>
                  <a:spcPts val="5150"/>
                </a:lnSpc>
              </a:pPr>
              <a:r>
                <a:rPr lang="en-US" sz="4290" b="1">
                  <a:solidFill>
                    <a:srgbClr val="FFFFFF"/>
                  </a:solidFill>
                  <a:latin typeface="Calibri (MS) Bold" panose="020F0702030404030204"/>
                  <a:ea typeface="Calibri (MS) Bold" panose="020F0702030404030204"/>
                  <a:cs typeface="Calibri (MS) Bold" panose="020F0702030404030204"/>
                  <a:sym typeface="Calibri (MS) Bold" panose="020F0702030404030204"/>
                </a:rPr>
                <a:t>2</a:t>
              </a:r>
              <a:endParaRPr lang="en-US" sz="429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2" name="Group 32"/>
          <p:cNvGrpSpPr/>
          <p:nvPr/>
        </p:nvGrpSpPr>
        <p:grpSpPr>
          <a:xfrm rot="0">
            <a:off x="12893040" y="5212080"/>
            <a:ext cx="3566160" cy="822960"/>
            <a:chOff x="0" y="0"/>
            <a:chExt cx="4754880" cy="1097280"/>
          </a:xfrm>
        </p:grpSpPr>
        <p:sp>
          <p:nvSpPr>
            <p:cNvPr id="33" name="Freeform 33"/>
            <p:cNvSpPr/>
            <p:nvPr/>
          </p:nvSpPr>
          <p:spPr>
            <a:xfrm>
              <a:off x="0" y="0"/>
              <a:ext cx="4754880" cy="1097280"/>
            </a:xfrm>
            <a:custGeom>
              <a:avLst/>
              <a:gdLst/>
              <a:ahLst/>
              <a:cxnLst/>
              <a:rect l="l" t="t" r="r" b="b"/>
              <a:pathLst>
                <a:path w="4754880" h="1097280">
                  <a:moveTo>
                    <a:pt x="0" y="0"/>
                  </a:moveTo>
                  <a:lnTo>
                    <a:pt x="4754880" y="0"/>
                  </a:lnTo>
                  <a:lnTo>
                    <a:pt x="4754880" y="1097280"/>
                  </a:lnTo>
                  <a:lnTo>
                    <a:pt x="0" y="1097280"/>
                  </a:lnTo>
                  <a:close/>
                </a:path>
              </a:pathLst>
            </a:custGeom>
            <a:blipFill>
              <a:blip r:embed="rId1">
                <a:alphaModFix amt="0"/>
              </a:blip>
              <a:stretch>
                <a:fillRect t="-34435" b="-34435"/>
              </a:stretch>
            </a:blipFill>
          </p:spPr>
        </p:sp>
        <p:sp>
          <p:nvSpPr>
            <p:cNvPr id="34" name="TextBox 34"/>
            <p:cNvSpPr txBox="1"/>
            <p:nvPr/>
          </p:nvSpPr>
          <p:spPr>
            <a:xfrm>
              <a:off x="0" y="-57150"/>
              <a:ext cx="4754880" cy="1154430"/>
            </a:xfrm>
            <a:prstGeom prst="rect">
              <a:avLst/>
            </a:prstGeom>
          </p:spPr>
          <p:txBody>
            <a:bodyPr lIns="0" tIns="0" rIns="0" bIns="0" rtlCol="0" anchor="ctr"/>
            <a:lstStyle/>
            <a:p>
              <a:pPr algn="ctr">
                <a:lnSpc>
                  <a:spcPts val="2455"/>
                </a:lnSpc>
              </a:pPr>
              <a:r>
                <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rPr>
                <a:t>Hop 2</a:t>
              </a:r>
              <a:endPar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455"/>
                </a:lnSpc>
              </a:pPr>
              <a:r>
                <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rPr>
                <a:t>_gateway</a:t>
              </a:r>
              <a:endParaRPr lang="en-US" sz="195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5" name="Group 35"/>
          <p:cNvGrpSpPr/>
          <p:nvPr/>
        </p:nvGrpSpPr>
        <p:grpSpPr>
          <a:xfrm rot="0">
            <a:off x="12893040" y="5966460"/>
            <a:ext cx="3566160" cy="548640"/>
            <a:chOff x="0" y="0"/>
            <a:chExt cx="4754880" cy="731520"/>
          </a:xfrm>
        </p:grpSpPr>
        <p:sp>
          <p:nvSpPr>
            <p:cNvPr id="36" name="Freeform 36"/>
            <p:cNvSpPr/>
            <p:nvPr/>
          </p:nvSpPr>
          <p:spPr>
            <a:xfrm>
              <a:off x="0" y="0"/>
              <a:ext cx="4754880" cy="731520"/>
            </a:xfrm>
            <a:custGeom>
              <a:avLst/>
              <a:gdLst/>
              <a:ahLst/>
              <a:cxnLst/>
              <a:rect l="l" t="t" r="r" b="b"/>
              <a:pathLst>
                <a:path w="4754880" h="731520">
                  <a:moveTo>
                    <a:pt x="0" y="0"/>
                  </a:moveTo>
                  <a:lnTo>
                    <a:pt x="4754880" y="0"/>
                  </a:lnTo>
                  <a:lnTo>
                    <a:pt x="4754880" y="731520"/>
                  </a:lnTo>
                  <a:lnTo>
                    <a:pt x="0" y="731520"/>
                  </a:lnTo>
                  <a:close/>
                </a:path>
              </a:pathLst>
            </a:custGeom>
            <a:blipFill>
              <a:blip r:embed="rId1">
                <a:alphaModFix amt="0"/>
              </a:blip>
              <a:stretch>
                <a:fillRect t="-76652" b="-76652"/>
              </a:stretch>
            </a:blipFill>
          </p:spPr>
        </p:sp>
        <p:sp>
          <p:nvSpPr>
            <p:cNvPr id="37" name="TextBox 37"/>
            <p:cNvSpPr txBox="1"/>
            <p:nvPr/>
          </p:nvSpPr>
          <p:spPr>
            <a:xfrm>
              <a:off x="0" y="-28575"/>
              <a:ext cx="4754880" cy="760095"/>
            </a:xfrm>
            <a:prstGeom prst="rect">
              <a:avLst/>
            </a:prstGeom>
          </p:spPr>
          <p:txBody>
            <a:bodyPr lIns="0" tIns="0" rIns="0" bIns="0" rtlCol="0" anchor="ctr"/>
            <a:lstStyle/>
            <a:p>
              <a:pPr algn="ctr">
                <a:lnSpc>
                  <a:spcPts val="1980"/>
                </a:lnSpc>
              </a:pPr>
              <a:r>
                <a:rPr lang="en-US" sz="1650">
                  <a:solidFill>
                    <a:srgbClr val="6B7A8F"/>
                  </a:solidFill>
                  <a:latin typeface="Calibri (MS)" panose="020F0502020204030204"/>
                  <a:ea typeface="Calibri (MS)" panose="020F0502020204030204"/>
                  <a:cs typeface="Calibri (MS)" panose="020F0502020204030204"/>
                  <a:sym typeface="Calibri (MS)" panose="020F0502020204030204"/>
                </a:rPr>
                <a:t>77.080ms — reached</a:t>
              </a:r>
              <a:endParaRPr lang="en-US" sz="16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38" name="Group 38"/>
          <p:cNvGrpSpPr/>
          <p:nvPr/>
        </p:nvGrpSpPr>
        <p:grpSpPr>
          <a:xfrm rot="0">
            <a:off x="822960" y="6515100"/>
            <a:ext cx="16596360" cy="480060"/>
            <a:chOff x="0" y="0"/>
            <a:chExt cx="22128480" cy="640080"/>
          </a:xfrm>
        </p:grpSpPr>
        <p:sp>
          <p:nvSpPr>
            <p:cNvPr id="39" name="Freeform 39"/>
            <p:cNvSpPr/>
            <p:nvPr/>
          </p:nvSpPr>
          <p:spPr>
            <a:xfrm>
              <a:off x="0" y="0"/>
              <a:ext cx="22128480" cy="640080"/>
            </a:xfrm>
            <a:custGeom>
              <a:avLst/>
              <a:gdLst/>
              <a:ahLst/>
              <a:cxnLst/>
              <a:rect l="l" t="t" r="r" b="b"/>
              <a:pathLst>
                <a:path w="22128480" h="640080">
                  <a:moveTo>
                    <a:pt x="0" y="0"/>
                  </a:moveTo>
                  <a:lnTo>
                    <a:pt x="22128480" y="0"/>
                  </a:lnTo>
                  <a:lnTo>
                    <a:pt x="22128480" y="640080"/>
                  </a:lnTo>
                  <a:lnTo>
                    <a:pt x="0" y="640080"/>
                  </a:lnTo>
                  <a:close/>
                </a:path>
              </a:pathLst>
            </a:custGeom>
            <a:blipFill>
              <a:blip r:embed="rId1">
                <a:alphaModFix amt="0"/>
              </a:blip>
              <a:stretch>
                <a:fillRect t="-623625" b="-623625"/>
              </a:stretch>
            </a:blipFill>
          </p:spPr>
        </p:sp>
        <p:sp>
          <p:nvSpPr>
            <p:cNvPr id="40" name="TextBox 40"/>
            <p:cNvSpPr txBox="1"/>
            <p:nvPr/>
          </p:nvSpPr>
          <p:spPr>
            <a:xfrm>
              <a:off x="0" y="-38100"/>
              <a:ext cx="22128480" cy="678180"/>
            </a:xfrm>
            <a:prstGeom prst="rect">
              <a:avLst/>
            </a:prstGeom>
          </p:spPr>
          <p:txBody>
            <a:bodyPr lIns="0" tIns="0" rIns="0" bIns="0" rtlCol="0" anchor="ctr"/>
            <a:lstStyle/>
            <a:p>
              <a:pPr algn="ctr">
                <a:lnSpc>
                  <a:spcPts val="2250"/>
                </a:lnSpc>
              </a:pPr>
              <a:r>
                <a:rPr lang="en-US" sz="1875" i="1">
                  <a:solidFill>
                    <a:srgbClr val="6B7A8F"/>
                  </a:solidFill>
                  <a:latin typeface="Calibri (MS) Italics" panose="020F05020202040A0204"/>
                  <a:ea typeface="Calibri (MS) Italics" panose="020F05020202040A0204"/>
                  <a:cs typeface="Calibri (MS) Italics" panose="020F05020202040A0204"/>
                  <a:sym typeface="Calibri (MS) Italics" panose="020F05020202040A0204"/>
                </a:rPr>
                <a:t>Path MTU: 1500 (confirmed throughout)</a:t>
              </a:r>
              <a:endParaRPr lang="en-US" sz="1875" i="1">
                <a:solidFill>
                  <a:srgbClr val="6B7A8F"/>
                </a:solidFill>
                <a:latin typeface="Calibri (MS) Italics" panose="020F05020202040A0204"/>
                <a:ea typeface="Calibri (MS) Italics" panose="020F05020202040A0204"/>
                <a:cs typeface="Calibri (MS) Italics" panose="020F05020202040A0204"/>
                <a:sym typeface="Calibri (MS) Italics" panose="020F05020202040A0204"/>
              </a:endParaRPr>
            </a:p>
          </p:txBody>
        </p:sp>
      </p:grpSp>
      <p:sp>
        <p:nvSpPr>
          <p:cNvPr id="41" name="TextBox 41"/>
          <p:cNvSpPr txBox="1"/>
          <p:nvPr/>
        </p:nvSpPr>
        <p:spPr>
          <a:xfrm>
            <a:off x="822960" y="7536180"/>
            <a:ext cx="16596360" cy="1114044"/>
          </a:xfrm>
          <a:prstGeom prst="rect">
            <a:avLst/>
          </a:prstGeom>
        </p:spPr>
        <p:txBody>
          <a:bodyPr lIns="0" tIns="0" rIns="0" bIns="0" rtlCol="0" anchor="t">
            <a:spAutoFit/>
          </a:bodyPr>
          <a:lstStyle/>
          <a:p>
            <a:pPr marL="380365" lvl="1" indent="-189865" algn="l">
              <a:lnSpc>
                <a:spcPts val="2895"/>
              </a:lnSpc>
              <a:buFont typeface="Arial" panose="020B0604020202020204"/>
              <a:buChar char="•"/>
            </a:pPr>
            <a:r>
              <a:rPr lang="en-US" sz="2100">
                <a:solidFill>
                  <a:srgbClr val="1B2A4A"/>
                </a:solidFill>
                <a:latin typeface="Calibri (MS)" panose="020F0502020204030204"/>
                <a:ea typeface="Calibri (MS)" panose="020F0502020204030204"/>
                <a:cs typeface="Calibri (MS)" panose="020F0502020204030204"/>
                <a:sym typeface="Calibri (MS)" panose="020F0502020204030204"/>
              </a:rPr>
              <a:t>Hop 1: _gateway responded at 0.715ms and 0.577ms</a:t>
            </a:r>
            <a:endParaRPr lang="en-US" sz="2100">
              <a:solidFill>
                <a:srgbClr val="1B2A4A"/>
              </a:solidFill>
              <a:latin typeface="Calibri (MS)" panose="020F0502020204030204"/>
              <a:ea typeface="Calibri (MS)" panose="020F0502020204030204"/>
              <a:cs typeface="Calibri (MS)" panose="020F0502020204030204"/>
              <a:sym typeface="Calibri (MS)" panose="020F0502020204030204"/>
            </a:endParaRPr>
          </a:p>
          <a:p>
            <a:pPr marL="380365" lvl="1" indent="-189865" algn="l">
              <a:lnSpc>
                <a:spcPts val="2895"/>
              </a:lnSpc>
              <a:buFont typeface="Arial" panose="020B0604020202020204"/>
              <a:buChar char="•"/>
            </a:pPr>
            <a:r>
              <a:rPr lang="en-US" sz="2100">
                <a:solidFill>
                  <a:srgbClr val="1B2A4A"/>
                </a:solidFill>
                <a:latin typeface="Calibri (MS)" panose="020F0502020204030204"/>
                <a:ea typeface="Calibri (MS)" panose="020F0502020204030204"/>
                <a:cs typeface="Calibri (MS)" panose="020F0502020204030204"/>
                <a:sym typeface="Calibri (MS)" panose="020F0502020204030204"/>
              </a:rPr>
              <a:t>Hop 2: _gateway responded at 77.080ms — destination reached</a:t>
            </a:r>
            <a:endParaRPr lang="en-US" sz="2100">
              <a:solidFill>
                <a:srgbClr val="1B2A4A"/>
              </a:solidFill>
              <a:latin typeface="Calibri (MS)" panose="020F0502020204030204"/>
              <a:ea typeface="Calibri (MS)" panose="020F0502020204030204"/>
              <a:cs typeface="Calibri (MS)" panose="020F0502020204030204"/>
              <a:sym typeface="Calibri (MS)" panose="020F0502020204030204"/>
            </a:endParaRPr>
          </a:p>
          <a:p>
            <a:pPr algn="l">
              <a:lnSpc>
                <a:spcPts val="2895"/>
              </a:lnSpc>
            </a:pPr>
          </a:p>
        </p:txBody>
      </p:sp>
      <p:grpSp>
        <p:nvGrpSpPr>
          <p:cNvPr id="42" name="Group 42"/>
          <p:cNvGrpSpPr/>
          <p:nvPr/>
        </p:nvGrpSpPr>
        <p:grpSpPr>
          <a:xfrm rot="0">
            <a:off x="685800" y="9710928"/>
            <a:ext cx="10972800" cy="411480"/>
            <a:chOff x="0" y="0"/>
            <a:chExt cx="14630400" cy="548640"/>
          </a:xfrm>
        </p:grpSpPr>
        <p:sp>
          <p:nvSpPr>
            <p:cNvPr id="43" name="Freeform 4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44" name="TextBox 44"/>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45" name="Group 45"/>
          <p:cNvGrpSpPr/>
          <p:nvPr/>
        </p:nvGrpSpPr>
        <p:grpSpPr>
          <a:xfrm rot="0">
            <a:off x="16911828" y="9710928"/>
            <a:ext cx="685800" cy="411480"/>
            <a:chOff x="0" y="0"/>
            <a:chExt cx="914400" cy="548640"/>
          </a:xfrm>
        </p:grpSpPr>
        <p:sp>
          <p:nvSpPr>
            <p:cNvPr id="46" name="Freeform 46"/>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47" name="TextBox 47"/>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6</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822960" y="598170"/>
            <a:ext cx="16637508" cy="542925"/>
          </a:xfrm>
          <a:prstGeom prst="rect">
            <a:avLst/>
          </a:prstGeom>
        </p:spPr>
        <p:txBody>
          <a:bodyPr lIns="0" tIns="0" rIns="0" bIns="0" rtlCol="0" anchor="t">
            <a:spAutoFit/>
          </a:bodyPr>
          <a:lstStyle/>
          <a:p>
            <a:pPr algn="l">
              <a:lnSpc>
                <a:spcPts val="4140"/>
              </a:lnSpc>
            </a:pPr>
            <a:r>
              <a:rPr lang="en-US" sz="3450" b="1">
                <a:solidFill>
                  <a:srgbClr val="0D1B2A"/>
                </a:solidFill>
                <a:latin typeface="Cambria Bold" panose="02040803050406030204"/>
                <a:ea typeface="Cambria Bold" panose="02040803050406030204"/>
                <a:cs typeface="Cambria Bold" panose="02040803050406030204"/>
                <a:sym typeface="Cambria Bold" panose="02040803050406030204"/>
              </a:rPr>
              <a:t>Wireshark ICMP Capture</a:t>
            </a:r>
            <a:endParaRPr lang="en-US" sz="34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3" name="Group 3"/>
          <p:cNvGrpSpPr/>
          <p:nvPr/>
        </p:nvGrpSpPr>
        <p:grpSpPr>
          <a:xfrm rot="0">
            <a:off x="813435" y="3213735"/>
            <a:ext cx="8042910" cy="4613910"/>
            <a:chOff x="0" y="0"/>
            <a:chExt cx="10723880" cy="6151880"/>
          </a:xfrm>
        </p:grpSpPr>
        <p:sp>
          <p:nvSpPr>
            <p:cNvPr id="4" name="Freeform 4"/>
            <p:cNvSpPr/>
            <p:nvPr/>
          </p:nvSpPr>
          <p:spPr>
            <a:xfrm>
              <a:off x="0" y="0"/>
              <a:ext cx="10723880" cy="6151880"/>
            </a:xfrm>
            <a:custGeom>
              <a:avLst/>
              <a:gdLst/>
              <a:ahLst/>
              <a:cxnLst/>
              <a:rect l="l" t="t" r="r" b="b"/>
              <a:pathLst>
                <a:path w="10723880" h="6151880">
                  <a:moveTo>
                    <a:pt x="0" y="146939"/>
                  </a:moveTo>
                  <a:cubicBezTo>
                    <a:pt x="0" y="65786"/>
                    <a:pt x="65786" y="0"/>
                    <a:pt x="146939" y="0"/>
                  </a:cubicBezTo>
                  <a:lnTo>
                    <a:pt x="10576941" y="0"/>
                  </a:lnTo>
                  <a:cubicBezTo>
                    <a:pt x="10658094" y="0"/>
                    <a:pt x="10723880" y="65786"/>
                    <a:pt x="10723880" y="146939"/>
                  </a:cubicBezTo>
                  <a:lnTo>
                    <a:pt x="10723880" y="6004941"/>
                  </a:lnTo>
                  <a:cubicBezTo>
                    <a:pt x="10723880" y="6086094"/>
                    <a:pt x="10658094" y="6151880"/>
                    <a:pt x="10576941" y="6151880"/>
                  </a:cubicBezTo>
                  <a:lnTo>
                    <a:pt x="146939" y="6151880"/>
                  </a:lnTo>
                  <a:cubicBezTo>
                    <a:pt x="65786" y="6151880"/>
                    <a:pt x="0" y="6086094"/>
                    <a:pt x="0" y="6004941"/>
                  </a:cubicBezTo>
                  <a:close/>
                </a:path>
              </a:pathLst>
            </a:custGeom>
            <a:solidFill>
              <a:srgbClr val="FFFFFF"/>
            </a:solidFill>
            <a:ln w="19050" cap="sq">
              <a:solidFill>
                <a:srgbClr val="D9E0E8"/>
              </a:solidFill>
              <a:prstDash val="solid"/>
              <a:miter/>
            </a:ln>
          </p:spPr>
        </p:sp>
      </p:grpSp>
      <p:grpSp>
        <p:nvGrpSpPr>
          <p:cNvPr id="5" name="Group 5"/>
          <p:cNvGrpSpPr/>
          <p:nvPr/>
        </p:nvGrpSpPr>
        <p:grpSpPr>
          <a:xfrm rot="0">
            <a:off x="822960" y="3223260"/>
            <a:ext cx="8023860" cy="754380"/>
            <a:chOff x="0" y="0"/>
            <a:chExt cx="10698480" cy="1005840"/>
          </a:xfrm>
        </p:grpSpPr>
        <p:sp>
          <p:nvSpPr>
            <p:cNvPr id="6" name="Freeform 6"/>
            <p:cNvSpPr/>
            <p:nvPr/>
          </p:nvSpPr>
          <p:spPr>
            <a:xfrm>
              <a:off x="0" y="0"/>
              <a:ext cx="10698480" cy="1005840"/>
            </a:xfrm>
            <a:custGeom>
              <a:avLst/>
              <a:gdLst/>
              <a:ahLst/>
              <a:cxnLst/>
              <a:rect l="l" t="t" r="r" b="b"/>
              <a:pathLst>
                <a:path w="10698480" h="1005840">
                  <a:moveTo>
                    <a:pt x="0" y="0"/>
                  </a:moveTo>
                  <a:lnTo>
                    <a:pt x="10698480" y="0"/>
                  </a:lnTo>
                  <a:lnTo>
                    <a:pt x="10698480" y="1005840"/>
                  </a:lnTo>
                  <a:lnTo>
                    <a:pt x="0" y="1005840"/>
                  </a:lnTo>
                  <a:close/>
                </a:path>
              </a:pathLst>
            </a:custGeom>
            <a:solidFill>
              <a:srgbClr val="1B2A4A"/>
            </a:solidFill>
          </p:spPr>
        </p:sp>
      </p:grpSp>
      <p:grpSp>
        <p:nvGrpSpPr>
          <p:cNvPr id="7" name="Group 7"/>
          <p:cNvGrpSpPr/>
          <p:nvPr/>
        </p:nvGrpSpPr>
        <p:grpSpPr>
          <a:xfrm rot="0">
            <a:off x="1097280" y="3223260"/>
            <a:ext cx="7475220" cy="754380"/>
            <a:chOff x="0" y="0"/>
            <a:chExt cx="9966960" cy="1005840"/>
          </a:xfrm>
        </p:grpSpPr>
        <p:sp>
          <p:nvSpPr>
            <p:cNvPr id="8" name="Freeform 8"/>
            <p:cNvSpPr/>
            <p:nvPr/>
          </p:nvSpPr>
          <p:spPr>
            <a:xfrm>
              <a:off x="0" y="0"/>
              <a:ext cx="9966960" cy="1005840"/>
            </a:xfrm>
            <a:custGeom>
              <a:avLst/>
              <a:gdLst/>
              <a:ahLst/>
              <a:cxnLst/>
              <a:rect l="l" t="t" r="r" b="b"/>
              <a:pathLst>
                <a:path w="9966960" h="1005840">
                  <a:moveTo>
                    <a:pt x="0" y="0"/>
                  </a:moveTo>
                  <a:lnTo>
                    <a:pt x="9966960" y="0"/>
                  </a:lnTo>
                  <a:lnTo>
                    <a:pt x="9966960" y="1005840"/>
                  </a:lnTo>
                  <a:lnTo>
                    <a:pt x="0" y="1005840"/>
                  </a:lnTo>
                  <a:close/>
                </a:path>
              </a:pathLst>
            </a:custGeom>
            <a:blipFill>
              <a:blip r:embed="rId1">
                <a:alphaModFix amt="0"/>
              </a:blip>
              <a:stretch>
                <a:fillRect t="-143079" b="-143079"/>
              </a:stretch>
            </a:blipFill>
          </p:spPr>
        </p:sp>
        <p:sp>
          <p:nvSpPr>
            <p:cNvPr id="9" name="TextBox 9"/>
            <p:cNvSpPr txBox="1"/>
            <p:nvPr/>
          </p:nvSpPr>
          <p:spPr>
            <a:xfrm>
              <a:off x="0" y="-47625"/>
              <a:ext cx="9966960" cy="1053465"/>
            </a:xfrm>
            <a:prstGeom prst="rect">
              <a:avLst/>
            </a:prstGeom>
          </p:spPr>
          <p:txBody>
            <a:bodyPr lIns="0" tIns="0" rIns="0" bIns="0" rtlCol="0" anchor="ctr"/>
            <a:lstStyle/>
            <a:p>
              <a:pPr algn="l">
                <a:lnSpc>
                  <a:spcPts val="2520"/>
                </a:lnSpc>
              </a:pPr>
              <a:r>
                <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rPr>
                <a:t>Packet 1 — Echo Request</a:t>
              </a:r>
              <a:endPar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0" name="Group 10"/>
          <p:cNvGrpSpPr/>
          <p:nvPr/>
        </p:nvGrpSpPr>
        <p:grpSpPr>
          <a:xfrm rot="0">
            <a:off x="1234440" y="4293108"/>
            <a:ext cx="7200900" cy="384048"/>
            <a:chOff x="0" y="0"/>
            <a:chExt cx="9601200" cy="512064"/>
          </a:xfrm>
        </p:grpSpPr>
        <p:sp>
          <p:nvSpPr>
            <p:cNvPr id="11" name="Freeform 11"/>
            <p:cNvSpPr/>
            <p:nvPr/>
          </p:nvSpPr>
          <p:spPr>
            <a:xfrm>
              <a:off x="0" y="0"/>
              <a:ext cx="9601200" cy="512064"/>
            </a:xfrm>
            <a:custGeom>
              <a:avLst/>
              <a:gdLst/>
              <a:ahLst/>
              <a:cxnLst/>
              <a:rect l="l" t="t" r="r" b="b"/>
              <a:pathLst>
                <a:path w="9601200" h="512064">
                  <a:moveTo>
                    <a:pt x="0" y="0"/>
                  </a:moveTo>
                  <a:lnTo>
                    <a:pt x="9601200" y="0"/>
                  </a:lnTo>
                  <a:lnTo>
                    <a:pt x="9601200" y="512064"/>
                  </a:lnTo>
                  <a:lnTo>
                    <a:pt x="0" y="512064"/>
                  </a:lnTo>
                  <a:close/>
                </a:path>
              </a:pathLst>
            </a:custGeom>
            <a:blipFill>
              <a:blip r:embed="rId1">
                <a:alphaModFix amt="0"/>
              </a:blip>
              <a:stretch>
                <a:fillRect t="-315344" b="-315344"/>
              </a:stretch>
            </a:blipFill>
          </p:spPr>
        </p:sp>
        <p:sp>
          <p:nvSpPr>
            <p:cNvPr id="12" name="TextBox 12"/>
            <p:cNvSpPr txBox="1"/>
            <p:nvPr/>
          </p:nvSpPr>
          <p:spPr>
            <a:xfrm>
              <a:off x="0" y="-38100"/>
              <a:ext cx="9601200" cy="550164"/>
            </a:xfrm>
            <a:prstGeom prst="rect">
              <a:avLst/>
            </a:prstGeom>
          </p:spPr>
          <p:txBody>
            <a:bodyPr lIns="0" tIns="0" rIns="0" bIns="0" rtlCol="0" anchor="ctr"/>
            <a:lstStyle/>
            <a:p>
              <a:pPr algn="l">
                <a:lnSpc>
                  <a:spcPts val="1800"/>
                </a:lnSpc>
              </a:pPr>
              <a:r>
                <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rPr>
                <a:t>SOURCE</a:t>
              </a:r>
              <a:endPar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3" name="Group 13"/>
          <p:cNvGrpSpPr/>
          <p:nvPr/>
        </p:nvGrpSpPr>
        <p:grpSpPr>
          <a:xfrm rot="0">
            <a:off x="1234440" y="4677156"/>
            <a:ext cx="7200900" cy="576072"/>
            <a:chOff x="0" y="0"/>
            <a:chExt cx="9601200" cy="768096"/>
          </a:xfrm>
        </p:grpSpPr>
        <p:sp>
          <p:nvSpPr>
            <p:cNvPr id="14" name="Freeform 14"/>
            <p:cNvSpPr/>
            <p:nvPr/>
          </p:nvSpPr>
          <p:spPr>
            <a:xfrm>
              <a:off x="0" y="0"/>
              <a:ext cx="9601200" cy="768096"/>
            </a:xfrm>
            <a:custGeom>
              <a:avLst/>
              <a:gdLst/>
              <a:ahLst/>
              <a:cxnLst/>
              <a:rect l="l" t="t" r="r" b="b"/>
              <a:pathLst>
                <a:path w="9601200" h="768096">
                  <a:moveTo>
                    <a:pt x="0" y="0"/>
                  </a:moveTo>
                  <a:lnTo>
                    <a:pt x="9601200" y="0"/>
                  </a:lnTo>
                  <a:lnTo>
                    <a:pt x="9601200" y="768096"/>
                  </a:lnTo>
                  <a:lnTo>
                    <a:pt x="0" y="768096"/>
                  </a:lnTo>
                  <a:close/>
                </a:path>
              </a:pathLst>
            </a:custGeom>
            <a:blipFill>
              <a:blip r:embed="rId1">
                <a:alphaModFix amt="0"/>
              </a:blip>
              <a:stretch>
                <a:fillRect t="-193562" b="-193562"/>
              </a:stretch>
            </a:blipFill>
          </p:spPr>
        </p:sp>
        <p:sp>
          <p:nvSpPr>
            <p:cNvPr id="15" name="TextBox 15"/>
            <p:cNvSpPr txBox="1"/>
            <p:nvPr/>
          </p:nvSpPr>
          <p:spPr>
            <a:xfrm>
              <a:off x="0" y="-19050"/>
              <a:ext cx="9601200" cy="787146"/>
            </a:xfrm>
            <a:prstGeom prst="rect">
              <a:avLst/>
            </a:prstGeom>
          </p:spPr>
          <p:txBody>
            <a:bodyPr lIns="0" tIns="0" rIns="0" bIns="0" rtlCol="0" anchor="ctr"/>
            <a:lstStyle/>
            <a:p>
              <a:pPr algn="l">
                <a:lnSpc>
                  <a:spcPts val="3240"/>
                </a:lnSpc>
              </a:pPr>
              <a:r>
                <a:rPr lang="en-US" sz="2700" b="1">
                  <a:solidFill>
                    <a:srgbClr val="0D1B2A"/>
                  </a:solidFill>
                  <a:latin typeface="Cambria Bold" panose="02040803050406030204"/>
                  <a:ea typeface="Cambria Bold" panose="02040803050406030204"/>
                  <a:cs typeface="Cambria Bold" panose="02040803050406030204"/>
                  <a:sym typeface="Cambria Bold" panose="02040803050406030204"/>
                </a:rPr>
                <a:t>10.0.2.15</a:t>
              </a:r>
              <a:endParaRPr lang="en-US" sz="270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grpSp>
        <p:nvGrpSpPr>
          <p:cNvPr id="16" name="Group 16"/>
          <p:cNvGrpSpPr/>
          <p:nvPr/>
        </p:nvGrpSpPr>
        <p:grpSpPr>
          <a:xfrm rot="0">
            <a:off x="1234440" y="5417820"/>
            <a:ext cx="7200900" cy="384048"/>
            <a:chOff x="0" y="0"/>
            <a:chExt cx="9601200" cy="512064"/>
          </a:xfrm>
        </p:grpSpPr>
        <p:sp>
          <p:nvSpPr>
            <p:cNvPr id="17" name="Freeform 17"/>
            <p:cNvSpPr/>
            <p:nvPr/>
          </p:nvSpPr>
          <p:spPr>
            <a:xfrm>
              <a:off x="0" y="0"/>
              <a:ext cx="9601200" cy="512064"/>
            </a:xfrm>
            <a:custGeom>
              <a:avLst/>
              <a:gdLst/>
              <a:ahLst/>
              <a:cxnLst/>
              <a:rect l="l" t="t" r="r" b="b"/>
              <a:pathLst>
                <a:path w="9601200" h="512064">
                  <a:moveTo>
                    <a:pt x="0" y="0"/>
                  </a:moveTo>
                  <a:lnTo>
                    <a:pt x="9601200" y="0"/>
                  </a:lnTo>
                  <a:lnTo>
                    <a:pt x="9601200" y="512064"/>
                  </a:lnTo>
                  <a:lnTo>
                    <a:pt x="0" y="512064"/>
                  </a:lnTo>
                  <a:close/>
                </a:path>
              </a:pathLst>
            </a:custGeom>
            <a:blipFill>
              <a:blip r:embed="rId1">
                <a:alphaModFix amt="0"/>
              </a:blip>
              <a:stretch>
                <a:fillRect t="-315344" b="-315344"/>
              </a:stretch>
            </a:blipFill>
          </p:spPr>
        </p:sp>
        <p:sp>
          <p:nvSpPr>
            <p:cNvPr id="18" name="TextBox 18"/>
            <p:cNvSpPr txBox="1"/>
            <p:nvPr/>
          </p:nvSpPr>
          <p:spPr>
            <a:xfrm>
              <a:off x="0" y="-38100"/>
              <a:ext cx="9601200" cy="550164"/>
            </a:xfrm>
            <a:prstGeom prst="rect">
              <a:avLst/>
            </a:prstGeom>
          </p:spPr>
          <p:txBody>
            <a:bodyPr lIns="0" tIns="0" rIns="0" bIns="0" rtlCol="0" anchor="ctr"/>
            <a:lstStyle/>
            <a:p>
              <a:pPr algn="l">
                <a:lnSpc>
                  <a:spcPts val="1800"/>
                </a:lnSpc>
              </a:pPr>
              <a:r>
                <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rPr>
                <a:t>DESTINATION</a:t>
              </a:r>
              <a:endPar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19" name="Group 19"/>
          <p:cNvGrpSpPr/>
          <p:nvPr/>
        </p:nvGrpSpPr>
        <p:grpSpPr>
          <a:xfrm rot="0">
            <a:off x="1234440" y="5801868"/>
            <a:ext cx="7200900" cy="576072"/>
            <a:chOff x="0" y="0"/>
            <a:chExt cx="9601200" cy="768096"/>
          </a:xfrm>
        </p:grpSpPr>
        <p:sp>
          <p:nvSpPr>
            <p:cNvPr id="20" name="Freeform 20"/>
            <p:cNvSpPr/>
            <p:nvPr/>
          </p:nvSpPr>
          <p:spPr>
            <a:xfrm>
              <a:off x="0" y="0"/>
              <a:ext cx="9601200" cy="768096"/>
            </a:xfrm>
            <a:custGeom>
              <a:avLst/>
              <a:gdLst/>
              <a:ahLst/>
              <a:cxnLst/>
              <a:rect l="l" t="t" r="r" b="b"/>
              <a:pathLst>
                <a:path w="9601200" h="768096">
                  <a:moveTo>
                    <a:pt x="0" y="0"/>
                  </a:moveTo>
                  <a:lnTo>
                    <a:pt x="9601200" y="0"/>
                  </a:lnTo>
                  <a:lnTo>
                    <a:pt x="9601200" y="768096"/>
                  </a:lnTo>
                  <a:lnTo>
                    <a:pt x="0" y="768096"/>
                  </a:lnTo>
                  <a:close/>
                </a:path>
              </a:pathLst>
            </a:custGeom>
            <a:blipFill>
              <a:blip r:embed="rId1">
                <a:alphaModFix amt="0"/>
              </a:blip>
              <a:stretch>
                <a:fillRect t="-193562" b="-193562"/>
              </a:stretch>
            </a:blipFill>
          </p:spPr>
        </p:sp>
        <p:sp>
          <p:nvSpPr>
            <p:cNvPr id="21" name="TextBox 21"/>
            <p:cNvSpPr txBox="1"/>
            <p:nvPr/>
          </p:nvSpPr>
          <p:spPr>
            <a:xfrm>
              <a:off x="0" y="-19050"/>
              <a:ext cx="9601200" cy="787146"/>
            </a:xfrm>
            <a:prstGeom prst="rect">
              <a:avLst/>
            </a:prstGeom>
          </p:spPr>
          <p:txBody>
            <a:bodyPr lIns="0" tIns="0" rIns="0" bIns="0" rtlCol="0" anchor="ctr"/>
            <a:lstStyle/>
            <a:p>
              <a:pPr algn="l">
                <a:lnSpc>
                  <a:spcPts val="3240"/>
                </a:lnSpc>
              </a:pPr>
              <a:r>
                <a:rPr lang="en-US" sz="2700" b="1">
                  <a:solidFill>
                    <a:srgbClr val="0D1B2A"/>
                  </a:solidFill>
                  <a:latin typeface="Cambria Bold" panose="02040803050406030204"/>
                  <a:ea typeface="Cambria Bold" panose="02040803050406030204"/>
                  <a:cs typeface="Cambria Bold" panose="02040803050406030204"/>
                  <a:sym typeface="Cambria Bold" panose="02040803050406030204"/>
                </a:rPr>
                <a:t>10.0.2.2</a:t>
              </a:r>
              <a:endParaRPr lang="en-US" sz="270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grpSp>
        <p:nvGrpSpPr>
          <p:cNvPr id="22" name="Group 22"/>
          <p:cNvGrpSpPr/>
          <p:nvPr/>
        </p:nvGrpSpPr>
        <p:grpSpPr>
          <a:xfrm rot="0">
            <a:off x="1234440" y="6542532"/>
            <a:ext cx="7200900" cy="384048"/>
            <a:chOff x="0" y="0"/>
            <a:chExt cx="9601200" cy="512064"/>
          </a:xfrm>
        </p:grpSpPr>
        <p:sp>
          <p:nvSpPr>
            <p:cNvPr id="23" name="Freeform 23"/>
            <p:cNvSpPr/>
            <p:nvPr/>
          </p:nvSpPr>
          <p:spPr>
            <a:xfrm>
              <a:off x="0" y="0"/>
              <a:ext cx="9601200" cy="512064"/>
            </a:xfrm>
            <a:custGeom>
              <a:avLst/>
              <a:gdLst/>
              <a:ahLst/>
              <a:cxnLst/>
              <a:rect l="l" t="t" r="r" b="b"/>
              <a:pathLst>
                <a:path w="9601200" h="512064">
                  <a:moveTo>
                    <a:pt x="0" y="0"/>
                  </a:moveTo>
                  <a:lnTo>
                    <a:pt x="9601200" y="0"/>
                  </a:lnTo>
                  <a:lnTo>
                    <a:pt x="9601200" y="512064"/>
                  </a:lnTo>
                  <a:lnTo>
                    <a:pt x="0" y="512064"/>
                  </a:lnTo>
                  <a:close/>
                </a:path>
              </a:pathLst>
            </a:custGeom>
            <a:blipFill>
              <a:blip r:embed="rId1">
                <a:alphaModFix amt="0"/>
              </a:blip>
              <a:stretch>
                <a:fillRect t="-315344" b="-315344"/>
              </a:stretch>
            </a:blipFill>
          </p:spPr>
        </p:sp>
        <p:sp>
          <p:nvSpPr>
            <p:cNvPr id="24" name="TextBox 24"/>
            <p:cNvSpPr txBox="1"/>
            <p:nvPr/>
          </p:nvSpPr>
          <p:spPr>
            <a:xfrm>
              <a:off x="0" y="-38100"/>
              <a:ext cx="9601200" cy="550164"/>
            </a:xfrm>
            <a:prstGeom prst="rect">
              <a:avLst/>
            </a:prstGeom>
          </p:spPr>
          <p:txBody>
            <a:bodyPr lIns="0" tIns="0" rIns="0" bIns="0" rtlCol="0" anchor="ctr"/>
            <a:lstStyle/>
            <a:p>
              <a:pPr algn="l">
                <a:lnSpc>
                  <a:spcPts val="1800"/>
                </a:lnSpc>
              </a:pPr>
              <a:r>
                <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rPr>
                <a:t>PROTOCOL</a:t>
              </a:r>
              <a:endPar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5" name="Group 25"/>
          <p:cNvGrpSpPr/>
          <p:nvPr/>
        </p:nvGrpSpPr>
        <p:grpSpPr>
          <a:xfrm rot="0">
            <a:off x="1234440" y="6926580"/>
            <a:ext cx="7200900" cy="576072"/>
            <a:chOff x="0" y="0"/>
            <a:chExt cx="9601200" cy="768096"/>
          </a:xfrm>
        </p:grpSpPr>
        <p:sp>
          <p:nvSpPr>
            <p:cNvPr id="26" name="Freeform 26"/>
            <p:cNvSpPr/>
            <p:nvPr/>
          </p:nvSpPr>
          <p:spPr>
            <a:xfrm>
              <a:off x="0" y="0"/>
              <a:ext cx="9601200" cy="768096"/>
            </a:xfrm>
            <a:custGeom>
              <a:avLst/>
              <a:gdLst/>
              <a:ahLst/>
              <a:cxnLst/>
              <a:rect l="l" t="t" r="r" b="b"/>
              <a:pathLst>
                <a:path w="9601200" h="768096">
                  <a:moveTo>
                    <a:pt x="0" y="0"/>
                  </a:moveTo>
                  <a:lnTo>
                    <a:pt x="9601200" y="0"/>
                  </a:lnTo>
                  <a:lnTo>
                    <a:pt x="9601200" y="768096"/>
                  </a:lnTo>
                  <a:lnTo>
                    <a:pt x="0" y="768096"/>
                  </a:lnTo>
                  <a:close/>
                </a:path>
              </a:pathLst>
            </a:custGeom>
            <a:blipFill>
              <a:blip r:embed="rId1">
                <a:alphaModFix amt="0"/>
              </a:blip>
              <a:stretch>
                <a:fillRect t="-193562" b="-193562"/>
              </a:stretch>
            </a:blipFill>
          </p:spPr>
        </p:sp>
        <p:sp>
          <p:nvSpPr>
            <p:cNvPr id="27" name="TextBox 27"/>
            <p:cNvSpPr txBox="1"/>
            <p:nvPr/>
          </p:nvSpPr>
          <p:spPr>
            <a:xfrm>
              <a:off x="0" y="-19050"/>
              <a:ext cx="9601200" cy="787146"/>
            </a:xfrm>
            <a:prstGeom prst="rect">
              <a:avLst/>
            </a:prstGeom>
          </p:spPr>
          <p:txBody>
            <a:bodyPr lIns="0" tIns="0" rIns="0" bIns="0" rtlCol="0" anchor="ctr"/>
            <a:lstStyle/>
            <a:p>
              <a:pPr algn="l">
                <a:lnSpc>
                  <a:spcPts val="3240"/>
                </a:lnSpc>
              </a:pPr>
              <a:r>
                <a:rPr lang="en-US" sz="2700" b="1">
                  <a:solidFill>
                    <a:srgbClr val="0D1B2A"/>
                  </a:solidFill>
                  <a:latin typeface="Cambria Bold" panose="02040803050406030204"/>
                  <a:ea typeface="Cambria Bold" panose="02040803050406030204"/>
                  <a:cs typeface="Cambria Bold" panose="02040803050406030204"/>
                  <a:sym typeface="Cambria Bold" panose="02040803050406030204"/>
                </a:rPr>
                <a:t>ICMP</a:t>
              </a:r>
              <a:endParaRPr lang="en-US" sz="270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grpSp>
        <p:nvGrpSpPr>
          <p:cNvPr id="28" name="Group 28"/>
          <p:cNvGrpSpPr/>
          <p:nvPr/>
        </p:nvGrpSpPr>
        <p:grpSpPr>
          <a:xfrm rot="0">
            <a:off x="9385935" y="3213735"/>
            <a:ext cx="8042910" cy="4613910"/>
            <a:chOff x="0" y="0"/>
            <a:chExt cx="10723880" cy="6151880"/>
          </a:xfrm>
        </p:grpSpPr>
        <p:sp>
          <p:nvSpPr>
            <p:cNvPr id="29" name="Freeform 29"/>
            <p:cNvSpPr/>
            <p:nvPr/>
          </p:nvSpPr>
          <p:spPr>
            <a:xfrm>
              <a:off x="0" y="0"/>
              <a:ext cx="10723880" cy="6151880"/>
            </a:xfrm>
            <a:custGeom>
              <a:avLst/>
              <a:gdLst/>
              <a:ahLst/>
              <a:cxnLst/>
              <a:rect l="l" t="t" r="r" b="b"/>
              <a:pathLst>
                <a:path w="10723880" h="6151880">
                  <a:moveTo>
                    <a:pt x="0" y="146939"/>
                  </a:moveTo>
                  <a:cubicBezTo>
                    <a:pt x="0" y="65786"/>
                    <a:pt x="65786" y="0"/>
                    <a:pt x="146939" y="0"/>
                  </a:cubicBezTo>
                  <a:lnTo>
                    <a:pt x="10576941" y="0"/>
                  </a:lnTo>
                  <a:cubicBezTo>
                    <a:pt x="10658094" y="0"/>
                    <a:pt x="10723880" y="65786"/>
                    <a:pt x="10723880" y="146939"/>
                  </a:cubicBezTo>
                  <a:lnTo>
                    <a:pt x="10723880" y="6004941"/>
                  </a:lnTo>
                  <a:cubicBezTo>
                    <a:pt x="10723880" y="6086094"/>
                    <a:pt x="10658094" y="6151880"/>
                    <a:pt x="10576941" y="6151880"/>
                  </a:cubicBezTo>
                  <a:lnTo>
                    <a:pt x="146939" y="6151880"/>
                  </a:lnTo>
                  <a:cubicBezTo>
                    <a:pt x="65786" y="6151880"/>
                    <a:pt x="0" y="6086094"/>
                    <a:pt x="0" y="6004941"/>
                  </a:cubicBezTo>
                  <a:close/>
                </a:path>
              </a:pathLst>
            </a:custGeom>
            <a:solidFill>
              <a:srgbClr val="FFFFFF"/>
            </a:solidFill>
            <a:ln w="19050" cap="sq">
              <a:solidFill>
                <a:srgbClr val="D9E0E8"/>
              </a:solidFill>
              <a:prstDash val="solid"/>
              <a:miter/>
            </a:ln>
          </p:spPr>
        </p:sp>
      </p:grpSp>
      <p:grpSp>
        <p:nvGrpSpPr>
          <p:cNvPr id="30" name="Group 30"/>
          <p:cNvGrpSpPr/>
          <p:nvPr/>
        </p:nvGrpSpPr>
        <p:grpSpPr>
          <a:xfrm rot="0">
            <a:off x="9395460" y="3223260"/>
            <a:ext cx="8023860" cy="754380"/>
            <a:chOff x="0" y="0"/>
            <a:chExt cx="10698480" cy="1005840"/>
          </a:xfrm>
        </p:grpSpPr>
        <p:sp>
          <p:nvSpPr>
            <p:cNvPr id="31" name="Freeform 31"/>
            <p:cNvSpPr/>
            <p:nvPr/>
          </p:nvSpPr>
          <p:spPr>
            <a:xfrm>
              <a:off x="0" y="0"/>
              <a:ext cx="10698480" cy="1005840"/>
            </a:xfrm>
            <a:custGeom>
              <a:avLst/>
              <a:gdLst/>
              <a:ahLst/>
              <a:cxnLst/>
              <a:rect l="l" t="t" r="r" b="b"/>
              <a:pathLst>
                <a:path w="10698480" h="1005840">
                  <a:moveTo>
                    <a:pt x="0" y="0"/>
                  </a:moveTo>
                  <a:lnTo>
                    <a:pt x="10698480" y="0"/>
                  </a:lnTo>
                  <a:lnTo>
                    <a:pt x="10698480" y="1005840"/>
                  </a:lnTo>
                  <a:lnTo>
                    <a:pt x="0" y="1005840"/>
                  </a:lnTo>
                  <a:close/>
                </a:path>
              </a:pathLst>
            </a:custGeom>
            <a:solidFill>
              <a:srgbClr val="00C2D1"/>
            </a:solidFill>
          </p:spPr>
        </p:sp>
      </p:grpSp>
      <p:grpSp>
        <p:nvGrpSpPr>
          <p:cNvPr id="32" name="Group 32"/>
          <p:cNvGrpSpPr/>
          <p:nvPr/>
        </p:nvGrpSpPr>
        <p:grpSpPr>
          <a:xfrm rot="0">
            <a:off x="9669780" y="3223260"/>
            <a:ext cx="7475220" cy="754380"/>
            <a:chOff x="0" y="0"/>
            <a:chExt cx="9966960" cy="1005840"/>
          </a:xfrm>
        </p:grpSpPr>
        <p:sp>
          <p:nvSpPr>
            <p:cNvPr id="33" name="Freeform 33"/>
            <p:cNvSpPr/>
            <p:nvPr/>
          </p:nvSpPr>
          <p:spPr>
            <a:xfrm>
              <a:off x="0" y="0"/>
              <a:ext cx="9966960" cy="1005840"/>
            </a:xfrm>
            <a:custGeom>
              <a:avLst/>
              <a:gdLst/>
              <a:ahLst/>
              <a:cxnLst/>
              <a:rect l="l" t="t" r="r" b="b"/>
              <a:pathLst>
                <a:path w="9966960" h="1005840">
                  <a:moveTo>
                    <a:pt x="0" y="0"/>
                  </a:moveTo>
                  <a:lnTo>
                    <a:pt x="9966960" y="0"/>
                  </a:lnTo>
                  <a:lnTo>
                    <a:pt x="9966960" y="1005840"/>
                  </a:lnTo>
                  <a:lnTo>
                    <a:pt x="0" y="1005840"/>
                  </a:lnTo>
                  <a:close/>
                </a:path>
              </a:pathLst>
            </a:custGeom>
            <a:blipFill>
              <a:blip r:embed="rId1">
                <a:alphaModFix amt="0"/>
              </a:blip>
              <a:stretch>
                <a:fillRect t="-143079" b="-143079"/>
              </a:stretch>
            </a:blipFill>
          </p:spPr>
        </p:sp>
        <p:sp>
          <p:nvSpPr>
            <p:cNvPr id="34" name="TextBox 34"/>
            <p:cNvSpPr txBox="1"/>
            <p:nvPr/>
          </p:nvSpPr>
          <p:spPr>
            <a:xfrm>
              <a:off x="0" y="-47625"/>
              <a:ext cx="9966960" cy="1053465"/>
            </a:xfrm>
            <a:prstGeom prst="rect">
              <a:avLst/>
            </a:prstGeom>
          </p:spPr>
          <p:txBody>
            <a:bodyPr lIns="0" tIns="0" rIns="0" bIns="0" rtlCol="0" anchor="ctr"/>
            <a:lstStyle/>
            <a:p>
              <a:pPr algn="l">
                <a:lnSpc>
                  <a:spcPts val="2520"/>
                </a:lnSpc>
              </a:pPr>
              <a:r>
                <a:rPr lang="en-US" sz="2100" b="1">
                  <a:solidFill>
                    <a:srgbClr val="0D1B2A"/>
                  </a:solidFill>
                  <a:latin typeface="Calibri (MS) Bold" panose="020F0702030404030204"/>
                  <a:ea typeface="Calibri (MS) Bold" panose="020F0702030404030204"/>
                  <a:cs typeface="Calibri (MS) Bold" panose="020F0702030404030204"/>
                  <a:sym typeface="Calibri (MS) Bold" panose="020F0702030404030204"/>
                </a:rPr>
                <a:t>Packet 2 — Echo Reply</a:t>
              </a:r>
              <a:endParaRPr lang="en-US" sz="2100"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5" name="Group 35"/>
          <p:cNvGrpSpPr/>
          <p:nvPr/>
        </p:nvGrpSpPr>
        <p:grpSpPr>
          <a:xfrm rot="0">
            <a:off x="9806940" y="4293108"/>
            <a:ext cx="7200900" cy="384048"/>
            <a:chOff x="0" y="0"/>
            <a:chExt cx="9601200" cy="512064"/>
          </a:xfrm>
        </p:grpSpPr>
        <p:sp>
          <p:nvSpPr>
            <p:cNvPr id="36" name="Freeform 36"/>
            <p:cNvSpPr/>
            <p:nvPr/>
          </p:nvSpPr>
          <p:spPr>
            <a:xfrm>
              <a:off x="0" y="0"/>
              <a:ext cx="9601200" cy="512064"/>
            </a:xfrm>
            <a:custGeom>
              <a:avLst/>
              <a:gdLst/>
              <a:ahLst/>
              <a:cxnLst/>
              <a:rect l="l" t="t" r="r" b="b"/>
              <a:pathLst>
                <a:path w="9601200" h="512064">
                  <a:moveTo>
                    <a:pt x="0" y="0"/>
                  </a:moveTo>
                  <a:lnTo>
                    <a:pt x="9601200" y="0"/>
                  </a:lnTo>
                  <a:lnTo>
                    <a:pt x="9601200" y="512064"/>
                  </a:lnTo>
                  <a:lnTo>
                    <a:pt x="0" y="512064"/>
                  </a:lnTo>
                  <a:close/>
                </a:path>
              </a:pathLst>
            </a:custGeom>
            <a:blipFill>
              <a:blip r:embed="rId1">
                <a:alphaModFix amt="0"/>
              </a:blip>
              <a:stretch>
                <a:fillRect t="-315344" b="-315344"/>
              </a:stretch>
            </a:blipFill>
          </p:spPr>
        </p:sp>
        <p:sp>
          <p:nvSpPr>
            <p:cNvPr id="37" name="TextBox 37"/>
            <p:cNvSpPr txBox="1"/>
            <p:nvPr/>
          </p:nvSpPr>
          <p:spPr>
            <a:xfrm>
              <a:off x="0" y="-38100"/>
              <a:ext cx="9601200" cy="550164"/>
            </a:xfrm>
            <a:prstGeom prst="rect">
              <a:avLst/>
            </a:prstGeom>
          </p:spPr>
          <p:txBody>
            <a:bodyPr lIns="0" tIns="0" rIns="0" bIns="0" rtlCol="0" anchor="ctr"/>
            <a:lstStyle/>
            <a:p>
              <a:pPr algn="l">
                <a:lnSpc>
                  <a:spcPts val="1800"/>
                </a:lnSpc>
              </a:pPr>
              <a:r>
                <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rPr>
                <a:t>SOURCE</a:t>
              </a:r>
              <a:endPar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8" name="Group 38"/>
          <p:cNvGrpSpPr/>
          <p:nvPr/>
        </p:nvGrpSpPr>
        <p:grpSpPr>
          <a:xfrm rot="0">
            <a:off x="9806940" y="4677156"/>
            <a:ext cx="7200900" cy="576072"/>
            <a:chOff x="0" y="0"/>
            <a:chExt cx="9601200" cy="768096"/>
          </a:xfrm>
        </p:grpSpPr>
        <p:sp>
          <p:nvSpPr>
            <p:cNvPr id="39" name="Freeform 39"/>
            <p:cNvSpPr/>
            <p:nvPr/>
          </p:nvSpPr>
          <p:spPr>
            <a:xfrm>
              <a:off x="0" y="0"/>
              <a:ext cx="9601200" cy="768096"/>
            </a:xfrm>
            <a:custGeom>
              <a:avLst/>
              <a:gdLst/>
              <a:ahLst/>
              <a:cxnLst/>
              <a:rect l="l" t="t" r="r" b="b"/>
              <a:pathLst>
                <a:path w="9601200" h="768096">
                  <a:moveTo>
                    <a:pt x="0" y="0"/>
                  </a:moveTo>
                  <a:lnTo>
                    <a:pt x="9601200" y="0"/>
                  </a:lnTo>
                  <a:lnTo>
                    <a:pt x="9601200" y="768096"/>
                  </a:lnTo>
                  <a:lnTo>
                    <a:pt x="0" y="768096"/>
                  </a:lnTo>
                  <a:close/>
                </a:path>
              </a:pathLst>
            </a:custGeom>
            <a:blipFill>
              <a:blip r:embed="rId1">
                <a:alphaModFix amt="0"/>
              </a:blip>
              <a:stretch>
                <a:fillRect t="-193562" b="-193562"/>
              </a:stretch>
            </a:blipFill>
          </p:spPr>
        </p:sp>
        <p:sp>
          <p:nvSpPr>
            <p:cNvPr id="40" name="TextBox 40"/>
            <p:cNvSpPr txBox="1"/>
            <p:nvPr/>
          </p:nvSpPr>
          <p:spPr>
            <a:xfrm>
              <a:off x="0" y="-19050"/>
              <a:ext cx="9601200" cy="787146"/>
            </a:xfrm>
            <a:prstGeom prst="rect">
              <a:avLst/>
            </a:prstGeom>
          </p:spPr>
          <p:txBody>
            <a:bodyPr lIns="0" tIns="0" rIns="0" bIns="0" rtlCol="0" anchor="ctr"/>
            <a:lstStyle/>
            <a:p>
              <a:pPr algn="l">
                <a:lnSpc>
                  <a:spcPts val="3240"/>
                </a:lnSpc>
              </a:pPr>
              <a:r>
                <a:rPr lang="en-US" sz="2700" b="1">
                  <a:solidFill>
                    <a:srgbClr val="0D1B2A"/>
                  </a:solidFill>
                  <a:latin typeface="Cambria Bold" panose="02040803050406030204"/>
                  <a:ea typeface="Cambria Bold" panose="02040803050406030204"/>
                  <a:cs typeface="Cambria Bold" panose="02040803050406030204"/>
                  <a:sym typeface="Cambria Bold" panose="02040803050406030204"/>
                </a:rPr>
                <a:t>10.0.2.2</a:t>
              </a:r>
              <a:endParaRPr lang="en-US" sz="270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grpSp>
        <p:nvGrpSpPr>
          <p:cNvPr id="41" name="Group 41"/>
          <p:cNvGrpSpPr/>
          <p:nvPr/>
        </p:nvGrpSpPr>
        <p:grpSpPr>
          <a:xfrm rot="0">
            <a:off x="9806940" y="5417820"/>
            <a:ext cx="7200900" cy="384048"/>
            <a:chOff x="0" y="0"/>
            <a:chExt cx="9601200" cy="512064"/>
          </a:xfrm>
        </p:grpSpPr>
        <p:sp>
          <p:nvSpPr>
            <p:cNvPr id="42" name="Freeform 42"/>
            <p:cNvSpPr/>
            <p:nvPr/>
          </p:nvSpPr>
          <p:spPr>
            <a:xfrm>
              <a:off x="0" y="0"/>
              <a:ext cx="9601200" cy="512064"/>
            </a:xfrm>
            <a:custGeom>
              <a:avLst/>
              <a:gdLst/>
              <a:ahLst/>
              <a:cxnLst/>
              <a:rect l="l" t="t" r="r" b="b"/>
              <a:pathLst>
                <a:path w="9601200" h="512064">
                  <a:moveTo>
                    <a:pt x="0" y="0"/>
                  </a:moveTo>
                  <a:lnTo>
                    <a:pt x="9601200" y="0"/>
                  </a:lnTo>
                  <a:lnTo>
                    <a:pt x="9601200" y="512064"/>
                  </a:lnTo>
                  <a:lnTo>
                    <a:pt x="0" y="512064"/>
                  </a:lnTo>
                  <a:close/>
                </a:path>
              </a:pathLst>
            </a:custGeom>
            <a:blipFill>
              <a:blip r:embed="rId1">
                <a:alphaModFix amt="0"/>
              </a:blip>
              <a:stretch>
                <a:fillRect t="-315344" b="-315344"/>
              </a:stretch>
            </a:blipFill>
          </p:spPr>
        </p:sp>
        <p:sp>
          <p:nvSpPr>
            <p:cNvPr id="43" name="TextBox 43"/>
            <p:cNvSpPr txBox="1"/>
            <p:nvPr/>
          </p:nvSpPr>
          <p:spPr>
            <a:xfrm>
              <a:off x="0" y="-38100"/>
              <a:ext cx="9601200" cy="550164"/>
            </a:xfrm>
            <a:prstGeom prst="rect">
              <a:avLst/>
            </a:prstGeom>
          </p:spPr>
          <p:txBody>
            <a:bodyPr lIns="0" tIns="0" rIns="0" bIns="0" rtlCol="0" anchor="ctr"/>
            <a:lstStyle/>
            <a:p>
              <a:pPr algn="l">
                <a:lnSpc>
                  <a:spcPts val="1800"/>
                </a:lnSpc>
              </a:pPr>
              <a:r>
                <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rPr>
                <a:t>DESTINATION</a:t>
              </a:r>
              <a:endPar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44" name="Group 44"/>
          <p:cNvGrpSpPr/>
          <p:nvPr/>
        </p:nvGrpSpPr>
        <p:grpSpPr>
          <a:xfrm rot="0">
            <a:off x="9806940" y="5801868"/>
            <a:ext cx="7200900" cy="576072"/>
            <a:chOff x="0" y="0"/>
            <a:chExt cx="9601200" cy="768096"/>
          </a:xfrm>
        </p:grpSpPr>
        <p:sp>
          <p:nvSpPr>
            <p:cNvPr id="45" name="Freeform 45"/>
            <p:cNvSpPr/>
            <p:nvPr/>
          </p:nvSpPr>
          <p:spPr>
            <a:xfrm>
              <a:off x="0" y="0"/>
              <a:ext cx="9601200" cy="768096"/>
            </a:xfrm>
            <a:custGeom>
              <a:avLst/>
              <a:gdLst/>
              <a:ahLst/>
              <a:cxnLst/>
              <a:rect l="l" t="t" r="r" b="b"/>
              <a:pathLst>
                <a:path w="9601200" h="768096">
                  <a:moveTo>
                    <a:pt x="0" y="0"/>
                  </a:moveTo>
                  <a:lnTo>
                    <a:pt x="9601200" y="0"/>
                  </a:lnTo>
                  <a:lnTo>
                    <a:pt x="9601200" y="768096"/>
                  </a:lnTo>
                  <a:lnTo>
                    <a:pt x="0" y="768096"/>
                  </a:lnTo>
                  <a:close/>
                </a:path>
              </a:pathLst>
            </a:custGeom>
            <a:blipFill>
              <a:blip r:embed="rId1">
                <a:alphaModFix amt="0"/>
              </a:blip>
              <a:stretch>
                <a:fillRect t="-193562" b="-193562"/>
              </a:stretch>
            </a:blipFill>
          </p:spPr>
        </p:sp>
        <p:sp>
          <p:nvSpPr>
            <p:cNvPr id="46" name="TextBox 46"/>
            <p:cNvSpPr txBox="1"/>
            <p:nvPr/>
          </p:nvSpPr>
          <p:spPr>
            <a:xfrm>
              <a:off x="0" y="-19050"/>
              <a:ext cx="9601200" cy="787146"/>
            </a:xfrm>
            <a:prstGeom prst="rect">
              <a:avLst/>
            </a:prstGeom>
          </p:spPr>
          <p:txBody>
            <a:bodyPr lIns="0" tIns="0" rIns="0" bIns="0" rtlCol="0" anchor="ctr"/>
            <a:lstStyle/>
            <a:p>
              <a:pPr algn="l">
                <a:lnSpc>
                  <a:spcPts val="3240"/>
                </a:lnSpc>
              </a:pPr>
              <a:r>
                <a:rPr lang="en-US" sz="2700" b="1">
                  <a:solidFill>
                    <a:srgbClr val="0D1B2A"/>
                  </a:solidFill>
                  <a:latin typeface="Cambria Bold" panose="02040803050406030204"/>
                  <a:ea typeface="Cambria Bold" panose="02040803050406030204"/>
                  <a:cs typeface="Cambria Bold" panose="02040803050406030204"/>
                  <a:sym typeface="Cambria Bold" panose="02040803050406030204"/>
                </a:rPr>
                <a:t>10.0.2.15</a:t>
              </a:r>
              <a:endParaRPr lang="en-US" sz="270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grpSp>
        <p:nvGrpSpPr>
          <p:cNvPr id="47" name="Group 47"/>
          <p:cNvGrpSpPr/>
          <p:nvPr/>
        </p:nvGrpSpPr>
        <p:grpSpPr>
          <a:xfrm rot="0">
            <a:off x="9806940" y="6542532"/>
            <a:ext cx="7200900" cy="384048"/>
            <a:chOff x="0" y="0"/>
            <a:chExt cx="9601200" cy="512064"/>
          </a:xfrm>
        </p:grpSpPr>
        <p:sp>
          <p:nvSpPr>
            <p:cNvPr id="48" name="Freeform 48"/>
            <p:cNvSpPr/>
            <p:nvPr/>
          </p:nvSpPr>
          <p:spPr>
            <a:xfrm>
              <a:off x="0" y="0"/>
              <a:ext cx="9601200" cy="512064"/>
            </a:xfrm>
            <a:custGeom>
              <a:avLst/>
              <a:gdLst/>
              <a:ahLst/>
              <a:cxnLst/>
              <a:rect l="l" t="t" r="r" b="b"/>
              <a:pathLst>
                <a:path w="9601200" h="512064">
                  <a:moveTo>
                    <a:pt x="0" y="0"/>
                  </a:moveTo>
                  <a:lnTo>
                    <a:pt x="9601200" y="0"/>
                  </a:lnTo>
                  <a:lnTo>
                    <a:pt x="9601200" y="512064"/>
                  </a:lnTo>
                  <a:lnTo>
                    <a:pt x="0" y="512064"/>
                  </a:lnTo>
                  <a:close/>
                </a:path>
              </a:pathLst>
            </a:custGeom>
            <a:blipFill>
              <a:blip r:embed="rId1">
                <a:alphaModFix amt="0"/>
              </a:blip>
              <a:stretch>
                <a:fillRect t="-315344" b="-315344"/>
              </a:stretch>
            </a:blipFill>
          </p:spPr>
        </p:sp>
        <p:sp>
          <p:nvSpPr>
            <p:cNvPr id="49" name="TextBox 49"/>
            <p:cNvSpPr txBox="1"/>
            <p:nvPr/>
          </p:nvSpPr>
          <p:spPr>
            <a:xfrm>
              <a:off x="0" y="-38100"/>
              <a:ext cx="9601200" cy="550164"/>
            </a:xfrm>
            <a:prstGeom prst="rect">
              <a:avLst/>
            </a:prstGeom>
          </p:spPr>
          <p:txBody>
            <a:bodyPr lIns="0" tIns="0" rIns="0" bIns="0" rtlCol="0" anchor="ctr"/>
            <a:lstStyle/>
            <a:p>
              <a:pPr algn="l">
                <a:lnSpc>
                  <a:spcPts val="1800"/>
                </a:lnSpc>
              </a:pPr>
              <a:r>
                <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rPr>
                <a:t>PROTOCOL</a:t>
              </a:r>
              <a:endParaRPr lang="en-US" sz="1500" b="1">
                <a:solidFill>
                  <a:srgbClr val="6B7A8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50" name="Group 50"/>
          <p:cNvGrpSpPr/>
          <p:nvPr/>
        </p:nvGrpSpPr>
        <p:grpSpPr>
          <a:xfrm rot="0">
            <a:off x="9806940" y="6926580"/>
            <a:ext cx="7200900" cy="576072"/>
            <a:chOff x="0" y="0"/>
            <a:chExt cx="9601200" cy="768096"/>
          </a:xfrm>
        </p:grpSpPr>
        <p:sp>
          <p:nvSpPr>
            <p:cNvPr id="51" name="Freeform 51"/>
            <p:cNvSpPr/>
            <p:nvPr/>
          </p:nvSpPr>
          <p:spPr>
            <a:xfrm>
              <a:off x="0" y="0"/>
              <a:ext cx="9601200" cy="768096"/>
            </a:xfrm>
            <a:custGeom>
              <a:avLst/>
              <a:gdLst/>
              <a:ahLst/>
              <a:cxnLst/>
              <a:rect l="l" t="t" r="r" b="b"/>
              <a:pathLst>
                <a:path w="9601200" h="768096">
                  <a:moveTo>
                    <a:pt x="0" y="0"/>
                  </a:moveTo>
                  <a:lnTo>
                    <a:pt x="9601200" y="0"/>
                  </a:lnTo>
                  <a:lnTo>
                    <a:pt x="9601200" y="768096"/>
                  </a:lnTo>
                  <a:lnTo>
                    <a:pt x="0" y="768096"/>
                  </a:lnTo>
                  <a:close/>
                </a:path>
              </a:pathLst>
            </a:custGeom>
            <a:blipFill>
              <a:blip r:embed="rId1">
                <a:alphaModFix amt="0"/>
              </a:blip>
              <a:stretch>
                <a:fillRect t="-193562" b="-193562"/>
              </a:stretch>
            </a:blipFill>
          </p:spPr>
        </p:sp>
        <p:sp>
          <p:nvSpPr>
            <p:cNvPr id="52" name="TextBox 52"/>
            <p:cNvSpPr txBox="1"/>
            <p:nvPr/>
          </p:nvSpPr>
          <p:spPr>
            <a:xfrm>
              <a:off x="0" y="-19050"/>
              <a:ext cx="9601200" cy="787146"/>
            </a:xfrm>
            <a:prstGeom prst="rect">
              <a:avLst/>
            </a:prstGeom>
          </p:spPr>
          <p:txBody>
            <a:bodyPr lIns="0" tIns="0" rIns="0" bIns="0" rtlCol="0" anchor="ctr"/>
            <a:lstStyle/>
            <a:p>
              <a:pPr algn="l">
                <a:lnSpc>
                  <a:spcPts val="3240"/>
                </a:lnSpc>
              </a:pPr>
              <a:r>
                <a:rPr lang="en-US" sz="2700" b="1">
                  <a:solidFill>
                    <a:srgbClr val="0D1B2A"/>
                  </a:solidFill>
                  <a:latin typeface="Cambria Bold" panose="02040803050406030204"/>
                  <a:ea typeface="Cambria Bold" panose="02040803050406030204"/>
                  <a:cs typeface="Cambria Bold" panose="02040803050406030204"/>
                  <a:sym typeface="Cambria Bold" panose="02040803050406030204"/>
                </a:rPr>
                <a:t>ICMP</a:t>
              </a:r>
              <a:endParaRPr lang="en-US" sz="270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sp>
        <p:nvSpPr>
          <p:cNvPr id="53" name="AutoShape 53"/>
          <p:cNvSpPr/>
          <p:nvPr/>
        </p:nvSpPr>
        <p:spPr>
          <a:xfrm rot="290640">
            <a:off x="8895540" y="5511165"/>
            <a:ext cx="451190" cy="0"/>
          </a:xfrm>
          <a:prstGeom prst="line">
            <a:avLst/>
          </a:prstGeom>
          <a:ln w="19050" cap="rnd">
            <a:solidFill>
              <a:srgbClr val="AAB6C4"/>
            </a:solidFill>
            <a:prstDash val="solid"/>
            <a:headEnd type="none" w="sm" len="sm"/>
            <a:tailEnd type="triangle" w="lg" len="med"/>
          </a:ln>
        </p:spPr>
      </p:sp>
      <p:sp>
        <p:nvSpPr>
          <p:cNvPr id="54" name="TextBox 54"/>
          <p:cNvSpPr txBox="1"/>
          <p:nvPr/>
        </p:nvSpPr>
        <p:spPr>
          <a:xfrm>
            <a:off x="822960" y="8153400"/>
            <a:ext cx="16596360" cy="742315"/>
          </a:xfrm>
          <a:prstGeom prst="rect">
            <a:avLst/>
          </a:prstGeom>
        </p:spPr>
        <p:txBody>
          <a:bodyPr lIns="0" tIns="0" rIns="0" bIns="0" rtlCol="0" anchor="t">
            <a:spAutoFit/>
          </a:bodyPr>
          <a:lstStyle/>
          <a:p>
            <a:pPr marL="380365" lvl="1" indent="-189865" algn="l">
              <a:lnSpc>
                <a:spcPts val="2895"/>
              </a:lnSpc>
              <a:buFont typeface="Arial" panose="020B0604020202020204"/>
              <a:buChar char="•"/>
            </a:pPr>
            <a:r>
              <a:rPr lang="en-US" sz="2100">
                <a:solidFill>
                  <a:srgbClr val="1B2A4A"/>
                </a:solidFill>
                <a:latin typeface="Calibri (MS)" panose="020F0502020204030204"/>
                <a:ea typeface="Calibri (MS)" panose="020F0502020204030204"/>
                <a:cs typeface="Calibri (MS)" panose="020F0502020204030204"/>
                <a:sym typeface="Calibri (MS)" panose="020F0502020204030204"/>
              </a:rPr>
              <a:t>Wireshark capture reflects the ping activity observed in Task 3 at the packet level</a:t>
            </a:r>
            <a:endParaRPr lang="en-US" sz="2100">
              <a:solidFill>
                <a:srgbClr val="1B2A4A"/>
              </a:solidFill>
              <a:latin typeface="Calibri (MS)" panose="020F0502020204030204"/>
              <a:ea typeface="Calibri (MS)" panose="020F0502020204030204"/>
              <a:cs typeface="Calibri (MS)" panose="020F0502020204030204"/>
              <a:sym typeface="Calibri (MS)" panose="020F0502020204030204"/>
            </a:endParaRPr>
          </a:p>
          <a:p>
            <a:pPr marL="190500" lvl="1" indent="0" algn="l">
              <a:lnSpc>
                <a:spcPts val="2895"/>
              </a:lnSpc>
              <a:buFont typeface="Arial" panose="020B0604020202020204"/>
              <a:buNone/>
            </a:pPr>
            <a:endParaRPr lang="en-US" sz="2100">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nvGrpSpPr>
          <p:cNvPr id="55" name="Group 55"/>
          <p:cNvGrpSpPr/>
          <p:nvPr/>
        </p:nvGrpSpPr>
        <p:grpSpPr>
          <a:xfrm rot="0">
            <a:off x="685800" y="9710928"/>
            <a:ext cx="10972800" cy="411480"/>
            <a:chOff x="0" y="0"/>
            <a:chExt cx="14630400" cy="548640"/>
          </a:xfrm>
        </p:grpSpPr>
        <p:sp>
          <p:nvSpPr>
            <p:cNvPr id="56" name="Freeform 56"/>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57" name="TextBox 57"/>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58" name="Group 58"/>
          <p:cNvGrpSpPr/>
          <p:nvPr/>
        </p:nvGrpSpPr>
        <p:grpSpPr>
          <a:xfrm rot="0">
            <a:off x="16911828" y="9710928"/>
            <a:ext cx="685800" cy="411480"/>
            <a:chOff x="0" y="0"/>
            <a:chExt cx="914400" cy="548640"/>
          </a:xfrm>
        </p:grpSpPr>
        <p:sp>
          <p:nvSpPr>
            <p:cNvPr id="59" name="Freeform 59"/>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60" name="TextBox 60"/>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7</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822960" y="598170"/>
            <a:ext cx="16637508" cy="542925"/>
          </a:xfrm>
          <a:prstGeom prst="rect">
            <a:avLst/>
          </a:prstGeom>
        </p:spPr>
        <p:txBody>
          <a:bodyPr lIns="0" tIns="0" rIns="0" bIns="0" rtlCol="0" anchor="t">
            <a:spAutoFit/>
          </a:bodyPr>
          <a:lstStyle/>
          <a:p>
            <a:pPr algn="l">
              <a:lnSpc>
                <a:spcPts val="4140"/>
              </a:lnSpc>
            </a:pPr>
            <a:r>
              <a:rPr lang="en-US" sz="3450" b="1">
                <a:solidFill>
                  <a:srgbClr val="0D1B2A"/>
                </a:solidFill>
                <a:latin typeface="Cambria Bold" panose="02040803050406030204"/>
                <a:ea typeface="Cambria Bold" panose="02040803050406030204"/>
                <a:cs typeface="Cambria Bold" panose="02040803050406030204"/>
                <a:sym typeface="Cambria Bold" panose="02040803050406030204"/>
              </a:rPr>
              <a:t>Wireshark DNS Capture </a:t>
            </a:r>
            <a:endParaRPr lang="en-US" sz="34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3" name="Group 3"/>
          <p:cNvGrpSpPr/>
          <p:nvPr/>
        </p:nvGrpSpPr>
        <p:grpSpPr>
          <a:xfrm rot="0">
            <a:off x="1224915" y="4242435"/>
            <a:ext cx="3996690" cy="1802130"/>
            <a:chOff x="0" y="0"/>
            <a:chExt cx="5328920" cy="2402840"/>
          </a:xfrm>
        </p:grpSpPr>
        <p:sp>
          <p:nvSpPr>
            <p:cNvPr id="4" name="Freeform 4"/>
            <p:cNvSpPr/>
            <p:nvPr/>
          </p:nvSpPr>
          <p:spPr>
            <a:xfrm>
              <a:off x="0" y="0"/>
              <a:ext cx="5328920" cy="2402840"/>
            </a:xfrm>
            <a:custGeom>
              <a:avLst/>
              <a:gdLst/>
              <a:ahLst/>
              <a:cxnLst/>
              <a:rect l="l" t="t" r="r" b="b"/>
              <a:pathLst>
                <a:path w="5328920" h="2402840">
                  <a:moveTo>
                    <a:pt x="0" y="147828"/>
                  </a:moveTo>
                  <a:cubicBezTo>
                    <a:pt x="0" y="66167"/>
                    <a:pt x="66167" y="0"/>
                    <a:pt x="147828" y="0"/>
                  </a:cubicBezTo>
                  <a:lnTo>
                    <a:pt x="5181092" y="0"/>
                  </a:lnTo>
                  <a:cubicBezTo>
                    <a:pt x="5262753" y="0"/>
                    <a:pt x="5328920" y="66167"/>
                    <a:pt x="5328920" y="147828"/>
                  </a:cubicBezTo>
                  <a:lnTo>
                    <a:pt x="5328920" y="2255012"/>
                  </a:lnTo>
                  <a:cubicBezTo>
                    <a:pt x="5328920" y="2336673"/>
                    <a:pt x="5262753" y="2402840"/>
                    <a:pt x="5181092" y="2402840"/>
                  </a:cubicBezTo>
                  <a:lnTo>
                    <a:pt x="147828" y="2402840"/>
                  </a:lnTo>
                  <a:cubicBezTo>
                    <a:pt x="66167" y="2402840"/>
                    <a:pt x="0" y="2336673"/>
                    <a:pt x="0" y="2255012"/>
                  </a:cubicBezTo>
                  <a:close/>
                </a:path>
              </a:pathLst>
            </a:custGeom>
            <a:solidFill>
              <a:srgbClr val="1B2A4A"/>
            </a:solidFill>
            <a:ln w="19050" cap="sq">
              <a:solidFill>
                <a:srgbClr val="26405F"/>
              </a:solidFill>
              <a:prstDash val="solid"/>
              <a:miter/>
            </a:ln>
          </p:spPr>
        </p:sp>
      </p:grpSp>
      <p:grpSp>
        <p:nvGrpSpPr>
          <p:cNvPr id="5" name="Group 5"/>
          <p:cNvGrpSpPr/>
          <p:nvPr/>
        </p:nvGrpSpPr>
        <p:grpSpPr>
          <a:xfrm rot="0">
            <a:off x="1234440" y="4251960"/>
            <a:ext cx="3977640" cy="1783080"/>
            <a:chOff x="0" y="0"/>
            <a:chExt cx="5303520" cy="2377440"/>
          </a:xfrm>
        </p:grpSpPr>
        <p:sp>
          <p:nvSpPr>
            <p:cNvPr id="6" name="Freeform 6"/>
            <p:cNvSpPr/>
            <p:nvPr/>
          </p:nvSpPr>
          <p:spPr>
            <a:xfrm>
              <a:off x="0" y="0"/>
              <a:ext cx="5303520" cy="2377440"/>
            </a:xfrm>
            <a:custGeom>
              <a:avLst/>
              <a:gdLst/>
              <a:ahLst/>
              <a:cxnLst/>
              <a:rect l="l" t="t" r="r" b="b"/>
              <a:pathLst>
                <a:path w="5303520" h="2377440">
                  <a:moveTo>
                    <a:pt x="0" y="0"/>
                  </a:moveTo>
                  <a:lnTo>
                    <a:pt x="5303520" y="0"/>
                  </a:lnTo>
                  <a:lnTo>
                    <a:pt x="5303520" y="2377440"/>
                  </a:lnTo>
                  <a:lnTo>
                    <a:pt x="0" y="2377440"/>
                  </a:lnTo>
                  <a:close/>
                </a:path>
              </a:pathLst>
            </a:custGeom>
            <a:blipFill>
              <a:blip r:embed="rId1">
                <a:alphaModFix amt="0"/>
              </a:blip>
              <a:stretch>
                <a:fillRect l="-7515" r="-7515"/>
              </a:stretch>
            </a:blipFill>
          </p:spPr>
        </p:sp>
        <p:sp>
          <p:nvSpPr>
            <p:cNvPr id="7" name="TextBox 7"/>
            <p:cNvSpPr txBox="1"/>
            <p:nvPr/>
          </p:nvSpPr>
          <p:spPr>
            <a:xfrm>
              <a:off x="0" y="-47625"/>
              <a:ext cx="5303520" cy="2425065"/>
            </a:xfrm>
            <a:prstGeom prst="rect">
              <a:avLst/>
            </a:prstGeom>
          </p:spPr>
          <p:txBody>
            <a:bodyPr lIns="0" tIns="0" rIns="0" bIns="0" rtlCol="0" anchor="ctr"/>
            <a:lstStyle/>
            <a:p>
              <a:pPr algn="ctr">
                <a:lnSpc>
                  <a:spcPts val="2520"/>
                </a:lnSpc>
              </a:pPr>
              <a:r>
                <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rPr>
                <a:t>Workstation</a:t>
              </a:r>
              <a:endPar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520"/>
                </a:lnSpc>
              </a:pPr>
              <a:r>
                <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rPr>
                <a:t>10.0.2.15</a:t>
              </a:r>
              <a:endPar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8" name="Group 8"/>
          <p:cNvGrpSpPr/>
          <p:nvPr/>
        </p:nvGrpSpPr>
        <p:grpSpPr>
          <a:xfrm rot="0">
            <a:off x="13020675" y="4242435"/>
            <a:ext cx="3996690" cy="1802130"/>
            <a:chOff x="0" y="0"/>
            <a:chExt cx="5328920" cy="2402840"/>
          </a:xfrm>
        </p:grpSpPr>
        <p:sp>
          <p:nvSpPr>
            <p:cNvPr id="9" name="Freeform 9"/>
            <p:cNvSpPr/>
            <p:nvPr/>
          </p:nvSpPr>
          <p:spPr>
            <a:xfrm>
              <a:off x="0" y="0"/>
              <a:ext cx="5328920" cy="2402840"/>
            </a:xfrm>
            <a:custGeom>
              <a:avLst/>
              <a:gdLst/>
              <a:ahLst/>
              <a:cxnLst/>
              <a:rect l="l" t="t" r="r" b="b"/>
              <a:pathLst>
                <a:path w="5328920" h="2402840">
                  <a:moveTo>
                    <a:pt x="0" y="147828"/>
                  </a:moveTo>
                  <a:cubicBezTo>
                    <a:pt x="0" y="66167"/>
                    <a:pt x="66167" y="0"/>
                    <a:pt x="147828" y="0"/>
                  </a:cubicBezTo>
                  <a:lnTo>
                    <a:pt x="5181092" y="0"/>
                  </a:lnTo>
                  <a:cubicBezTo>
                    <a:pt x="5262753" y="0"/>
                    <a:pt x="5328920" y="66167"/>
                    <a:pt x="5328920" y="147828"/>
                  </a:cubicBezTo>
                  <a:lnTo>
                    <a:pt x="5328920" y="2255012"/>
                  </a:lnTo>
                  <a:cubicBezTo>
                    <a:pt x="5328920" y="2336673"/>
                    <a:pt x="5262753" y="2402840"/>
                    <a:pt x="5181092" y="2402840"/>
                  </a:cubicBezTo>
                  <a:lnTo>
                    <a:pt x="147828" y="2402840"/>
                  </a:lnTo>
                  <a:cubicBezTo>
                    <a:pt x="66167" y="2402840"/>
                    <a:pt x="0" y="2336673"/>
                    <a:pt x="0" y="2255012"/>
                  </a:cubicBezTo>
                  <a:close/>
                </a:path>
              </a:pathLst>
            </a:custGeom>
            <a:solidFill>
              <a:srgbClr val="1B2A4A"/>
            </a:solidFill>
            <a:ln w="19050" cap="sq">
              <a:solidFill>
                <a:srgbClr val="26405F"/>
              </a:solidFill>
              <a:prstDash val="solid"/>
              <a:miter/>
            </a:ln>
          </p:spPr>
        </p:sp>
      </p:grpSp>
      <p:grpSp>
        <p:nvGrpSpPr>
          <p:cNvPr id="10" name="Group 10"/>
          <p:cNvGrpSpPr/>
          <p:nvPr/>
        </p:nvGrpSpPr>
        <p:grpSpPr>
          <a:xfrm rot="0">
            <a:off x="13030200" y="4251960"/>
            <a:ext cx="3977640" cy="1783080"/>
            <a:chOff x="0" y="0"/>
            <a:chExt cx="5303520" cy="2377440"/>
          </a:xfrm>
        </p:grpSpPr>
        <p:sp>
          <p:nvSpPr>
            <p:cNvPr id="11" name="Freeform 11"/>
            <p:cNvSpPr/>
            <p:nvPr/>
          </p:nvSpPr>
          <p:spPr>
            <a:xfrm>
              <a:off x="0" y="0"/>
              <a:ext cx="5303520" cy="2377440"/>
            </a:xfrm>
            <a:custGeom>
              <a:avLst/>
              <a:gdLst/>
              <a:ahLst/>
              <a:cxnLst/>
              <a:rect l="l" t="t" r="r" b="b"/>
              <a:pathLst>
                <a:path w="5303520" h="2377440">
                  <a:moveTo>
                    <a:pt x="0" y="0"/>
                  </a:moveTo>
                  <a:lnTo>
                    <a:pt x="5303520" y="0"/>
                  </a:lnTo>
                  <a:lnTo>
                    <a:pt x="5303520" y="2377440"/>
                  </a:lnTo>
                  <a:lnTo>
                    <a:pt x="0" y="2377440"/>
                  </a:lnTo>
                  <a:close/>
                </a:path>
              </a:pathLst>
            </a:custGeom>
            <a:blipFill>
              <a:blip r:embed="rId1">
                <a:alphaModFix amt="0"/>
              </a:blip>
              <a:stretch>
                <a:fillRect l="-7515" r="-7515"/>
              </a:stretch>
            </a:blipFill>
          </p:spPr>
        </p:sp>
        <p:sp>
          <p:nvSpPr>
            <p:cNvPr id="12" name="TextBox 12"/>
            <p:cNvSpPr txBox="1"/>
            <p:nvPr/>
          </p:nvSpPr>
          <p:spPr>
            <a:xfrm>
              <a:off x="0" y="-47625"/>
              <a:ext cx="5303520" cy="2425065"/>
            </a:xfrm>
            <a:prstGeom prst="rect">
              <a:avLst/>
            </a:prstGeom>
          </p:spPr>
          <p:txBody>
            <a:bodyPr lIns="0" tIns="0" rIns="0" bIns="0" rtlCol="0" anchor="ctr"/>
            <a:lstStyle/>
            <a:p>
              <a:pPr algn="ctr">
                <a:lnSpc>
                  <a:spcPts val="2520"/>
                </a:lnSpc>
              </a:pPr>
              <a:r>
                <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rPr>
                <a:t>Google DNS</a:t>
              </a:r>
              <a:endPar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520"/>
                </a:lnSpc>
              </a:pPr>
              <a:r>
                <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rPr>
                <a:t>8.8.8.8</a:t>
              </a:r>
              <a:endParaRPr lang="en-US" sz="210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3" name="AutoShape 13"/>
          <p:cNvSpPr/>
          <p:nvPr/>
        </p:nvSpPr>
        <p:spPr>
          <a:xfrm rot="16980">
            <a:off x="5261562" y="4722495"/>
            <a:ext cx="7719155" cy="0"/>
          </a:xfrm>
          <a:prstGeom prst="line">
            <a:avLst/>
          </a:prstGeom>
          <a:ln w="19050" cap="rnd">
            <a:solidFill>
              <a:srgbClr val="00C2D1"/>
            </a:solidFill>
            <a:prstDash val="solid"/>
            <a:headEnd type="none" w="sm" len="sm"/>
            <a:tailEnd type="triangle" w="lg" len="med"/>
          </a:ln>
        </p:spPr>
      </p:sp>
      <p:grpSp>
        <p:nvGrpSpPr>
          <p:cNvPr id="14" name="Group 14"/>
          <p:cNvGrpSpPr/>
          <p:nvPr/>
        </p:nvGrpSpPr>
        <p:grpSpPr>
          <a:xfrm rot="0">
            <a:off x="5280660" y="3703320"/>
            <a:ext cx="7680960" cy="480060"/>
            <a:chOff x="0" y="0"/>
            <a:chExt cx="10241280" cy="640080"/>
          </a:xfrm>
        </p:grpSpPr>
        <p:sp>
          <p:nvSpPr>
            <p:cNvPr id="15" name="Freeform 15"/>
            <p:cNvSpPr/>
            <p:nvPr/>
          </p:nvSpPr>
          <p:spPr>
            <a:xfrm>
              <a:off x="0" y="0"/>
              <a:ext cx="10241280" cy="640080"/>
            </a:xfrm>
            <a:custGeom>
              <a:avLst/>
              <a:gdLst/>
              <a:ahLst/>
              <a:cxnLst/>
              <a:rect l="l" t="t" r="r" b="b"/>
              <a:pathLst>
                <a:path w="10241280" h="640080">
                  <a:moveTo>
                    <a:pt x="0" y="0"/>
                  </a:moveTo>
                  <a:lnTo>
                    <a:pt x="10241280" y="0"/>
                  </a:lnTo>
                  <a:lnTo>
                    <a:pt x="10241280" y="640080"/>
                  </a:lnTo>
                  <a:lnTo>
                    <a:pt x="0" y="640080"/>
                  </a:lnTo>
                  <a:close/>
                </a:path>
              </a:pathLst>
            </a:custGeom>
            <a:blipFill>
              <a:blip r:embed="rId1">
                <a:alphaModFix amt="0"/>
              </a:blip>
              <a:stretch>
                <a:fillRect t="-261760" b="-261760"/>
              </a:stretch>
            </a:blipFill>
          </p:spPr>
        </p:sp>
        <p:sp>
          <p:nvSpPr>
            <p:cNvPr id="16" name="TextBox 16"/>
            <p:cNvSpPr txBox="1"/>
            <p:nvPr/>
          </p:nvSpPr>
          <p:spPr>
            <a:xfrm>
              <a:off x="0" y="-38100"/>
              <a:ext cx="10241280" cy="678180"/>
            </a:xfrm>
            <a:prstGeom prst="rect">
              <a:avLst/>
            </a:prstGeom>
          </p:spPr>
          <p:txBody>
            <a:bodyPr lIns="0" tIns="0" rIns="0" bIns="0" rtlCol="0" anchor="ctr"/>
            <a:lstStyle/>
            <a:p>
              <a:pPr algn="ctr">
                <a:lnSpc>
                  <a:spcPts val="2070"/>
                </a:lnSpc>
              </a:pPr>
              <a:r>
                <a:rPr lang="en-US" sz="1725" i="1">
                  <a:solidFill>
                    <a:srgbClr val="0D1B2A"/>
                  </a:solidFill>
                  <a:latin typeface="Calibri (MS) Italics" panose="020F05020202040A0204"/>
                  <a:ea typeface="Calibri (MS) Italics" panose="020F05020202040A0204"/>
                  <a:cs typeface="Calibri (MS) Italics" panose="020F05020202040A0204"/>
                  <a:sym typeface="Calibri (MS) Italics" panose="020F05020202040A0204"/>
                </a:rPr>
                <a:t>Query: google.com</a:t>
              </a:r>
              <a:endParaRPr lang="en-US" sz="1725" i="1">
                <a:solidFill>
                  <a:srgbClr val="0D1B2A"/>
                </a:solidFill>
                <a:latin typeface="Calibri (MS) Italics" panose="020F05020202040A0204"/>
                <a:ea typeface="Calibri (MS) Italics" panose="020F05020202040A0204"/>
                <a:cs typeface="Calibri (MS) Italics" panose="020F05020202040A0204"/>
                <a:sym typeface="Calibri (MS) Italics" panose="020F05020202040A0204"/>
              </a:endParaRPr>
            </a:p>
          </p:txBody>
        </p:sp>
      </p:grpSp>
      <p:sp>
        <p:nvSpPr>
          <p:cNvPr id="17" name="AutoShape 17"/>
          <p:cNvSpPr/>
          <p:nvPr/>
        </p:nvSpPr>
        <p:spPr>
          <a:xfrm rot="-16980">
            <a:off x="5261562" y="5545455"/>
            <a:ext cx="7719155" cy="0"/>
          </a:xfrm>
          <a:prstGeom prst="line">
            <a:avLst/>
          </a:prstGeom>
          <a:ln w="19050" cap="rnd">
            <a:solidFill>
              <a:srgbClr val="1F9D55"/>
            </a:solidFill>
            <a:prstDash val="solid"/>
            <a:headEnd type="none" w="sm" len="sm"/>
            <a:tailEnd type="triangle" w="lg" len="med"/>
          </a:ln>
        </p:spPr>
      </p:sp>
      <p:grpSp>
        <p:nvGrpSpPr>
          <p:cNvPr id="18" name="Group 18"/>
          <p:cNvGrpSpPr/>
          <p:nvPr/>
        </p:nvGrpSpPr>
        <p:grpSpPr>
          <a:xfrm rot="0">
            <a:off x="5280660" y="5692140"/>
            <a:ext cx="7680960" cy="480060"/>
            <a:chOff x="0" y="0"/>
            <a:chExt cx="10241280" cy="640080"/>
          </a:xfrm>
        </p:grpSpPr>
        <p:sp>
          <p:nvSpPr>
            <p:cNvPr id="19" name="Freeform 19"/>
            <p:cNvSpPr/>
            <p:nvPr/>
          </p:nvSpPr>
          <p:spPr>
            <a:xfrm>
              <a:off x="0" y="0"/>
              <a:ext cx="10241280" cy="640080"/>
            </a:xfrm>
            <a:custGeom>
              <a:avLst/>
              <a:gdLst/>
              <a:ahLst/>
              <a:cxnLst/>
              <a:rect l="l" t="t" r="r" b="b"/>
              <a:pathLst>
                <a:path w="10241280" h="640080">
                  <a:moveTo>
                    <a:pt x="0" y="0"/>
                  </a:moveTo>
                  <a:lnTo>
                    <a:pt x="10241280" y="0"/>
                  </a:lnTo>
                  <a:lnTo>
                    <a:pt x="10241280" y="640080"/>
                  </a:lnTo>
                  <a:lnTo>
                    <a:pt x="0" y="640080"/>
                  </a:lnTo>
                  <a:close/>
                </a:path>
              </a:pathLst>
            </a:custGeom>
            <a:blipFill>
              <a:blip r:embed="rId1">
                <a:alphaModFix amt="0"/>
              </a:blip>
              <a:stretch>
                <a:fillRect t="-261760" b="-261760"/>
              </a:stretch>
            </a:blipFill>
          </p:spPr>
        </p:sp>
        <p:sp>
          <p:nvSpPr>
            <p:cNvPr id="20" name="TextBox 20"/>
            <p:cNvSpPr txBox="1"/>
            <p:nvPr/>
          </p:nvSpPr>
          <p:spPr>
            <a:xfrm>
              <a:off x="0" y="-38100"/>
              <a:ext cx="10241280" cy="678180"/>
            </a:xfrm>
            <a:prstGeom prst="rect">
              <a:avLst/>
            </a:prstGeom>
          </p:spPr>
          <p:txBody>
            <a:bodyPr lIns="0" tIns="0" rIns="0" bIns="0" rtlCol="0" anchor="ctr"/>
            <a:lstStyle/>
            <a:p>
              <a:pPr algn="ctr">
                <a:lnSpc>
                  <a:spcPts val="2070"/>
                </a:lnSpc>
              </a:pPr>
              <a:r>
                <a:rPr lang="en-US" sz="1725" b="1" i="1">
                  <a:solidFill>
                    <a:srgbClr val="1F9D55"/>
                  </a:solidFill>
                  <a:latin typeface="Calibri (MS) Bold Italics" panose="020F07020304040A0204"/>
                  <a:ea typeface="Calibri (MS) Bold Italics" panose="020F07020304040A0204"/>
                  <a:cs typeface="Calibri (MS) Bold Italics" panose="020F07020304040A0204"/>
                  <a:sym typeface="Calibri (MS) Bold Italics" panose="020F07020304040A0204"/>
                </a:rPr>
                <a:t>Response: 142.250.129.113</a:t>
              </a:r>
              <a:endParaRPr lang="en-US" sz="1725" b="1" i="1">
                <a:solidFill>
                  <a:srgbClr val="1F9D55"/>
                </a:solidFill>
                <a:latin typeface="Calibri (MS) Bold Italics" panose="020F07020304040A0204"/>
                <a:ea typeface="Calibri (MS) Bold Italics" panose="020F07020304040A0204"/>
                <a:cs typeface="Calibri (MS) Bold Italics" panose="020F07020304040A0204"/>
                <a:sym typeface="Calibri (MS) Bold Italics" panose="020F07020304040A0204"/>
              </a:endParaRPr>
            </a:p>
          </p:txBody>
        </p:sp>
      </p:grpSp>
      <p:grpSp>
        <p:nvGrpSpPr>
          <p:cNvPr id="21" name="Group 21"/>
          <p:cNvGrpSpPr/>
          <p:nvPr/>
        </p:nvGrpSpPr>
        <p:grpSpPr>
          <a:xfrm rot="0">
            <a:off x="1224915" y="7054215"/>
            <a:ext cx="7562850" cy="2145030"/>
            <a:chOff x="0" y="0"/>
            <a:chExt cx="10083800" cy="2860040"/>
          </a:xfrm>
        </p:grpSpPr>
        <p:sp>
          <p:nvSpPr>
            <p:cNvPr id="22" name="Freeform 22"/>
            <p:cNvSpPr/>
            <p:nvPr/>
          </p:nvSpPr>
          <p:spPr>
            <a:xfrm>
              <a:off x="0" y="0"/>
              <a:ext cx="10083800" cy="2860040"/>
            </a:xfrm>
            <a:custGeom>
              <a:avLst/>
              <a:gdLst/>
              <a:ahLst/>
              <a:cxnLst/>
              <a:rect l="l" t="t" r="r" b="b"/>
              <a:pathLst>
                <a:path w="10083800" h="2860040">
                  <a:moveTo>
                    <a:pt x="0" y="147574"/>
                  </a:moveTo>
                  <a:cubicBezTo>
                    <a:pt x="0" y="66040"/>
                    <a:pt x="66040" y="0"/>
                    <a:pt x="147574" y="0"/>
                  </a:cubicBezTo>
                  <a:lnTo>
                    <a:pt x="9936226" y="0"/>
                  </a:lnTo>
                  <a:cubicBezTo>
                    <a:pt x="10017760" y="0"/>
                    <a:pt x="10083800" y="66040"/>
                    <a:pt x="10083800" y="147574"/>
                  </a:cubicBezTo>
                  <a:lnTo>
                    <a:pt x="10083800" y="2712466"/>
                  </a:lnTo>
                  <a:cubicBezTo>
                    <a:pt x="10083800" y="2794000"/>
                    <a:pt x="10017760" y="2860040"/>
                    <a:pt x="9936226" y="2860040"/>
                  </a:cubicBezTo>
                  <a:lnTo>
                    <a:pt x="147574" y="2860040"/>
                  </a:lnTo>
                  <a:cubicBezTo>
                    <a:pt x="66040" y="2860040"/>
                    <a:pt x="0" y="2794000"/>
                    <a:pt x="0" y="2712466"/>
                  </a:cubicBezTo>
                  <a:close/>
                </a:path>
              </a:pathLst>
            </a:custGeom>
            <a:solidFill>
              <a:srgbClr val="FFFFFF"/>
            </a:solidFill>
            <a:ln w="19050" cap="sq">
              <a:solidFill>
                <a:srgbClr val="D9E0E8"/>
              </a:solidFill>
              <a:prstDash val="solid"/>
              <a:miter/>
            </a:ln>
          </p:spPr>
        </p:sp>
      </p:grpSp>
      <p:grpSp>
        <p:nvGrpSpPr>
          <p:cNvPr id="23" name="Group 23"/>
          <p:cNvGrpSpPr/>
          <p:nvPr/>
        </p:nvGrpSpPr>
        <p:grpSpPr>
          <a:xfrm rot="0">
            <a:off x="1577340" y="7242048"/>
            <a:ext cx="4114800" cy="411480"/>
            <a:chOff x="0" y="0"/>
            <a:chExt cx="5486400" cy="548640"/>
          </a:xfrm>
        </p:grpSpPr>
        <p:sp>
          <p:nvSpPr>
            <p:cNvPr id="24" name="Freeform 24"/>
            <p:cNvSpPr/>
            <p:nvPr/>
          </p:nvSpPr>
          <p:spPr>
            <a:xfrm>
              <a:off x="0" y="0"/>
              <a:ext cx="5486400" cy="548640"/>
            </a:xfrm>
            <a:custGeom>
              <a:avLst/>
              <a:gdLst/>
              <a:ahLst/>
              <a:cxnLst/>
              <a:rect l="l" t="t" r="r" b="b"/>
              <a:pathLst>
                <a:path w="5486400" h="548640">
                  <a:moveTo>
                    <a:pt x="0" y="0"/>
                  </a:moveTo>
                  <a:lnTo>
                    <a:pt x="5486400" y="0"/>
                  </a:lnTo>
                  <a:lnTo>
                    <a:pt x="5486400" y="548640"/>
                  </a:lnTo>
                  <a:lnTo>
                    <a:pt x="0" y="548640"/>
                  </a:lnTo>
                  <a:close/>
                </a:path>
              </a:pathLst>
            </a:custGeom>
            <a:blipFill>
              <a:blip r:embed="rId1">
                <a:alphaModFix amt="0"/>
              </a:blip>
              <a:stretch>
                <a:fillRect t="-144850" b="-144850"/>
              </a:stretch>
            </a:blipFill>
          </p:spPr>
        </p:sp>
        <p:sp>
          <p:nvSpPr>
            <p:cNvPr id="25" name="TextBox 25"/>
            <p:cNvSpPr txBox="1"/>
            <p:nvPr/>
          </p:nvSpPr>
          <p:spPr>
            <a:xfrm>
              <a:off x="0" y="-38100"/>
              <a:ext cx="5486400" cy="586740"/>
            </a:xfrm>
            <a:prstGeom prst="rect">
              <a:avLst/>
            </a:prstGeom>
          </p:spPr>
          <p:txBody>
            <a:bodyPr lIns="0" tIns="0" rIns="0" bIns="0" rtlCol="0" anchor="ctr"/>
            <a:lstStyle/>
            <a:p>
              <a:pPr algn="l">
                <a:lnSpc>
                  <a:spcPts val="1800"/>
                </a:lnSpc>
              </a:pPr>
              <a:r>
                <a:rPr lang="en-US" sz="1500" b="1" spc="150">
                  <a:solidFill>
                    <a:srgbClr val="00C2D1"/>
                  </a:solidFill>
                  <a:latin typeface="Calibri (MS) Bold" panose="020F0702030404030204"/>
                  <a:ea typeface="Calibri (MS) Bold" panose="020F0702030404030204"/>
                  <a:cs typeface="Calibri (MS) Bold" panose="020F0702030404030204"/>
                  <a:sym typeface="Calibri (MS) Bold" panose="020F0702030404030204"/>
                </a:rPr>
                <a:t>QUERY</a:t>
              </a:r>
              <a:endParaRPr lang="en-US" sz="1500" b="1" spc="150">
                <a:solidFill>
                  <a:srgbClr val="00C2D1"/>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6" name="Group 26"/>
          <p:cNvGrpSpPr/>
          <p:nvPr/>
        </p:nvGrpSpPr>
        <p:grpSpPr>
          <a:xfrm rot="0">
            <a:off x="1577340" y="7653528"/>
            <a:ext cx="6858000" cy="438912"/>
            <a:chOff x="0" y="0"/>
            <a:chExt cx="9144000" cy="585216"/>
          </a:xfrm>
        </p:grpSpPr>
        <p:sp>
          <p:nvSpPr>
            <p:cNvPr id="27" name="Freeform 27"/>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1">
                <a:alphaModFix amt="0"/>
              </a:blip>
              <a:stretch>
                <a:fillRect t="-254453" b="-254453"/>
              </a:stretch>
            </a:blipFill>
          </p:spPr>
        </p:sp>
        <p:sp>
          <p:nvSpPr>
            <p:cNvPr id="28" name="TextBox 28"/>
            <p:cNvSpPr txBox="1"/>
            <p:nvPr/>
          </p:nvSpPr>
          <p:spPr>
            <a:xfrm>
              <a:off x="0" y="-38100"/>
              <a:ext cx="9144000" cy="623316"/>
            </a:xfrm>
            <a:prstGeom prst="rect">
              <a:avLst/>
            </a:prstGeom>
          </p:spPr>
          <p:txBody>
            <a:bodyPr lIns="0" tIns="0" rIns="0" bIns="0" rtlCol="0" anchor="ctr"/>
            <a:lstStyle/>
            <a:p>
              <a:pPr algn="l">
                <a:lnSpc>
                  <a:spcPts val="2070"/>
                </a:lnSpc>
              </a:pPr>
              <a:r>
                <a:rPr lang="en-US" sz="1725">
                  <a:solidFill>
                    <a:srgbClr val="6B7A8F"/>
                  </a:solidFill>
                  <a:latin typeface="Calibri (MS)" panose="020F0502020204030204"/>
                  <a:ea typeface="Calibri (MS)" panose="020F0502020204030204"/>
                  <a:cs typeface="Calibri (MS)" panose="020F0502020204030204"/>
                  <a:sym typeface="Calibri (MS)" panose="020F0502020204030204"/>
                </a:rPr>
                <a:t>Source:  </a:t>
              </a:r>
              <a:r>
                <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rPr>
                <a:t>10.0.2.15</a:t>
              </a:r>
              <a:endPar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9" name="Group 29"/>
          <p:cNvGrpSpPr/>
          <p:nvPr/>
        </p:nvGrpSpPr>
        <p:grpSpPr>
          <a:xfrm rot="0">
            <a:off x="1577340" y="8106156"/>
            <a:ext cx="6858000" cy="438912"/>
            <a:chOff x="0" y="0"/>
            <a:chExt cx="9144000" cy="585216"/>
          </a:xfrm>
        </p:grpSpPr>
        <p:sp>
          <p:nvSpPr>
            <p:cNvPr id="30" name="Freeform 30"/>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1">
                <a:alphaModFix amt="0"/>
              </a:blip>
              <a:stretch>
                <a:fillRect t="-254453" b="-254453"/>
              </a:stretch>
            </a:blipFill>
          </p:spPr>
        </p:sp>
        <p:sp>
          <p:nvSpPr>
            <p:cNvPr id="31" name="TextBox 31"/>
            <p:cNvSpPr txBox="1"/>
            <p:nvPr/>
          </p:nvSpPr>
          <p:spPr>
            <a:xfrm>
              <a:off x="0" y="-38100"/>
              <a:ext cx="9144000" cy="623316"/>
            </a:xfrm>
            <a:prstGeom prst="rect">
              <a:avLst/>
            </a:prstGeom>
          </p:spPr>
          <p:txBody>
            <a:bodyPr lIns="0" tIns="0" rIns="0" bIns="0" rtlCol="0" anchor="ctr"/>
            <a:lstStyle/>
            <a:p>
              <a:pPr algn="l">
                <a:lnSpc>
                  <a:spcPts val="2070"/>
                </a:lnSpc>
              </a:pPr>
              <a:r>
                <a:rPr lang="en-US" sz="1725">
                  <a:solidFill>
                    <a:srgbClr val="6B7A8F"/>
                  </a:solidFill>
                  <a:latin typeface="Calibri (MS)" panose="020F0502020204030204"/>
                  <a:ea typeface="Calibri (MS)" panose="020F0502020204030204"/>
                  <a:cs typeface="Calibri (MS)" panose="020F0502020204030204"/>
                  <a:sym typeface="Calibri (MS)" panose="020F0502020204030204"/>
                </a:rPr>
                <a:t>Destination:  </a:t>
              </a:r>
              <a:r>
                <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rPr>
                <a:t>8.8.8.8</a:t>
              </a:r>
              <a:endPar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2" name="Group 32"/>
          <p:cNvGrpSpPr/>
          <p:nvPr/>
        </p:nvGrpSpPr>
        <p:grpSpPr>
          <a:xfrm rot="0">
            <a:off x="1577340" y="8558784"/>
            <a:ext cx="6858000" cy="438912"/>
            <a:chOff x="0" y="0"/>
            <a:chExt cx="9144000" cy="585216"/>
          </a:xfrm>
        </p:grpSpPr>
        <p:sp>
          <p:nvSpPr>
            <p:cNvPr id="33" name="Freeform 33"/>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1">
                <a:alphaModFix amt="0"/>
              </a:blip>
              <a:stretch>
                <a:fillRect t="-254453" b="-254453"/>
              </a:stretch>
            </a:blipFill>
          </p:spPr>
        </p:sp>
        <p:sp>
          <p:nvSpPr>
            <p:cNvPr id="34" name="TextBox 34"/>
            <p:cNvSpPr txBox="1"/>
            <p:nvPr/>
          </p:nvSpPr>
          <p:spPr>
            <a:xfrm>
              <a:off x="0" y="-38100"/>
              <a:ext cx="9144000" cy="623316"/>
            </a:xfrm>
            <a:prstGeom prst="rect">
              <a:avLst/>
            </a:prstGeom>
          </p:spPr>
          <p:txBody>
            <a:bodyPr lIns="0" tIns="0" rIns="0" bIns="0" rtlCol="0" anchor="ctr"/>
            <a:lstStyle/>
            <a:p>
              <a:pPr algn="l">
                <a:lnSpc>
                  <a:spcPts val="2070"/>
                </a:lnSpc>
              </a:pPr>
              <a:r>
                <a:rPr lang="en-US" sz="1725">
                  <a:solidFill>
                    <a:srgbClr val="6B7A8F"/>
                  </a:solidFill>
                  <a:latin typeface="Calibri (MS)" panose="020F0502020204030204"/>
                  <a:ea typeface="Calibri (MS)" panose="020F0502020204030204"/>
                  <a:cs typeface="Calibri (MS)" panose="020F0502020204030204"/>
                  <a:sym typeface="Calibri (MS)" panose="020F0502020204030204"/>
                </a:rPr>
                <a:t>Requested Domain:  </a:t>
              </a:r>
              <a:r>
                <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rPr>
                <a:t>google.com</a:t>
              </a:r>
              <a:endPar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5" name="Group 35"/>
          <p:cNvGrpSpPr/>
          <p:nvPr/>
        </p:nvGrpSpPr>
        <p:grpSpPr>
          <a:xfrm rot="0">
            <a:off x="9454515" y="7054215"/>
            <a:ext cx="7562850" cy="2145030"/>
            <a:chOff x="0" y="0"/>
            <a:chExt cx="10083800" cy="2860040"/>
          </a:xfrm>
        </p:grpSpPr>
        <p:sp>
          <p:nvSpPr>
            <p:cNvPr id="36" name="Freeform 36"/>
            <p:cNvSpPr/>
            <p:nvPr/>
          </p:nvSpPr>
          <p:spPr>
            <a:xfrm>
              <a:off x="0" y="0"/>
              <a:ext cx="10083800" cy="2860040"/>
            </a:xfrm>
            <a:custGeom>
              <a:avLst/>
              <a:gdLst/>
              <a:ahLst/>
              <a:cxnLst/>
              <a:rect l="l" t="t" r="r" b="b"/>
              <a:pathLst>
                <a:path w="10083800" h="2860040">
                  <a:moveTo>
                    <a:pt x="0" y="147574"/>
                  </a:moveTo>
                  <a:cubicBezTo>
                    <a:pt x="0" y="66040"/>
                    <a:pt x="66040" y="0"/>
                    <a:pt x="147574" y="0"/>
                  </a:cubicBezTo>
                  <a:lnTo>
                    <a:pt x="9936226" y="0"/>
                  </a:lnTo>
                  <a:cubicBezTo>
                    <a:pt x="10017760" y="0"/>
                    <a:pt x="10083800" y="66040"/>
                    <a:pt x="10083800" y="147574"/>
                  </a:cubicBezTo>
                  <a:lnTo>
                    <a:pt x="10083800" y="2712466"/>
                  </a:lnTo>
                  <a:cubicBezTo>
                    <a:pt x="10083800" y="2794000"/>
                    <a:pt x="10017760" y="2860040"/>
                    <a:pt x="9936226" y="2860040"/>
                  </a:cubicBezTo>
                  <a:lnTo>
                    <a:pt x="147574" y="2860040"/>
                  </a:lnTo>
                  <a:cubicBezTo>
                    <a:pt x="66040" y="2860040"/>
                    <a:pt x="0" y="2794000"/>
                    <a:pt x="0" y="2712466"/>
                  </a:cubicBezTo>
                  <a:close/>
                </a:path>
              </a:pathLst>
            </a:custGeom>
            <a:solidFill>
              <a:srgbClr val="FFFFFF"/>
            </a:solidFill>
            <a:ln w="19050" cap="sq">
              <a:solidFill>
                <a:srgbClr val="D9E0E8"/>
              </a:solidFill>
              <a:prstDash val="solid"/>
              <a:miter/>
            </a:ln>
          </p:spPr>
        </p:sp>
      </p:grpSp>
      <p:grpSp>
        <p:nvGrpSpPr>
          <p:cNvPr id="37" name="Group 37"/>
          <p:cNvGrpSpPr/>
          <p:nvPr/>
        </p:nvGrpSpPr>
        <p:grpSpPr>
          <a:xfrm rot="0">
            <a:off x="9806940" y="7242048"/>
            <a:ext cx="4114800" cy="411480"/>
            <a:chOff x="0" y="0"/>
            <a:chExt cx="5486400" cy="548640"/>
          </a:xfrm>
        </p:grpSpPr>
        <p:sp>
          <p:nvSpPr>
            <p:cNvPr id="38" name="Freeform 38"/>
            <p:cNvSpPr/>
            <p:nvPr/>
          </p:nvSpPr>
          <p:spPr>
            <a:xfrm>
              <a:off x="0" y="0"/>
              <a:ext cx="5486400" cy="548640"/>
            </a:xfrm>
            <a:custGeom>
              <a:avLst/>
              <a:gdLst/>
              <a:ahLst/>
              <a:cxnLst/>
              <a:rect l="l" t="t" r="r" b="b"/>
              <a:pathLst>
                <a:path w="5486400" h="548640">
                  <a:moveTo>
                    <a:pt x="0" y="0"/>
                  </a:moveTo>
                  <a:lnTo>
                    <a:pt x="5486400" y="0"/>
                  </a:lnTo>
                  <a:lnTo>
                    <a:pt x="5486400" y="548640"/>
                  </a:lnTo>
                  <a:lnTo>
                    <a:pt x="0" y="548640"/>
                  </a:lnTo>
                  <a:close/>
                </a:path>
              </a:pathLst>
            </a:custGeom>
            <a:blipFill>
              <a:blip r:embed="rId1">
                <a:alphaModFix amt="0"/>
              </a:blip>
              <a:stretch>
                <a:fillRect t="-144850" b="-144850"/>
              </a:stretch>
            </a:blipFill>
          </p:spPr>
        </p:sp>
        <p:sp>
          <p:nvSpPr>
            <p:cNvPr id="39" name="TextBox 39"/>
            <p:cNvSpPr txBox="1"/>
            <p:nvPr/>
          </p:nvSpPr>
          <p:spPr>
            <a:xfrm>
              <a:off x="0" y="-38100"/>
              <a:ext cx="5486400" cy="586740"/>
            </a:xfrm>
            <a:prstGeom prst="rect">
              <a:avLst/>
            </a:prstGeom>
          </p:spPr>
          <p:txBody>
            <a:bodyPr lIns="0" tIns="0" rIns="0" bIns="0" rtlCol="0" anchor="ctr"/>
            <a:lstStyle/>
            <a:p>
              <a:pPr algn="l">
                <a:lnSpc>
                  <a:spcPts val="1800"/>
                </a:lnSpc>
              </a:pPr>
              <a:r>
                <a:rPr lang="en-US" sz="1500" b="1" spc="150">
                  <a:solidFill>
                    <a:srgbClr val="00C2D1"/>
                  </a:solidFill>
                  <a:latin typeface="Calibri (MS) Bold" panose="020F0702030404030204"/>
                  <a:ea typeface="Calibri (MS) Bold" panose="020F0702030404030204"/>
                  <a:cs typeface="Calibri (MS) Bold" panose="020F0702030404030204"/>
                  <a:sym typeface="Calibri (MS) Bold" panose="020F0702030404030204"/>
                </a:rPr>
                <a:t>RESPONSE</a:t>
              </a:r>
              <a:endParaRPr lang="en-US" sz="1500" b="1" spc="150">
                <a:solidFill>
                  <a:srgbClr val="00C2D1"/>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40" name="Group 40"/>
          <p:cNvGrpSpPr/>
          <p:nvPr/>
        </p:nvGrpSpPr>
        <p:grpSpPr>
          <a:xfrm rot="0">
            <a:off x="9806940" y="7653528"/>
            <a:ext cx="6858000" cy="438912"/>
            <a:chOff x="0" y="0"/>
            <a:chExt cx="9144000" cy="585216"/>
          </a:xfrm>
        </p:grpSpPr>
        <p:sp>
          <p:nvSpPr>
            <p:cNvPr id="41" name="Freeform 41"/>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1">
                <a:alphaModFix amt="0"/>
              </a:blip>
              <a:stretch>
                <a:fillRect t="-254453" b="-254453"/>
              </a:stretch>
            </a:blipFill>
          </p:spPr>
        </p:sp>
        <p:sp>
          <p:nvSpPr>
            <p:cNvPr id="42" name="TextBox 42"/>
            <p:cNvSpPr txBox="1"/>
            <p:nvPr/>
          </p:nvSpPr>
          <p:spPr>
            <a:xfrm>
              <a:off x="0" y="-38100"/>
              <a:ext cx="9144000" cy="623316"/>
            </a:xfrm>
            <a:prstGeom prst="rect">
              <a:avLst/>
            </a:prstGeom>
          </p:spPr>
          <p:txBody>
            <a:bodyPr lIns="0" tIns="0" rIns="0" bIns="0" rtlCol="0" anchor="ctr"/>
            <a:lstStyle/>
            <a:p>
              <a:pPr algn="l">
                <a:lnSpc>
                  <a:spcPts val="2070"/>
                </a:lnSpc>
              </a:pPr>
              <a:r>
                <a:rPr lang="en-US" sz="1725">
                  <a:solidFill>
                    <a:srgbClr val="6B7A8F"/>
                  </a:solidFill>
                  <a:latin typeface="Calibri (MS)" panose="020F0502020204030204"/>
                  <a:ea typeface="Calibri (MS)" panose="020F0502020204030204"/>
                  <a:cs typeface="Calibri (MS)" panose="020F0502020204030204"/>
                  <a:sym typeface="Calibri (MS)" panose="020F0502020204030204"/>
                </a:rPr>
                <a:t>Source:  </a:t>
              </a:r>
              <a:r>
                <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rPr>
                <a:t>8.8.8.8</a:t>
              </a:r>
              <a:endPar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43" name="Group 43"/>
          <p:cNvGrpSpPr/>
          <p:nvPr/>
        </p:nvGrpSpPr>
        <p:grpSpPr>
          <a:xfrm rot="0">
            <a:off x="9806940" y="8106156"/>
            <a:ext cx="6858000" cy="438912"/>
            <a:chOff x="0" y="0"/>
            <a:chExt cx="9144000" cy="585216"/>
          </a:xfrm>
        </p:grpSpPr>
        <p:sp>
          <p:nvSpPr>
            <p:cNvPr id="44" name="Freeform 44"/>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1">
                <a:alphaModFix amt="0"/>
              </a:blip>
              <a:stretch>
                <a:fillRect t="-254453" b="-254453"/>
              </a:stretch>
            </a:blipFill>
          </p:spPr>
        </p:sp>
        <p:sp>
          <p:nvSpPr>
            <p:cNvPr id="45" name="TextBox 45"/>
            <p:cNvSpPr txBox="1"/>
            <p:nvPr/>
          </p:nvSpPr>
          <p:spPr>
            <a:xfrm>
              <a:off x="0" y="-38100"/>
              <a:ext cx="9144000" cy="623316"/>
            </a:xfrm>
            <a:prstGeom prst="rect">
              <a:avLst/>
            </a:prstGeom>
          </p:spPr>
          <p:txBody>
            <a:bodyPr lIns="0" tIns="0" rIns="0" bIns="0" rtlCol="0" anchor="ctr"/>
            <a:lstStyle/>
            <a:p>
              <a:pPr algn="l">
                <a:lnSpc>
                  <a:spcPts val="2070"/>
                </a:lnSpc>
              </a:pPr>
              <a:r>
                <a:rPr lang="en-US" sz="1725">
                  <a:solidFill>
                    <a:srgbClr val="6B7A8F"/>
                  </a:solidFill>
                  <a:latin typeface="Calibri (MS)" panose="020F0502020204030204"/>
                  <a:ea typeface="Calibri (MS)" panose="020F0502020204030204"/>
                  <a:cs typeface="Calibri (MS)" panose="020F0502020204030204"/>
                  <a:sym typeface="Calibri (MS)" panose="020F0502020204030204"/>
                </a:rPr>
                <a:t>Destination:  </a:t>
              </a:r>
              <a:r>
                <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rPr>
                <a:t>10.0.2.15</a:t>
              </a:r>
              <a:endPar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46" name="Group 46"/>
          <p:cNvGrpSpPr/>
          <p:nvPr/>
        </p:nvGrpSpPr>
        <p:grpSpPr>
          <a:xfrm rot="0">
            <a:off x="9806940" y="8558784"/>
            <a:ext cx="6858000" cy="438912"/>
            <a:chOff x="0" y="0"/>
            <a:chExt cx="9144000" cy="585216"/>
          </a:xfrm>
        </p:grpSpPr>
        <p:sp>
          <p:nvSpPr>
            <p:cNvPr id="47" name="Freeform 47"/>
            <p:cNvSpPr/>
            <p:nvPr/>
          </p:nvSpPr>
          <p:spPr>
            <a:xfrm>
              <a:off x="0" y="0"/>
              <a:ext cx="9144000" cy="585216"/>
            </a:xfrm>
            <a:custGeom>
              <a:avLst/>
              <a:gdLst/>
              <a:ahLst/>
              <a:cxnLst/>
              <a:rect l="l" t="t" r="r" b="b"/>
              <a:pathLst>
                <a:path w="9144000" h="585216">
                  <a:moveTo>
                    <a:pt x="0" y="0"/>
                  </a:moveTo>
                  <a:lnTo>
                    <a:pt x="9144000" y="0"/>
                  </a:lnTo>
                  <a:lnTo>
                    <a:pt x="9144000" y="585216"/>
                  </a:lnTo>
                  <a:lnTo>
                    <a:pt x="0" y="585216"/>
                  </a:lnTo>
                  <a:close/>
                </a:path>
              </a:pathLst>
            </a:custGeom>
            <a:blipFill>
              <a:blip r:embed="rId1">
                <a:alphaModFix amt="0"/>
              </a:blip>
              <a:stretch>
                <a:fillRect t="-254453" b="-254453"/>
              </a:stretch>
            </a:blipFill>
          </p:spPr>
        </p:sp>
        <p:sp>
          <p:nvSpPr>
            <p:cNvPr id="48" name="TextBox 48"/>
            <p:cNvSpPr txBox="1"/>
            <p:nvPr/>
          </p:nvSpPr>
          <p:spPr>
            <a:xfrm>
              <a:off x="0" y="-38100"/>
              <a:ext cx="9144000" cy="623316"/>
            </a:xfrm>
            <a:prstGeom prst="rect">
              <a:avLst/>
            </a:prstGeom>
          </p:spPr>
          <p:txBody>
            <a:bodyPr lIns="0" tIns="0" rIns="0" bIns="0" rtlCol="0" anchor="ctr"/>
            <a:lstStyle/>
            <a:p>
              <a:pPr algn="l">
                <a:lnSpc>
                  <a:spcPts val="2070"/>
                </a:lnSpc>
              </a:pPr>
              <a:r>
                <a:rPr lang="en-US" sz="1725">
                  <a:solidFill>
                    <a:srgbClr val="6B7A8F"/>
                  </a:solidFill>
                  <a:latin typeface="Calibri (MS)" panose="020F0502020204030204"/>
                  <a:ea typeface="Calibri (MS)" panose="020F0502020204030204"/>
                  <a:cs typeface="Calibri (MS)" panose="020F0502020204030204"/>
                  <a:sym typeface="Calibri (MS)" panose="020F0502020204030204"/>
                </a:rPr>
                <a:t>Returned IP:  </a:t>
              </a:r>
              <a:r>
                <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rPr>
                <a:t>142.250.129.113</a:t>
              </a:r>
              <a:endParaRPr lang="en-US" sz="1725" b="1">
                <a:solidFill>
                  <a:srgbClr val="0D1B2A"/>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49" name="Group 49"/>
          <p:cNvGrpSpPr/>
          <p:nvPr/>
        </p:nvGrpSpPr>
        <p:grpSpPr>
          <a:xfrm rot="0">
            <a:off x="685800" y="9710928"/>
            <a:ext cx="10972800" cy="411480"/>
            <a:chOff x="0" y="0"/>
            <a:chExt cx="14630400" cy="548640"/>
          </a:xfrm>
        </p:grpSpPr>
        <p:sp>
          <p:nvSpPr>
            <p:cNvPr id="50" name="Freeform 50"/>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51" name="TextBox 51"/>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52" name="Group 52"/>
          <p:cNvGrpSpPr/>
          <p:nvPr/>
        </p:nvGrpSpPr>
        <p:grpSpPr>
          <a:xfrm rot="0">
            <a:off x="16911828" y="9710928"/>
            <a:ext cx="685800" cy="411480"/>
            <a:chOff x="0" y="0"/>
            <a:chExt cx="914400" cy="548640"/>
          </a:xfrm>
        </p:grpSpPr>
        <p:sp>
          <p:nvSpPr>
            <p:cNvPr id="53" name="Freeform 53"/>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54" name="TextBox 54"/>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8</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2"/>
          <p:cNvSpPr txBox="1"/>
          <p:nvPr/>
        </p:nvSpPr>
        <p:spPr>
          <a:xfrm>
            <a:off x="822960" y="598170"/>
            <a:ext cx="16637508" cy="542925"/>
          </a:xfrm>
          <a:prstGeom prst="rect">
            <a:avLst/>
          </a:prstGeom>
        </p:spPr>
        <p:txBody>
          <a:bodyPr lIns="0" tIns="0" rIns="0" bIns="0" rtlCol="0" anchor="t">
            <a:spAutoFit/>
          </a:bodyPr>
          <a:lstStyle/>
          <a:p>
            <a:pPr algn="l">
              <a:lnSpc>
                <a:spcPts val="4140"/>
              </a:lnSpc>
            </a:pPr>
            <a:r>
              <a:rPr lang="en-US" sz="3450" b="1">
                <a:solidFill>
                  <a:srgbClr val="0D1B2A"/>
                </a:solidFill>
                <a:latin typeface="Cambria Bold" panose="02040803050406030204"/>
                <a:ea typeface="Cambria Bold" panose="02040803050406030204"/>
                <a:cs typeface="Cambria Bold" panose="02040803050406030204"/>
                <a:sym typeface="Cambria Bold" panose="02040803050406030204"/>
              </a:rPr>
              <a:t>Network Diagram </a:t>
            </a:r>
            <a:endParaRPr lang="en-US" sz="3450" b="1">
              <a:solidFill>
                <a:srgbClr val="0D1B2A"/>
              </a:solidFill>
              <a:latin typeface="Cambria Bold" panose="02040803050406030204"/>
              <a:ea typeface="Cambria Bold" panose="02040803050406030204"/>
              <a:cs typeface="Cambria Bold" panose="02040803050406030204"/>
              <a:sym typeface="Cambria Bold" panose="02040803050406030204"/>
            </a:endParaRPr>
          </a:p>
        </p:txBody>
      </p:sp>
      <p:grpSp>
        <p:nvGrpSpPr>
          <p:cNvPr id="3" name="Group 3"/>
          <p:cNvGrpSpPr/>
          <p:nvPr/>
        </p:nvGrpSpPr>
        <p:grpSpPr>
          <a:xfrm rot="0">
            <a:off x="1142619" y="3556635"/>
            <a:ext cx="2830830" cy="2076450"/>
            <a:chOff x="0" y="0"/>
            <a:chExt cx="3774440" cy="2768600"/>
          </a:xfrm>
        </p:grpSpPr>
        <p:sp>
          <p:nvSpPr>
            <p:cNvPr id="4" name="Freeform 4"/>
            <p:cNvSpPr/>
            <p:nvPr/>
          </p:nvSpPr>
          <p:spPr>
            <a:xfrm>
              <a:off x="0" y="0"/>
              <a:ext cx="3774440" cy="2768600"/>
            </a:xfrm>
            <a:custGeom>
              <a:avLst/>
              <a:gdLst/>
              <a:ahLst/>
              <a:cxnLst/>
              <a:rect l="l" t="t" r="r" b="b"/>
              <a:pathLst>
                <a:path w="3774440" h="2768600">
                  <a:moveTo>
                    <a:pt x="0" y="147701"/>
                  </a:moveTo>
                  <a:cubicBezTo>
                    <a:pt x="0" y="66167"/>
                    <a:pt x="66167" y="0"/>
                    <a:pt x="147701" y="0"/>
                  </a:cubicBezTo>
                  <a:lnTo>
                    <a:pt x="3626739" y="0"/>
                  </a:lnTo>
                  <a:cubicBezTo>
                    <a:pt x="3708273" y="0"/>
                    <a:pt x="3774440" y="66167"/>
                    <a:pt x="3774440" y="147701"/>
                  </a:cubicBezTo>
                  <a:lnTo>
                    <a:pt x="3774440" y="2620899"/>
                  </a:lnTo>
                  <a:cubicBezTo>
                    <a:pt x="3774440" y="2702433"/>
                    <a:pt x="3708273" y="2768600"/>
                    <a:pt x="3626739" y="2768600"/>
                  </a:cubicBezTo>
                  <a:lnTo>
                    <a:pt x="147701" y="2768600"/>
                  </a:lnTo>
                  <a:cubicBezTo>
                    <a:pt x="66167" y="2768600"/>
                    <a:pt x="0" y="2702433"/>
                    <a:pt x="0" y="2620899"/>
                  </a:cubicBezTo>
                  <a:close/>
                </a:path>
              </a:pathLst>
            </a:custGeom>
            <a:solidFill>
              <a:srgbClr val="1B2A4A"/>
            </a:solidFill>
            <a:ln w="19050" cap="sq">
              <a:solidFill>
                <a:srgbClr val="1B2A4A"/>
              </a:solidFill>
              <a:prstDash val="solid"/>
              <a:miter/>
            </a:ln>
          </p:spPr>
        </p:sp>
      </p:grpSp>
      <p:grpSp>
        <p:nvGrpSpPr>
          <p:cNvPr id="5" name="Group 5"/>
          <p:cNvGrpSpPr/>
          <p:nvPr/>
        </p:nvGrpSpPr>
        <p:grpSpPr>
          <a:xfrm rot="0">
            <a:off x="1289304" y="3950208"/>
            <a:ext cx="2537460" cy="1028700"/>
            <a:chOff x="0" y="0"/>
            <a:chExt cx="3383280" cy="1371600"/>
          </a:xfrm>
        </p:grpSpPr>
        <p:sp>
          <p:nvSpPr>
            <p:cNvPr id="6" name="Freeform 6"/>
            <p:cNvSpPr/>
            <p:nvPr/>
          </p:nvSpPr>
          <p:spPr>
            <a:xfrm>
              <a:off x="0" y="0"/>
              <a:ext cx="3383280" cy="1371600"/>
            </a:xfrm>
            <a:custGeom>
              <a:avLst/>
              <a:gdLst/>
              <a:ahLst/>
              <a:cxnLst/>
              <a:rect l="l" t="t" r="r" b="b"/>
              <a:pathLst>
                <a:path w="3383280" h="1371600">
                  <a:moveTo>
                    <a:pt x="0" y="0"/>
                  </a:moveTo>
                  <a:lnTo>
                    <a:pt x="3383280" y="0"/>
                  </a:lnTo>
                  <a:lnTo>
                    <a:pt x="3383280" y="1371600"/>
                  </a:lnTo>
                  <a:lnTo>
                    <a:pt x="0" y="1371600"/>
                  </a:lnTo>
                  <a:close/>
                </a:path>
              </a:pathLst>
            </a:custGeom>
            <a:blipFill>
              <a:blip r:embed="rId1">
                <a:alphaModFix amt="0"/>
              </a:blip>
              <a:stretch>
                <a:fillRect l="-2014" r="-2014"/>
              </a:stretch>
            </a:blipFill>
          </p:spPr>
        </p:sp>
        <p:sp>
          <p:nvSpPr>
            <p:cNvPr id="7" name="TextBox 7"/>
            <p:cNvSpPr txBox="1"/>
            <p:nvPr/>
          </p:nvSpPr>
          <p:spPr>
            <a:xfrm>
              <a:off x="0" y="-57150"/>
              <a:ext cx="3383280" cy="1428750"/>
            </a:xfrm>
            <a:prstGeom prst="rect">
              <a:avLst/>
            </a:prstGeom>
          </p:spPr>
          <p:txBody>
            <a:bodyPr lIns="0" tIns="0" rIns="0" bIns="0" rtlCol="0" anchor="ctr"/>
            <a:lstStyle/>
            <a:p>
              <a:pPr algn="ctr">
                <a:lnSpc>
                  <a:spcPts val="2455"/>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Your</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455"/>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Workstation</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8" name="Group 8"/>
          <p:cNvGrpSpPr/>
          <p:nvPr/>
        </p:nvGrpSpPr>
        <p:grpSpPr>
          <a:xfrm rot="0">
            <a:off x="1289304" y="4937760"/>
            <a:ext cx="2537460" cy="480060"/>
            <a:chOff x="0" y="0"/>
            <a:chExt cx="3383280" cy="640080"/>
          </a:xfrm>
        </p:grpSpPr>
        <p:sp>
          <p:nvSpPr>
            <p:cNvPr id="9" name="Freeform 9"/>
            <p:cNvSpPr/>
            <p:nvPr/>
          </p:nvSpPr>
          <p:spPr>
            <a:xfrm>
              <a:off x="0" y="0"/>
              <a:ext cx="3383280" cy="640080"/>
            </a:xfrm>
            <a:custGeom>
              <a:avLst/>
              <a:gdLst/>
              <a:ahLst/>
              <a:cxnLst/>
              <a:rect l="l" t="t" r="r" b="b"/>
              <a:pathLst>
                <a:path w="3383280" h="640080">
                  <a:moveTo>
                    <a:pt x="0" y="0"/>
                  </a:moveTo>
                  <a:lnTo>
                    <a:pt x="3383280" y="0"/>
                  </a:lnTo>
                  <a:lnTo>
                    <a:pt x="3383280" y="640080"/>
                  </a:lnTo>
                  <a:lnTo>
                    <a:pt x="0" y="640080"/>
                  </a:lnTo>
                  <a:close/>
                </a:path>
              </a:pathLst>
            </a:custGeom>
            <a:blipFill>
              <a:blip r:embed="rId1">
                <a:alphaModFix amt="0"/>
              </a:blip>
              <a:stretch>
                <a:fillRect t="-52992" b="-52992"/>
              </a:stretch>
            </a:blipFill>
          </p:spPr>
        </p:sp>
        <p:sp>
          <p:nvSpPr>
            <p:cNvPr id="10" name="TextBox 10"/>
            <p:cNvSpPr txBox="1"/>
            <p:nvPr/>
          </p:nvSpPr>
          <p:spPr>
            <a:xfrm>
              <a:off x="0" y="-19050"/>
              <a:ext cx="3383280" cy="659130"/>
            </a:xfrm>
            <a:prstGeom prst="rect">
              <a:avLst/>
            </a:prstGeom>
          </p:spPr>
          <p:txBody>
            <a:bodyPr lIns="0" tIns="0" rIns="0" bIns="0" rtlCol="0" anchor="ctr"/>
            <a:lstStyle/>
            <a:p>
              <a:pPr algn="ctr">
                <a:lnSpc>
                  <a:spcPts val="1890"/>
                </a:lnSpc>
              </a:pPr>
              <a:r>
                <a:rPr lang="en-US" sz="1575">
                  <a:solidFill>
                    <a:srgbClr val="E5E9EE"/>
                  </a:solidFill>
                  <a:latin typeface="Calibri (MS)" panose="020F0502020204030204"/>
                  <a:ea typeface="Calibri (MS)" panose="020F0502020204030204"/>
                  <a:cs typeface="Calibri (MS)" panose="020F0502020204030204"/>
                  <a:sym typeface="Calibri (MS)" panose="020F0502020204030204"/>
                </a:rPr>
                <a:t>10.0.2.15</a:t>
              </a:r>
              <a:endParaRPr lang="en-US" sz="1575">
                <a:solidFill>
                  <a:srgbClr val="E5E9EE"/>
                </a:solidFill>
                <a:latin typeface="Calibri (MS)" panose="020F0502020204030204"/>
                <a:ea typeface="Calibri (MS)" panose="020F0502020204030204"/>
                <a:cs typeface="Calibri (MS)" panose="020F0502020204030204"/>
                <a:sym typeface="Calibri (MS)" panose="020F0502020204030204"/>
              </a:endParaRPr>
            </a:p>
          </p:txBody>
        </p:sp>
      </p:grpSp>
      <p:sp>
        <p:nvSpPr>
          <p:cNvPr id="11" name="AutoShape 11"/>
          <p:cNvSpPr/>
          <p:nvPr/>
        </p:nvSpPr>
        <p:spPr>
          <a:xfrm rot="222900">
            <a:off x="3946712" y="4585335"/>
            <a:ext cx="514483" cy="0"/>
          </a:xfrm>
          <a:prstGeom prst="line">
            <a:avLst/>
          </a:prstGeom>
          <a:ln w="19050" cap="rnd">
            <a:solidFill>
              <a:srgbClr val="6B7A8F"/>
            </a:solidFill>
            <a:prstDash val="solid"/>
            <a:headEnd type="none" w="sm" len="sm"/>
            <a:tailEnd type="triangle" w="lg" len="med"/>
          </a:ln>
        </p:spPr>
      </p:sp>
      <p:grpSp>
        <p:nvGrpSpPr>
          <p:cNvPr id="12" name="Group 12"/>
          <p:cNvGrpSpPr/>
          <p:nvPr/>
        </p:nvGrpSpPr>
        <p:grpSpPr>
          <a:xfrm rot="0">
            <a:off x="4434459" y="3556635"/>
            <a:ext cx="2830830" cy="2076450"/>
            <a:chOff x="0" y="0"/>
            <a:chExt cx="3774440" cy="2768600"/>
          </a:xfrm>
        </p:grpSpPr>
        <p:sp>
          <p:nvSpPr>
            <p:cNvPr id="13" name="Freeform 13"/>
            <p:cNvSpPr/>
            <p:nvPr/>
          </p:nvSpPr>
          <p:spPr>
            <a:xfrm>
              <a:off x="0" y="0"/>
              <a:ext cx="3774440" cy="2768600"/>
            </a:xfrm>
            <a:custGeom>
              <a:avLst/>
              <a:gdLst/>
              <a:ahLst/>
              <a:cxnLst/>
              <a:rect l="l" t="t" r="r" b="b"/>
              <a:pathLst>
                <a:path w="3774440" h="2768600">
                  <a:moveTo>
                    <a:pt x="0" y="147701"/>
                  </a:moveTo>
                  <a:cubicBezTo>
                    <a:pt x="0" y="66167"/>
                    <a:pt x="66167" y="0"/>
                    <a:pt x="147701" y="0"/>
                  </a:cubicBezTo>
                  <a:lnTo>
                    <a:pt x="3626739" y="0"/>
                  </a:lnTo>
                  <a:cubicBezTo>
                    <a:pt x="3708273" y="0"/>
                    <a:pt x="3774440" y="66167"/>
                    <a:pt x="3774440" y="147701"/>
                  </a:cubicBezTo>
                  <a:lnTo>
                    <a:pt x="3774440" y="2620899"/>
                  </a:lnTo>
                  <a:cubicBezTo>
                    <a:pt x="3774440" y="2702433"/>
                    <a:pt x="3708273" y="2768600"/>
                    <a:pt x="3626739" y="2768600"/>
                  </a:cubicBezTo>
                  <a:lnTo>
                    <a:pt x="147701" y="2768600"/>
                  </a:lnTo>
                  <a:cubicBezTo>
                    <a:pt x="66167" y="2768600"/>
                    <a:pt x="0" y="2702433"/>
                    <a:pt x="0" y="2620899"/>
                  </a:cubicBezTo>
                  <a:close/>
                </a:path>
              </a:pathLst>
            </a:custGeom>
            <a:solidFill>
              <a:srgbClr val="2C5F2D"/>
            </a:solidFill>
            <a:ln w="19050" cap="sq">
              <a:solidFill>
                <a:srgbClr val="2C5F2D"/>
              </a:solidFill>
              <a:prstDash val="solid"/>
              <a:miter/>
            </a:ln>
          </p:spPr>
        </p:sp>
      </p:grpSp>
      <p:grpSp>
        <p:nvGrpSpPr>
          <p:cNvPr id="14" name="Group 14"/>
          <p:cNvGrpSpPr/>
          <p:nvPr/>
        </p:nvGrpSpPr>
        <p:grpSpPr>
          <a:xfrm rot="0">
            <a:off x="4581144" y="3566160"/>
            <a:ext cx="2537460" cy="2057400"/>
            <a:chOff x="0" y="0"/>
            <a:chExt cx="3383280" cy="2743200"/>
          </a:xfrm>
        </p:grpSpPr>
        <p:sp>
          <p:nvSpPr>
            <p:cNvPr id="15" name="Freeform 15"/>
            <p:cNvSpPr/>
            <p:nvPr/>
          </p:nvSpPr>
          <p:spPr>
            <a:xfrm>
              <a:off x="0" y="0"/>
              <a:ext cx="3383280" cy="2743200"/>
            </a:xfrm>
            <a:custGeom>
              <a:avLst/>
              <a:gdLst/>
              <a:ahLst/>
              <a:cxnLst/>
              <a:rect l="l" t="t" r="r" b="b"/>
              <a:pathLst>
                <a:path w="3383280" h="2743200">
                  <a:moveTo>
                    <a:pt x="0" y="0"/>
                  </a:moveTo>
                  <a:lnTo>
                    <a:pt x="3383280" y="0"/>
                  </a:lnTo>
                  <a:lnTo>
                    <a:pt x="3383280" y="2743200"/>
                  </a:lnTo>
                  <a:lnTo>
                    <a:pt x="0" y="2743200"/>
                  </a:lnTo>
                  <a:close/>
                </a:path>
              </a:pathLst>
            </a:custGeom>
            <a:blipFill>
              <a:blip r:embed="rId1">
                <a:alphaModFix amt="0"/>
              </a:blip>
              <a:stretch>
                <a:fillRect l="-54029" r="-54029"/>
              </a:stretch>
            </a:blipFill>
          </p:spPr>
        </p:sp>
        <p:sp>
          <p:nvSpPr>
            <p:cNvPr id="16" name="TextBox 16"/>
            <p:cNvSpPr txBox="1"/>
            <p:nvPr/>
          </p:nvSpPr>
          <p:spPr>
            <a:xfrm>
              <a:off x="0" y="-57150"/>
              <a:ext cx="3383280" cy="2800350"/>
            </a:xfrm>
            <a:prstGeom prst="rect">
              <a:avLst/>
            </a:prstGeom>
          </p:spPr>
          <p:txBody>
            <a:bodyPr lIns="0" tIns="0" rIns="0" bIns="0" rtlCol="0" anchor="ctr"/>
            <a:lstStyle/>
            <a:p>
              <a:pPr algn="ctr">
                <a:lnSpc>
                  <a:spcPts val="2455"/>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Wi-Fi / Switch /</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455"/>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Access Point</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17" name="AutoShape 17"/>
          <p:cNvSpPr/>
          <p:nvPr/>
        </p:nvSpPr>
        <p:spPr>
          <a:xfrm rot="222900">
            <a:off x="7238552" y="4585335"/>
            <a:ext cx="514483" cy="0"/>
          </a:xfrm>
          <a:prstGeom prst="line">
            <a:avLst/>
          </a:prstGeom>
          <a:ln w="19050" cap="rnd">
            <a:solidFill>
              <a:srgbClr val="6B7A8F"/>
            </a:solidFill>
            <a:prstDash val="solid"/>
            <a:headEnd type="none" w="sm" len="sm"/>
            <a:tailEnd type="triangle" w="lg" len="med"/>
          </a:ln>
        </p:spPr>
      </p:sp>
      <p:grpSp>
        <p:nvGrpSpPr>
          <p:cNvPr id="18" name="Group 18"/>
          <p:cNvGrpSpPr/>
          <p:nvPr/>
        </p:nvGrpSpPr>
        <p:grpSpPr>
          <a:xfrm rot="0">
            <a:off x="7726299" y="3556635"/>
            <a:ext cx="2830830" cy="2076450"/>
            <a:chOff x="0" y="0"/>
            <a:chExt cx="3774440" cy="2768600"/>
          </a:xfrm>
        </p:grpSpPr>
        <p:sp>
          <p:nvSpPr>
            <p:cNvPr id="19" name="Freeform 19"/>
            <p:cNvSpPr/>
            <p:nvPr/>
          </p:nvSpPr>
          <p:spPr>
            <a:xfrm>
              <a:off x="0" y="0"/>
              <a:ext cx="3774440" cy="2768600"/>
            </a:xfrm>
            <a:custGeom>
              <a:avLst/>
              <a:gdLst/>
              <a:ahLst/>
              <a:cxnLst/>
              <a:rect l="l" t="t" r="r" b="b"/>
              <a:pathLst>
                <a:path w="3774440" h="2768600">
                  <a:moveTo>
                    <a:pt x="0" y="147701"/>
                  </a:moveTo>
                  <a:cubicBezTo>
                    <a:pt x="0" y="66167"/>
                    <a:pt x="66167" y="0"/>
                    <a:pt x="147701" y="0"/>
                  </a:cubicBezTo>
                  <a:lnTo>
                    <a:pt x="3626739" y="0"/>
                  </a:lnTo>
                  <a:cubicBezTo>
                    <a:pt x="3708273" y="0"/>
                    <a:pt x="3774440" y="66167"/>
                    <a:pt x="3774440" y="147701"/>
                  </a:cubicBezTo>
                  <a:lnTo>
                    <a:pt x="3774440" y="2620899"/>
                  </a:lnTo>
                  <a:cubicBezTo>
                    <a:pt x="3774440" y="2702433"/>
                    <a:pt x="3708273" y="2768600"/>
                    <a:pt x="3626739" y="2768600"/>
                  </a:cubicBezTo>
                  <a:lnTo>
                    <a:pt x="147701" y="2768600"/>
                  </a:lnTo>
                  <a:cubicBezTo>
                    <a:pt x="66167" y="2768600"/>
                    <a:pt x="0" y="2702433"/>
                    <a:pt x="0" y="2620899"/>
                  </a:cubicBezTo>
                  <a:close/>
                </a:path>
              </a:pathLst>
            </a:custGeom>
            <a:solidFill>
              <a:srgbClr val="B85042"/>
            </a:solidFill>
            <a:ln w="19050" cap="sq">
              <a:solidFill>
                <a:srgbClr val="B85042"/>
              </a:solidFill>
              <a:prstDash val="solid"/>
              <a:miter/>
            </a:ln>
          </p:spPr>
        </p:sp>
      </p:grpSp>
      <p:grpSp>
        <p:nvGrpSpPr>
          <p:cNvPr id="20" name="Group 20"/>
          <p:cNvGrpSpPr/>
          <p:nvPr/>
        </p:nvGrpSpPr>
        <p:grpSpPr>
          <a:xfrm rot="0">
            <a:off x="7872984" y="3950208"/>
            <a:ext cx="2537460" cy="1028700"/>
            <a:chOff x="0" y="0"/>
            <a:chExt cx="3383280" cy="1371600"/>
          </a:xfrm>
        </p:grpSpPr>
        <p:sp>
          <p:nvSpPr>
            <p:cNvPr id="21" name="Freeform 21"/>
            <p:cNvSpPr/>
            <p:nvPr/>
          </p:nvSpPr>
          <p:spPr>
            <a:xfrm>
              <a:off x="0" y="0"/>
              <a:ext cx="3383280" cy="1371600"/>
            </a:xfrm>
            <a:custGeom>
              <a:avLst/>
              <a:gdLst/>
              <a:ahLst/>
              <a:cxnLst/>
              <a:rect l="l" t="t" r="r" b="b"/>
              <a:pathLst>
                <a:path w="3383280" h="1371600">
                  <a:moveTo>
                    <a:pt x="0" y="0"/>
                  </a:moveTo>
                  <a:lnTo>
                    <a:pt x="3383280" y="0"/>
                  </a:lnTo>
                  <a:lnTo>
                    <a:pt x="3383280" y="1371600"/>
                  </a:lnTo>
                  <a:lnTo>
                    <a:pt x="0" y="1371600"/>
                  </a:lnTo>
                  <a:close/>
                </a:path>
              </a:pathLst>
            </a:custGeom>
            <a:blipFill>
              <a:blip r:embed="rId1">
                <a:alphaModFix amt="0"/>
              </a:blip>
              <a:stretch>
                <a:fillRect l="-2014" r="-2014"/>
              </a:stretch>
            </a:blipFill>
          </p:spPr>
        </p:sp>
        <p:sp>
          <p:nvSpPr>
            <p:cNvPr id="22" name="TextBox 22"/>
            <p:cNvSpPr txBox="1"/>
            <p:nvPr/>
          </p:nvSpPr>
          <p:spPr>
            <a:xfrm>
              <a:off x="0" y="-57150"/>
              <a:ext cx="3383280" cy="1428750"/>
            </a:xfrm>
            <a:prstGeom prst="rect">
              <a:avLst/>
            </a:prstGeom>
          </p:spPr>
          <p:txBody>
            <a:bodyPr lIns="0" tIns="0" rIns="0" bIns="0" rtlCol="0" anchor="ctr"/>
            <a:lstStyle/>
            <a:p>
              <a:pPr algn="ctr">
                <a:lnSpc>
                  <a:spcPts val="2455"/>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Router / Default</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a:p>
              <a:pPr algn="ctr">
                <a:lnSpc>
                  <a:spcPts val="2455"/>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Gateway</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23" name="Group 23"/>
          <p:cNvGrpSpPr/>
          <p:nvPr/>
        </p:nvGrpSpPr>
        <p:grpSpPr>
          <a:xfrm rot="0">
            <a:off x="7872984" y="4937760"/>
            <a:ext cx="2537460" cy="480060"/>
            <a:chOff x="0" y="0"/>
            <a:chExt cx="3383280" cy="640080"/>
          </a:xfrm>
        </p:grpSpPr>
        <p:sp>
          <p:nvSpPr>
            <p:cNvPr id="24" name="Freeform 24"/>
            <p:cNvSpPr/>
            <p:nvPr/>
          </p:nvSpPr>
          <p:spPr>
            <a:xfrm>
              <a:off x="0" y="0"/>
              <a:ext cx="3383280" cy="640080"/>
            </a:xfrm>
            <a:custGeom>
              <a:avLst/>
              <a:gdLst/>
              <a:ahLst/>
              <a:cxnLst/>
              <a:rect l="l" t="t" r="r" b="b"/>
              <a:pathLst>
                <a:path w="3383280" h="640080">
                  <a:moveTo>
                    <a:pt x="0" y="0"/>
                  </a:moveTo>
                  <a:lnTo>
                    <a:pt x="3383280" y="0"/>
                  </a:lnTo>
                  <a:lnTo>
                    <a:pt x="3383280" y="640080"/>
                  </a:lnTo>
                  <a:lnTo>
                    <a:pt x="0" y="640080"/>
                  </a:lnTo>
                  <a:close/>
                </a:path>
              </a:pathLst>
            </a:custGeom>
            <a:blipFill>
              <a:blip r:embed="rId1">
                <a:alphaModFix amt="0"/>
              </a:blip>
              <a:stretch>
                <a:fillRect t="-52992" b="-52992"/>
              </a:stretch>
            </a:blipFill>
          </p:spPr>
        </p:sp>
        <p:sp>
          <p:nvSpPr>
            <p:cNvPr id="25" name="TextBox 25"/>
            <p:cNvSpPr txBox="1"/>
            <p:nvPr/>
          </p:nvSpPr>
          <p:spPr>
            <a:xfrm>
              <a:off x="0" y="-19050"/>
              <a:ext cx="3383280" cy="659130"/>
            </a:xfrm>
            <a:prstGeom prst="rect">
              <a:avLst/>
            </a:prstGeom>
          </p:spPr>
          <p:txBody>
            <a:bodyPr lIns="0" tIns="0" rIns="0" bIns="0" rtlCol="0" anchor="ctr"/>
            <a:lstStyle/>
            <a:p>
              <a:pPr algn="ctr">
                <a:lnSpc>
                  <a:spcPts val="1890"/>
                </a:lnSpc>
              </a:pPr>
              <a:r>
                <a:rPr lang="en-US" sz="1575">
                  <a:solidFill>
                    <a:srgbClr val="E5E9EE"/>
                  </a:solidFill>
                  <a:latin typeface="Calibri (MS)" panose="020F0502020204030204"/>
                  <a:ea typeface="Calibri (MS)" panose="020F0502020204030204"/>
                  <a:cs typeface="Calibri (MS)" panose="020F0502020204030204"/>
                  <a:sym typeface="Calibri (MS)" panose="020F0502020204030204"/>
                </a:rPr>
                <a:t>10.0.2.2</a:t>
              </a:r>
              <a:endParaRPr lang="en-US" sz="1575">
                <a:solidFill>
                  <a:srgbClr val="E5E9EE"/>
                </a:solidFill>
                <a:latin typeface="Calibri (MS)" panose="020F0502020204030204"/>
                <a:ea typeface="Calibri (MS)" panose="020F0502020204030204"/>
                <a:cs typeface="Calibri (MS)" panose="020F0502020204030204"/>
                <a:sym typeface="Calibri (MS)" panose="020F0502020204030204"/>
              </a:endParaRPr>
            </a:p>
          </p:txBody>
        </p:sp>
      </p:grpSp>
      <p:sp>
        <p:nvSpPr>
          <p:cNvPr id="26" name="AutoShape 26"/>
          <p:cNvSpPr/>
          <p:nvPr/>
        </p:nvSpPr>
        <p:spPr>
          <a:xfrm rot="222900">
            <a:off x="10530392" y="4585335"/>
            <a:ext cx="514483" cy="0"/>
          </a:xfrm>
          <a:prstGeom prst="line">
            <a:avLst/>
          </a:prstGeom>
          <a:ln w="19050" cap="rnd">
            <a:solidFill>
              <a:srgbClr val="6B7A8F"/>
            </a:solidFill>
            <a:prstDash val="solid"/>
            <a:headEnd type="none" w="sm" len="sm"/>
            <a:tailEnd type="triangle" w="lg" len="med"/>
          </a:ln>
        </p:spPr>
      </p:sp>
      <p:grpSp>
        <p:nvGrpSpPr>
          <p:cNvPr id="27" name="Group 27"/>
          <p:cNvGrpSpPr/>
          <p:nvPr/>
        </p:nvGrpSpPr>
        <p:grpSpPr>
          <a:xfrm rot="0">
            <a:off x="11018139" y="3556635"/>
            <a:ext cx="2830830" cy="2076450"/>
            <a:chOff x="0" y="0"/>
            <a:chExt cx="3774440" cy="2768600"/>
          </a:xfrm>
        </p:grpSpPr>
        <p:sp>
          <p:nvSpPr>
            <p:cNvPr id="28" name="Freeform 28"/>
            <p:cNvSpPr/>
            <p:nvPr/>
          </p:nvSpPr>
          <p:spPr>
            <a:xfrm>
              <a:off x="0" y="0"/>
              <a:ext cx="3774440" cy="2768600"/>
            </a:xfrm>
            <a:custGeom>
              <a:avLst/>
              <a:gdLst/>
              <a:ahLst/>
              <a:cxnLst/>
              <a:rect l="l" t="t" r="r" b="b"/>
              <a:pathLst>
                <a:path w="3774440" h="2768600">
                  <a:moveTo>
                    <a:pt x="0" y="147701"/>
                  </a:moveTo>
                  <a:cubicBezTo>
                    <a:pt x="0" y="66167"/>
                    <a:pt x="66167" y="0"/>
                    <a:pt x="147701" y="0"/>
                  </a:cubicBezTo>
                  <a:lnTo>
                    <a:pt x="3626739" y="0"/>
                  </a:lnTo>
                  <a:cubicBezTo>
                    <a:pt x="3708273" y="0"/>
                    <a:pt x="3774440" y="66167"/>
                    <a:pt x="3774440" y="147701"/>
                  </a:cubicBezTo>
                  <a:lnTo>
                    <a:pt x="3774440" y="2620899"/>
                  </a:lnTo>
                  <a:cubicBezTo>
                    <a:pt x="3774440" y="2702433"/>
                    <a:pt x="3708273" y="2768600"/>
                    <a:pt x="3626739" y="2768600"/>
                  </a:cubicBezTo>
                  <a:lnTo>
                    <a:pt x="147701" y="2768600"/>
                  </a:lnTo>
                  <a:cubicBezTo>
                    <a:pt x="66167" y="2768600"/>
                    <a:pt x="0" y="2702433"/>
                    <a:pt x="0" y="2620899"/>
                  </a:cubicBezTo>
                  <a:close/>
                </a:path>
              </a:pathLst>
            </a:custGeom>
            <a:solidFill>
              <a:srgbClr val="36454F"/>
            </a:solidFill>
            <a:ln w="19050" cap="sq">
              <a:solidFill>
                <a:srgbClr val="36454F"/>
              </a:solidFill>
              <a:prstDash val="solid"/>
              <a:miter/>
            </a:ln>
          </p:spPr>
        </p:sp>
      </p:grpSp>
      <p:grpSp>
        <p:nvGrpSpPr>
          <p:cNvPr id="29" name="Group 29"/>
          <p:cNvGrpSpPr/>
          <p:nvPr/>
        </p:nvGrpSpPr>
        <p:grpSpPr>
          <a:xfrm rot="0">
            <a:off x="11164824" y="3566160"/>
            <a:ext cx="2537460" cy="2057400"/>
            <a:chOff x="0" y="0"/>
            <a:chExt cx="3383280" cy="2743200"/>
          </a:xfrm>
        </p:grpSpPr>
        <p:sp>
          <p:nvSpPr>
            <p:cNvPr id="30" name="Freeform 30"/>
            <p:cNvSpPr/>
            <p:nvPr/>
          </p:nvSpPr>
          <p:spPr>
            <a:xfrm>
              <a:off x="0" y="0"/>
              <a:ext cx="3383280" cy="2743200"/>
            </a:xfrm>
            <a:custGeom>
              <a:avLst/>
              <a:gdLst/>
              <a:ahLst/>
              <a:cxnLst/>
              <a:rect l="l" t="t" r="r" b="b"/>
              <a:pathLst>
                <a:path w="3383280" h="2743200">
                  <a:moveTo>
                    <a:pt x="0" y="0"/>
                  </a:moveTo>
                  <a:lnTo>
                    <a:pt x="3383280" y="0"/>
                  </a:lnTo>
                  <a:lnTo>
                    <a:pt x="3383280" y="2743200"/>
                  </a:lnTo>
                  <a:lnTo>
                    <a:pt x="0" y="2743200"/>
                  </a:lnTo>
                  <a:close/>
                </a:path>
              </a:pathLst>
            </a:custGeom>
            <a:blipFill>
              <a:blip r:embed="rId1">
                <a:alphaModFix amt="0"/>
              </a:blip>
              <a:stretch>
                <a:fillRect l="-54029" r="-54029"/>
              </a:stretch>
            </a:blipFill>
          </p:spPr>
        </p:sp>
        <p:sp>
          <p:nvSpPr>
            <p:cNvPr id="31" name="TextBox 31"/>
            <p:cNvSpPr txBox="1"/>
            <p:nvPr/>
          </p:nvSpPr>
          <p:spPr>
            <a:xfrm>
              <a:off x="0" y="-57150"/>
              <a:ext cx="3383280" cy="2800350"/>
            </a:xfrm>
            <a:prstGeom prst="rect">
              <a:avLst/>
            </a:prstGeom>
          </p:spPr>
          <p:txBody>
            <a:bodyPr lIns="0" tIns="0" rIns="0" bIns="0" rtlCol="0" anchor="ctr"/>
            <a:lstStyle/>
            <a:p>
              <a:pPr algn="ctr">
                <a:lnSpc>
                  <a:spcPts val="2455"/>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Internet</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sp>
        <p:nvSpPr>
          <p:cNvPr id="32" name="AutoShape 32"/>
          <p:cNvSpPr/>
          <p:nvPr/>
        </p:nvSpPr>
        <p:spPr>
          <a:xfrm rot="222900">
            <a:off x="13822232" y="4585335"/>
            <a:ext cx="514483" cy="0"/>
          </a:xfrm>
          <a:prstGeom prst="line">
            <a:avLst/>
          </a:prstGeom>
          <a:ln w="19050" cap="rnd">
            <a:solidFill>
              <a:srgbClr val="6B7A8F"/>
            </a:solidFill>
            <a:prstDash val="solid"/>
            <a:headEnd type="none" w="sm" len="sm"/>
            <a:tailEnd type="triangle" w="lg" len="med"/>
          </a:ln>
        </p:spPr>
      </p:sp>
      <p:grpSp>
        <p:nvGrpSpPr>
          <p:cNvPr id="33" name="Group 33"/>
          <p:cNvGrpSpPr/>
          <p:nvPr/>
        </p:nvGrpSpPr>
        <p:grpSpPr>
          <a:xfrm rot="0">
            <a:off x="14309979" y="3556635"/>
            <a:ext cx="2830830" cy="2076450"/>
            <a:chOff x="0" y="0"/>
            <a:chExt cx="3774440" cy="2768600"/>
          </a:xfrm>
        </p:grpSpPr>
        <p:sp>
          <p:nvSpPr>
            <p:cNvPr id="34" name="Freeform 34"/>
            <p:cNvSpPr/>
            <p:nvPr/>
          </p:nvSpPr>
          <p:spPr>
            <a:xfrm>
              <a:off x="0" y="0"/>
              <a:ext cx="3774440" cy="2768600"/>
            </a:xfrm>
            <a:custGeom>
              <a:avLst/>
              <a:gdLst/>
              <a:ahLst/>
              <a:cxnLst/>
              <a:rect l="l" t="t" r="r" b="b"/>
              <a:pathLst>
                <a:path w="3774440" h="2768600">
                  <a:moveTo>
                    <a:pt x="0" y="147701"/>
                  </a:moveTo>
                  <a:cubicBezTo>
                    <a:pt x="0" y="66167"/>
                    <a:pt x="66167" y="0"/>
                    <a:pt x="147701" y="0"/>
                  </a:cubicBezTo>
                  <a:lnTo>
                    <a:pt x="3626739" y="0"/>
                  </a:lnTo>
                  <a:cubicBezTo>
                    <a:pt x="3708273" y="0"/>
                    <a:pt x="3774440" y="66167"/>
                    <a:pt x="3774440" y="147701"/>
                  </a:cubicBezTo>
                  <a:lnTo>
                    <a:pt x="3774440" y="2620899"/>
                  </a:lnTo>
                  <a:cubicBezTo>
                    <a:pt x="3774440" y="2702433"/>
                    <a:pt x="3708273" y="2768600"/>
                    <a:pt x="3626739" y="2768600"/>
                  </a:cubicBezTo>
                  <a:lnTo>
                    <a:pt x="147701" y="2768600"/>
                  </a:lnTo>
                  <a:cubicBezTo>
                    <a:pt x="66167" y="2768600"/>
                    <a:pt x="0" y="2702433"/>
                    <a:pt x="0" y="2620899"/>
                  </a:cubicBezTo>
                  <a:close/>
                </a:path>
              </a:pathLst>
            </a:custGeom>
            <a:solidFill>
              <a:srgbClr val="6D2E46"/>
            </a:solidFill>
            <a:ln w="19050" cap="sq">
              <a:solidFill>
                <a:srgbClr val="6D2E46"/>
              </a:solidFill>
              <a:prstDash val="solid"/>
              <a:miter/>
            </a:ln>
          </p:spPr>
        </p:sp>
      </p:grpSp>
      <p:grpSp>
        <p:nvGrpSpPr>
          <p:cNvPr id="35" name="Group 35"/>
          <p:cNvGrpSpPr/>
          <p:nvPr/>
        </p:nvGrpSpPr>
        <p:grpSpPr>
          <a:xfrm rot="0">
            <a:off x="14456664" y="3950208"/>
            <a:ext cx="2537460" cy="1028700"/>
            <a:chOff x="0" y="0"/>
            <a:chExt cx="3383280" cy="1371600"/>
          </a:xfrm>
        </p:grpSpPr>
        <p:sp>
          <p:nvSpPr>
            <p:cNvPr id="36" name="Freeform 36"/>
            <p:cNvSpPr/>
            <p:nvPr/>
          </p:nvSpPr>
          <p:spPr>
            <a:xfrm>
              <a:off x="0" y="0"/>
              <a:ext cx="3383280" cy="1371600"/>
            </a:xfrm>
            <a:custGeom>
              <a:avLst/>
              <a:gdLst/>
              <a:ahLst/>
              <a:cxnLst/>
              <a:rect l="l" t="t" r="r" b="b"/>
              <a:pathLst>
                <a:path w="3383280" h="1371600">
                  <a:moveTo>
                    <a:pt x="0" y="0"/>
                  </a:moveTo>
                  <a:lnTo>
                    <a:pt x="3383280" y="0"/>
                  </a:lnTo>
                  <a:lnTo>
                    <a:pt x="3383280" y="1371600"/>
                  </a:lnTo>
                  <a:lnTo>
                    <a:pt x="0" y="1371600"/>
                  </a:lnTo>
                  <a:close/>
                </a:path>
              </a:pathLst>
            </a:custGeom>
            <a:blipFill>
              <a:blip r:embed="rId1">
                <a:alphaModFix amt="0"/>
              </a:blip>
              <a:stretch>
                <a:fillRect l="-2014" r="-2014"/>
              </a:stretch>
            </a:blipFill>
          </p:spPr>
        </p:sp>
        <p:sp>
          <p:nvSpPr>
            <p:cNvPr id="37" name="TextBox 37"/>
            <p:cNvSpPr txBox="1"/>
            <p:nvPr/>
          </p:nvSpPr>
          <p:spPr>
            <a:xfrm>
              <a:off x="0" y="-57150"/>
              <a:ext cx="3383280" cy="1428750"/>
            </a:xfrm>
            <a:prstGeom prst="rect">
              <a:avLst/>
            </a:prstGeom>
          </p:spPr>
          <p:txBody>
            <a:bodyPr lIns="0" tIns="0" rIns="0" bIns="0" rtlCol="0" anchor="ctr"/>
            <a:lstStyle/>
            <a:p>
              <a:pPr algn="ctr">
                <a:lnSpc>
                  <a:spcPts val="2455"/>
                </a:lnSpc>
              </a:pPr>
              <a:r>
                <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rPr>
                <a:t>Remote Server</a:t>
              </a:r>
              <a:endParaRPr lang="en-US" sz="1950" b="1">
                <a:solidFill>
                  <a:srgbClr val="FFFFFF"/>
                </a:solidFill>
                <a:latin typeface="Calibri (MS) Bold" panose="020F0702030404030204"/>
                <a:ea typeface="Calibri (MS) Bold" panose="020F0702030404030204"/>
                <a:cs typeface="Calibri (MS) Bold" panose="020F0702030404030204"/>
                <a:sym typeface="Calibri (MS) Bold" panose="020F0702030404030204"/>
              </a:endParaRPr>
            </a:p>
          </p:txBody>
        </p:sp>
      </p:grpSp>
      <p:grpSp>
        <p:nvGrpSpPr>
          <p:cNvPr id="38" name="Group 38"/>
          <p:cNvGrpSpPr/>
          <p:nvPr/>
        </p:nvGrpSpPr>
        <p:grpSpPr>
          <a:xfrm rot="0">
            <a:off x="14456664" y="4937760"/>
            <a:ext cx="2537460" cy="480060"/>
            <a:chOff x="0" y="0"/>
            <a:chExt cx="3383280" cy="640080"/>
          </a:xfrm>
        </p:grpSpPr>
        <p:sp>
          <p:nvSpPr>
            <p:cNvPr id="39" name="Freeform 39"/>
            <p:cNvSpPr/>
            <p:nvPr/>
          </p:nvSpPr>
          <p:spPr>
            <a:xfrm>
              <a:off x="0" y="0"/>
              <a:ext cx="3383280" cy="640080"/>
            </a:xfrm>
            <a:custGeom>
              <a:avLst/>
              <a:gdLst/>
              <a:ahLst/>
              <a:cxnLst/>
              <a:rect l="l" t="t" r="r" b="b"/>
              <a:pathLst>
                <a:path w="3383280" h="640080">
                  <a:moveTo>
                    <a:pt x="0" y="0"/>
                  </a:moveTo>
                  <a:lnTo>
                    <a:pt x="3383280" y="0"/>
                  </a:lnTo>
                  <a:lnTo>
                    <a:pt x="3383280" y="640080"/>
                  </a:lnTo>
                  <a:lnTo>
                    <a:pt x="0" y="640080"/>
                  </a:lnTo>
                  <a:close/>
                </a:path>
              </a:pathLst>
            </a:custGeom>
            <a:blipFill>
              <a:blip r:embed="rId1">
                <a:alphaModFix amt="0"/>
              </a:blip>
              <a:stretch>
                <a:fillRect t="-52992" b="-52992"/>
              </a:stretch>
            </a:blipFill>
          </p:spPr>
        </p:sp>
        <p:sp>
          <p:nvSpPr>
            <p:cNvPr id="40" name="TextBox 40"/>
            <p:cNvSpPr txBox="1"/>
            <p:nvPr/>
          </p:nvSpPr>
          <p:spPr>
            <a:xfrm>
              <a:off x="0" y="-19050"/>
              <a:ext cx="3383280" cy="659130"/>
            </a:xfrm>
            <a:prstGeom prst="rect">
              <a:avLst/>
            </a:prstGeom>
          </p:spPr>
          <p:txBody>
            <a:bodyPr lIns="0" tIns="0" rIns="0" bIns="0" rtlCol="0" anchor="ctr"/>
            <a:lstStyle/>
            <a:p>
              <a:pPr algn="ctr">
                <a:lnSpc>
                  <a:spcPts val="1890"/>
                </a:lnSpc>
              </a:pPr>
              <a:r>
                <a:rPr lang="en-US" sz="1575">
                  <a:solidFill>
                    <a:srgbClr val="E5E9EE"/>
                  </a:solidFill>
                  <a:latin typeface="Calibri (MS)" panose="020F0502020204030204"/>
                  <a:ea typeface="Calibri (MS)" panose="020F0502020204030204"/>
                  <a:cs typeface="Calibri (MS)" panose="020F0502020204030204"/>
                  <a:sym typeface="Calibri (MS)" panose="020F0502020204030204"/>
                </a:rPr>
                <a:t>e.g. example.com</a:t>
              </a:r>
              <a:endParaRPr lang="en-US" sz="1575">
                <a:solidFill>
                  <a:srgbClr val="E5E9EE"/>
                </a:solidFill>
                <a:latin typeface="Calibri (MS)" panose="020F0502020204030204"/>
                <a:ea typeface="Calibri (MS)" panose="020F0502020204030204"/>
                <a:cs typeface="Calibri (MS)" panose="020F0502020204030204"/>
                <a:sym typeface="Calibri (MS)" panose="020F0502020204030204"/>
              </a:endParaRPr>
            </a:p>
          </p:txBody>
        </p:sp>
      </p:grpSp>
      <p:sp>
        <p:nvSpPr>
          <p:cNvPr id="41" name="TextBox 41"/>
          <p:cNvSpPr txBox="1"/>
          <p:nvPr/>
        </p:nvSpPr>
        <p:spPr>
          <a:xfrm>
            <a:off x="1920240" y="6635115"/>
            <a:ext cx="14401800" cy="768985"/>
          </a:xfrm>
          <a:prstGeom prst="rect">
            <a:avLst/>
          </a:prstGeom>
        </p:spPr>
        <p:txBody>
          <a:bodyPr lIns="0" tIns="0" rIns="0" bIns="0" rtlCol="0" anchor="t">
            <a:spAutoFit/>
          </a:bodyPr>
          <a:lstStyle/>
          <a:p>
            <a:pPr marL="393700" lvl="1" indent="-196850" algn="l">
              <a:lnSpc>
                <a:spcPts val="3000"/>
              </a:lnSpc>
              <a:buFont typeface="Arial" panose="020B0604020202020204"/>
              <a:buChar char="•"/>
            </a:pPr>
            <a:r>
              <a:rPr lang="en-US" sz="2175">
                <a:solidFill>
                  <a:srgbClr val="1B2A4A"/>
                </a:solidFill>
                <a:latin typeface="Calibri (MS)" panose="020F0502020204030204"/>
                <a:ea typeface="Calibri (MS)" panose="020F0502020204030204"/>
                <a:cs typeface="Calibri (MS)" panose="020F0502020204030204"/>
                <a:sym typeface="Calibri (MS)" panose="020F0502020204030204"/>
              </a:rPr>
              <a:t>Gateway (10.0.2.2) is the single chokepoint for all outbound traffic</a:t>
            </a:r>
            <a:endParaRPr lang="en-US" sz="2175">
              <a:solidFill>
                <a:srgbClr val="1B2A4A"/>
              </a:solidFill>
              <a:latin typeface="Calibri (MS)" panose="020F0502020204030204"/>
              <a:ea typeface="Calibri (MS)" panose="020F0502020204030204"/>
              <a:cs typeface="Calibri (MS)" panose="020F0502020204030204"/>
              <a:sym typeface="Calibri (MS)" panose="020F0502020204030204"/>
            </a:endParaRPr>
          </a:p>
          <a:p>
            <a:pPr marL="196850" lvl="1" indent="0" algn="l">
              <a:lnSpc>
                <a:spcPts val="3000"/>
              </a:lnSpc>
              <a:buFont typeface="Arial" panose="020B0604020202020204"/>
              <a:buNone/>
            </a:pPr>
            <a:endParaRPr lang="en-US" sz="2175">
              <a:solidFill>
                <a:srgbClr val="1B2A4A"/>
              </a:solidFill>
              <a:latin typeface="Calibri (MS)" panose="020F0502020204030204"/>
              <a:ea typeface="Calibri (MS)" panose="020F0502020204030204"/>
              <a:cs typeface="Calibri (MS)" panose="020F0502020204030204"/>
              <a:sym typeface="Calibri (MS)" panose="020F0502020204030204"/>
            </a:endParaRPr>
          </a:p>
        </p:txBody>
      </p:sp>
      <p:grpSp>
        <p:nvGrpSpPr>
          <p:cNvPr id="42" name="Group 42"/>
          <p:cNvGrpSpPr/>
          <p:nvPr/>
        </p:nvGrpSpPr>
        <p:grpSpPr>
          <a:xfrm rot="0">
            <a:off x="685800" y="9710928"/>
            <a:ext cx="10972800" cy="411480"/>
            <a:chOff x="0" y="0"/>
            <a:chExt cx="14630400" cy="548640"/>
          </a:xfrm>
        </p:grpSpPr>
        <p:sp>
          <p:nvSpPr>
            <p:cNvPr id="43" name="Freeform 43"/>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44" name="TextBox 44"/>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grpSp>
        <p:nvGrpSpPr>
          <p:cNvPr id="45" name="Group 45"/>
          <p:cNvGrpSpPr/>
          <p:nvPr/>
        </p:nvGrpSpPr>
        <p:grpSpPr>
          <a:xfrm rot="0">
            <a:off x="16911828" y="9710928"/>
            <a:ext cx="685800" cy="411480"/>
            <a:chOff x="0" y="0"/>
            <a:chExt cx="914400" cy="548640"/>
          </a:xfrm>
        </p:grpSpPr>
        <p:sp>
          <p:nvSpPr>
            <p:cNvPr id="46" name="Freeform 46"/>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47" name="TextBox 47"/>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6B7A8F"/>
                  </a:solidFill>
                  <a:latin typeface="Calibri (MS)" panose="020F0502020204030204"/>
                  <a:ea typeface="Calibri (MS)" panose="020F0502020204030204"/>
                  <a:cs typeface="Calibri (MS)" panose="020F0502020204030204"/>
                  <a:sym typeface="Calibri (MS)" panose="020F0502020204030204"/>
                </a:rPr>
                <a:t>9</a:t>
              </a:r>
              <a:endParaRPr lang="en-US" sz="1350">
                <a:solidFill>
                  <a:srgbClr val="6B7A8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grpSp>
        <p:nvGrpSpPr>
          <p:cNvPr id="2" name="Group 2"/>
          <p:cNvGrpSpPr/>
          <p:nvPr/>
        </p:nvGrpSpPr>
        <p:grpSpPr>
          <a:xfrm rot="0">
            <a:off x="-2194560" y="6583680"/>
            <a:ext cx="6172200" cy="6172200"/>
            <a:chOff x="0" y="0"/>
            <a:chExt cx="8229600" cy="8229600"/>
          </a:xfrm>
        </p:grpSpPr>
        <p:sp>
          <p:nvSpPr>
            <p:cNvPr id="3" name="Freeform 3"/>
            <p:cNvSpPr/>
            <p:nvPr/>
          </p:nvSpPr>
          <p:spPr>
            <a:xfrm>
              <a:off x="0" y="0"/>
              <a:ext cx="8229600" cy="8229600"/>
            </a:xfrm>
            <a:custGeom>
              <a:avLst/>
              <a:gdLst/>
              <a:ahLst/>
              <a:cxnLst/>
              <a:rect l="l" t="t" r="r" b="b"/>
              <a:pathLst>
                <a:path w="8229600" h="8229600">
                  <a:moveTo>
                    <a:pt x="0" y="4114800"/>
                  </a:moveTo>
                  <a:cubicBezTo>
                    <a:pt x="0" y="1842262"/>
                    <a:pt x="1842262" y="0"/>
                    <a:pt x="4114800" y="0"/>
                  </a:cubicBezTo>
                  <a:cubicBezTo>
                    <a:pt x="6387338" y="0"/>
                    <a:pt x="8229600" y="1842262"/>
                    <a:pt x="8229600" y="4114800"/>
                  </a:cubicBezTo>
                  <a:cubicBezTo>
                    <a:pt x="8229600" y="6387338"/>
                    <a:pt x="6387338" y="8229600"/>
                    <a:pt x="4114800" y="8229600"/>
                  </a:cubicBezTo>
                  <a:cubicBezTo>
                    <a:pt x="1842262" y="8229600"/>
                    <a:pt x="0" y="6387338"/>
                    <a:pt x="0" y="4114800"/>
                  </a:cubicBezTo>
                  <a:close/>
                </a:path>
              </a:pathLst>
            </a:custGeom>
            <a:solidFill>
              <a:srgbClr val="1B2A4A"/>
            </a:solidFill>
          </p:spPr>
        </p:sp>
      </p:grpSp>
      <p:sp>
        <p:nvSpPr>
          <p:cNvPr id="4" name="AutoShape 4"/>
          <p:cNvSpPr/>
          <p:nvPr/>
        </p:nvSpPr>
        <p:spPr>
          <a:xfrm rot="4020">
            <a:off x="950585" y="8430578"/>
            <a:ext cx="16341100" cy="0"/>
          </a:xfrm>
          <a:prstGeom prst="line">
            <a:avLst/>
          </a:prstGeom>
          <a:ln w="9525" cap="rnd">
            <a:solidFill>
              <a:srgbClr val="26405F"/>
            </a:solidFill>
            <a:prstDash val="solid"/>
            <a:headEnd type="none" w="sm" len="sm"/>
            <a:tailEnd type="none" w="sm" len="sm"/>
          </a:ln>
        </p:spPr>
      </p:sp>
      <p:grpSp>
        <p:nvGrpSpPr>
          <p:cNvPr id="5" name="Group 5"/>
          <p:cNvGrpSpPr/>
          <p:nvPr/>
        </p:nvGrpSpPr>
        <p:grpSpPr>
          <a:xfrm rot="0">
            <a:off x="4345602" y="1462955"/>
            <a:ext cx="9793464" cy="10286338"/>
            <a:chOff x="0" y="0"/>
            <a:chExt cx="13047192" cy="13703816"/>
          </a:xfrm>
        </p:grpSpPr>
        <p:sp>
          <p:nvSpPr>
            <p:cNvPr id="6" name="Freeform 6"/>
            <p:cNvSpPr/>
            <p:nvPr/>
          </p:nvSpPr>
          <p:spPr>
            <a:xfrm>
              <a:off x="0" y="0"/>
              <a:ext cx="13047191" cy="13703816"/>
            </a:xfrm>
            <a:custGeom>
              <a:avLst/>
              <a:gdLst/>
              <a:ahLst/>
              <a:cxnLst/>
              <a:rect l="l" t="t" r="r" b="b"/>
              <a:pathLst>
                <a:path w="13047191" h="13703816">
                  <a:moveTo>
                    <a:pt x="0" y="0"/>
                  </a:moveTo>
                  <a:lnTo>
                    <a:pt x="13047191" y="0"/>
                  </a:lnTo>
                  <a:lnTo>
                    <a:pt x="13047191" y="13703816"/>
                  </a:lnTo>
                  <a:lnTo>
                    <a:pt x="0" y="13703816"/>
                  </a:lnTo>
                  <a:close/>
                </a:path>
              </a:pathLst>
            </a:custGeom>
            <a:blipFill>
              <a:blip r:embed="rId1">
                <a:alphaModFix amt="0"/>
              </a:blip>
              <a:stretch>
                <a:fillRect t="-4464" r="57949" b="88862"/>
              </a:stretch>
            </a:blipFill>
          </p:spPr>
        </p:sp>
        <p:sp>
          <p:nvSpPr>
            <p:cNvPr id="7" name="TextBox 7"/>
            <p:cNvSpPr txBox="1"/>
            <p:nvPr/>
          </p:nvSpPr>
          <p:spPr>
            <a:xfrm>
              <a:off x="0" y="-9525"/>
              <a:ext cx="13047192" cy="13713341"/>
            </a:xfrm>
            <a:prstGeom prst="rect">
              <a:avLst/>
            </a:prstGeom>
          </p:spPr>
          <p:txBody>
            <a:bodyPr lIns="0" tIns="0" rIns="0" bIns="0" rtlCol="0" anchor="ctr"/>
            <a:lstStyle/>
            <a:p>
              <a:pPr algn="r">
                <a:lnSpc>
                  <a:spcPts val="16800"/>
                </a:lnSpc>
              </a:pPr>
              <a:r>
                <a:rPr lang="en-US" sz="14000" b="1">
                  <a:solidFill>
                    <a:srgbClr val="00C2D1"/>
                  </a:solidFill>
                  <a:latin typeface="Cambria Bold" panose="02040803050406030204"/>
                  <a:ea typeface="Cambria Bold" panose="02040803050406030204"/>
                  <a:cs typeface="Cambria Bold" panose="02040803050406030204"/>
                  <a:sym typeface="Cambria Bold" panose="02040803050406030204"/>
                </a:rPr>
                <a:t>Thank You</a:t>
              </a:r>
              <a:endParaRPr lang="en-US" sz="14000" b="1">
                <a:solidFill>
                  <a:srgbClr val="00C2D1"/>
                </a:solidFill>
                <a:latin typeface="Cambria Bold" panose="02040803050406030204"/>
                <a:ea typeface="Cambria Bold" panose="02040803050406030204"/>
                <a:cs typeface="Cambria Bold" panose="02040803050406030204"/>
                <a:sym typeface="Cambria Bold" panose="02040803050406030204"/>
              </a:endParaRPr>
            </a:p>
          </p:txBody>
        </p:sp>
      </p:grpSp>
      <p:grpSp>
        <p:nvGrpSpPr>
          <p:cNvPr id="8" name="Group 8"/>
          <p:cNvGrpSpPr/>
          <p:nvPr/>
        </p:nvGrpSpPr>
        <p:grpSpPr>
          <a:xfrm rot="0">
            <a:off x="685800" y="9710928"/>
            <a:ext cx="10972800" cy="411480"/>
            <a:chOff x="0" y="0"/>
            <a:chExt cx="14630400" cy="548640"/>
          </a:xfrm>
        </p:grpSpPr>
        <p:sp>
          <p:nvSpPr>
            <p:cNvPr id="9" name="Freeform 9"/>
            <p:cNvSpPr/>
            <p:nvPr/>
          </p:nvSpPr>
          <p:spPr>
            <a:xfrm>
              <a:off x="0" y="0"/>
              <a:ext cx="14630400" cy="548640"/>
            </a:xfrm>
            <a:custGeom>
              <a:avLst/>
              <a:gdLst/>
              <a:ahLst/>
              <a:cxnLst/>
              <a:rect l="l" t="t" r="r" b="b"/>
              <a:pathLst>
                <a:path w="14630400" h="548640">
                  <a:moveTo>
                    <a:pt x="0" y="0"/>
                  </a:moveTo>
                  <a:lnTo>
                    <a:pt x="14630400" y="0"/>
                  </a:lnTo>
                  <a:lnTo>
                    <a:pt x="14630400" y="548640"/>
                  </a:lnTo>
                  <a:lnTo>
                    <a:pt x="0" y="548640"/>
                  </a:lnTo>
                  <a:close/>
                </a:path>
              </a:pathLst>
            </a:custGeom>
            <a:blipFill>
              <a:blip r:embed="rId1">
                <a:alphaModFix amt="0"/>
              </a:blip>
              <a:stretch>
                <a:fillRect t="-469601" b="-469601"/>
              </a:stretch>
            </a:blipFill>
          </p:spPr>
        </p:sp>
        <p:sp>
          <p:nvSpPr>
            <p:cNvPr id="10" name="TextBox 10"/>
            <p:cNvSpPr txBox="1"/>
            <p:nvPr/>
          </p:nvSpPr>
          <p:spPr>
            <a:xfrm>
              <a:off x="0" y="-28575"/>
              <a:ext cx="14630400" cy="577215"/>
            </a:xfrm>
            <a:prstGeom prst="rect">
              <a:avLst/>
            </a:prstGeom>
          </p:spPr>
          <p:txBody>
            <a:bodyPr lIns="0" tIns="0" rIns="0" bIns="0" rtlCol="0" anchor="ctr"/>
            <a:lstStyle/>
            <a:p>
              <a:pPr algn="l">
                <a:lnSpc>
                  <a:spcPts val="1620"/>
                </a:lnSpc>
              </a:pPr>
              <a:r>
                <a:rPr lang="en-US" sz="1350">
                  <a:solidFill>
                    <a:srgbClr val="8FA3BF"/>
                  </a:solidFill>
                  <a:latin typeface="Calibri (MS)" panose="020F0502020204030204"/>
                  <a:ea typeface="Calibri (MS)" panose="020F0502020204030204"/>
                  <a:cs typeface="Calibri (MS)" panose="020F0502020204030204"/>
                  <a:sym typeface="Calibri (MS)" panose="020F0502020204030204"/>
                </a:rPr>
                <a:t>Week 3 Assessment — Network Discovery and Traffic Analysis</a:t>
              </a:r>
              <a:endParaRPr lang="en-US" sz="1350">
                <a:solidFill>
                  <a:srgbClr val="8FA3BF"/>
                </a:solidFill>
                <a:latin typeface="Calibri (MS)" panose="020F0502020204030204"/>
                <a:ea typeface="Calibri (MS)" panose="020F0502020204030204"/>
                <a:cs typeface="Calibri (MS)" panose="020F0502020204030204"/>
                <a:sym typeface="Calibri (MS)" panose="020F0502020204030204"/>
              </a:endParaRPr>
            </a:p>
          </p:txBody>
        </p:sp>
      </p:grpSp>
      <p:grpSp>
        <p:nvGrpSpPr>
          <p:cNvPr id="11" name="Group 11"/>
          <p:cNvGrpSpPr/>
          <p:nvPr/>
        </p:nvGrpSpPr>
        <p:grpSpPr>
          <a:xfrm rot="0">
            <a:off x="16911828" y="9710928"/>
            <a:ext cx="685800" cy="411480"/>
            <a:chOff x="0" y="0"/>
            <a:chExt cx="914400" cy="548640"/>
          </a:xfrm>
        </p:grpSpPr>
        <p:sp>
          <p:nvSpPr>
            <p:cNvPr id="12" name="Freeform 12"/>
            <p:cNvSpPr/>
            <p:nvPr/>
          </p:nvSpPr>
          <p:spPr>
            <a:xfrm>
              <a:off x="0" y="0"/>
              <a:ext cx="914400" cy="548640"/>
            </a:xfrm>
            <a:custGeom>
              <a:avLst/>
              <a:gdLst/>
              <a:ahLst/>
              <a:cxnLst/>
              <a:rect l="l" t="t" r="r" b="b"/>
              <a:pathLst>
                <a:path w="914400" h="548640">
                  <a:moveTo>
                    <a:pt x="0" y="0"/>
                  </a:moveTo>
                  <a:lnTo>
                    <a:pt x="914400" y="0"/>
                  </a:lnTo>
                  <a:lnTo>
                    <a:pt x="914400" y="548640"/>
                  </a:lnTo>
                  <a:lnTo>
                    <a:pt x="0" y="548640"/>
                  </a:lnTo>
                  <a:close/>
                </a:path>
              </a:pathLst>
            </a:custGeom>
            <a:blipFill>
              <a:blip r:embed="rId1">
                <a:alphaModFix amt="0"/>
              </a:blip>
              <a:stretch>
                <a:fillRect l="-26982" r="-26982"/>
              </a:stretch>
            </a:blipFill>
          </p:spPr>
        </p:sp>
        <p:sp>
          <p:nvSpPr>
            <p:cNvPr id="13" name="TextBox 13"/>
            <p:cNvSpPr txBox="1"/>
            <p:nvPr/>
          </p:nvSpPr>
          <p:spPr>
            <a:xfrm>
              <a:off x="0" y="-28575"/>
              <a:ext cx="914400" cy="577215"/>
            </a:xfrm>
            <a:prstGeom prst="rect">
              <a:avLst/>
            </a:prstGeom>
          </p:spPr>
          <p:txBody>
            <a:bodyPr lIns="0" tIns="0" rIns="0" bIns="0" rtlCol="0" anchor="ctr"/>
            <a:lstStyle/>
            <a:p>
              <a:pPr algn="r">
                <a:lnSpc>
                  <a:spcPts val="1620"/>
                </a:lnSpc>
              </a:pPr>
              <a:r>
                <a:rPr lang="en-US" sz="1350">
                  <a:solidFill>
                    <a:srgbClr val="8FA3BF"/>
                  </a:solidFill>
                  <a:latin typeface="Calibri (MS)" panose="020F0502020204030204"/>
                  <a:ea typeface="Calibri (MS)" panose="020F0502020204030204"/>
                  <a:cs typeface="Calibri (MS)" panose="020F0502020204030204"/>
                  <a:sym typeface="Calibri (MS)" panose="020F0502020204030204"/>
                </a:rPr>
                <a:t>10</a:t>
              </a:r>
              <a:endParaRPr lang="en-US" sz="1350">
                <a:solidFill>
                  <a:srgbClr val="8FA3BF"/>
                </a:solidFill>
                <a:latin typeface="Calibri (MS)" panose="020F0502020204030204"/>
                <a:ea typeface="Calibri (MS)" panose="020F0502020204030204"/>
                <a:cs typeface="Calibri (MS)" panose="020F0502020204030204"/>
                <a:sym typeface="Calibri (MS)" panose="020F0502020204030204"/>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2580</Words>
  <Application>WPS Presentation</Application>
  <PresentationFormat>On-screen Show (4:3)</PresentationFormat>
  <Paragraphs>264</Paragraphs>
  <Slides>10</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10</vt:i4>
      </vt:variant>
    </vt:vector>
  </HeadingPairs>
  <TitlesOfParts>
    <vt:vector size="26" baseType="lpstr">
      <vt:lpstr>Arial</vt:lpstr>
      <vt:lpstr>SimSun</vt:lpstr>
      <vt:lpstr>Wingdings</vt:lpstr>
      <vt:lpstr>Calibri (MS) Bold</vt:lpstr>
      <vt:lpstr>Cambria Bold</vt:lpstr>
      <vt:lpstr>Arial</vt:lpstr>
      <vt:lpstr>Calibri (MS)</vt:lpstr>
      <vt:lpstr>Calibri (MS) Italics</vt:lpstr>
      <vt:lpstr>Cambria</vt:lpstr>
      <vt:lpstr>Courier New</vt:lpstr>
      <vt:lpstr>Courier New Bold</vt:lpstr>
      <vt:lpstr>Calibri (MS) Bold Italics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3 Network Discovery and Traffic Analysis.pptx</dc:title>
  <dc:creator/>
  <cp:lastModifiedBy>Administrator</cp:lastModifiedBy>
  <cp:revision>2</cp:revision>
  <dcterms:created xsi:type="dcterms:W3CDTF">2006-08-16T00:00:00Z</dcterms:created>
  <dcterms:modified xsi:type="dcterms:W3CDTF">2026-09-25T09:32:58Z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1033-12.1.0.26372</vt:lpwstr>
  </property>
  <property fmtid="{D5CDD505-2E9C-101B-9397-08002B2CF9AE}" pid="3" name="ICV">
    <vt:lpwstr>6CECD073201B4761BA3E81FF977C219B_12</vt:lpwstr>
  </property>
</Properties>
</file>