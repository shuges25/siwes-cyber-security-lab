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38646" y="2478434"/>
            <a:ext cx="14916512" cy="4751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38BDF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OFFICIAL AUDIT REPORT &amp; RISK EVALUATION</a:t>
            </a:r>
          </a:p>
          <a:p>
            <a:pPr algn="l">
              <a:lnSpc>
                <a:spcPts val="6845"/>
              </a:lnSpc>
            </a:pPr>
            <a:r>
              <a:rPr lang="en-US" sz="5704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Axia Hub Information Security Audit</a:t>
            </a:r>
          </a:p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CBD5E1"/>
                </a:solidFill>
                <a:latin typeface="Calibri (MS)"/>
                <a:ea typeface="Calibri (MS)"/>
                <a:cs typeface="Calibri (MS)"/>
                <a:sym typeface="Calibri (MS)"/>
              </a:rPr>
              <a:t>Comprehensive Assessment of Answered Security Controls, Quantified Risk Register &amp; Remediation Steps</a:t>
            </a:r>
          </a:p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94A3B8"/>
                </a:solidFill>
                <a:latin typeface="Calibri (MS)"/>
                <a:ea typeface="Calibri (MS)"/>
                <a:cs typeface="Calibri (MS)"/>
                <a:sym typeface="Calibri (MS)"/>
              </a:rPr>
              <a:t>Auditor: John-Suga Davou Nyam   |   Date: October 2026   |   Framework: NDPA 2023 / Internal Security Baseline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OVERVIEW &amp; METRICS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Executive Summary: Audit Control Scorecard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3872084" cy="3048476"/>
            <a:chOff x="0" y="0"/>
            <a:chExt cx="5162779" cy="40646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62677" cy="4064635"/>
            </a:xfrm>
            <a:custGeom>
              <a:avLst/>
              <a:gdLst/>
              <a:ahLst/>
              <a:cxnLst/>
              <a:rect r="r" b="b" t="t" l="l"/>
              <a:pathLst>
                <a:path h="4064635" w="5162677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4485259" y="0"/>
                  </a:lnTo>
                  <a:cubicBezTo>
                    <a:pt x="4859401" y="0"/>
                    <a:pt x="5162677" y="303276"/>
                    <a:pt x="5162677" y="677418"/>
                  </a:cubicBezTo>
                  <a:lnTo>
                    <a:pt x="5162677" y="3387217"/>
                  </a:lnTo>
                  <a:cubicBezTo>
                    <a:pt x="5162677" y="3761359"/>
                    <a:pt x="4859401" y="4064635"/>
                    <a:pt x="4485259" y="4064635"/>
                  </a:cubicBezTo>
                  <a:lnTo>
                    <a:pt x="677418" y="4064635"/>
                  </a:lnTo>
                  <a:cubicBezTo>
                    <a:pt x="303276" y="4064635"/>
                    <a:pt x="0" y="3761359"/>
                    <a:pt x="0" y="338721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64116" y="2547061"/>
            <a:ext cx="3111532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EVALUATED</a:t>
            </a:r>
          </a:p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23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 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174399" y="2319242"/>
            <a:ext cx="3872084" cy="3048476"/>
            <a:chOff x="0" y="0"/>
            <a:chExt cx="5162779" cy="40646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62677" cy="4064635"/>
            </a:xfrm>
            <a:custGeom>
              <a:avLst/>
              <a:gdLst/>
              <a:ahLst/>
              <a:cxnLst/>
              <a:rect r="r" b="b" t="t" l="l"/>
              <a:pathLst>
                <a:path h="4064635" w="5162677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4485259" y="0"/>
                  </a:lnTo>
                  <a:cubicBezTo>
                    <a:pt x="4859401" y="0"/>
                    <a:pt x="5162677" y="303276"/>
                    <a:pt x="5162677" y="677418"/>
                  </a:cubicBezTo>
                  <a:lnTo>
                    <a:pt x="5162677" y="3387217"/>
                  </a:lnTo>
                  <a:cubicBezTo>
                    <a:pt x="5162677" y="3761359"/>
                    <a:pt x="4859401" y="4064635"/>
                    <a:pt x="4485259" y="4064635"/>
                  </a:cubicBezTo>
                  <a:lnTo>
                    <a:pt x="677418" y="4064635"/>
                  </a:lnTo>
                  <a:cubicBezTo>
                    <a:pt x="303276" y="4064635"/>
                    <a:pt x="0" y="3761359"/>
                    <a:pt x="0" y="338721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5554675" y="2547061"/>
            <a:ext cx="3111532" cy="255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IMPLEMENTED (YES)</a:t>
            </a:r>
          </a:p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65.2% Compliance Baseline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64968" y="2319242"/>
            <a:ext cx="3872084" cy="3048476"/>
            <a:chOff x="0" y="0"/>
            <a:chExt cx="5162779" cy="40646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62677" cy="4064635"/>
            </a:xfrm>
            <a:custGeom>
              <a:avLst/>
              <a:gdLst/>
              <a:ahLst/>
              <a:cxnLst/>
              <a:rect r="r" b="b" t="t" l="l"/>
              <a:pathLst>
                <a:path h="4064635" w="5162677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4485259" y="0"/>
                  </a:lnTo>
                  <a:cubicBezTo>
                    <a:pt x="4859401" y="0"/>
                    <a:pt x="5162677" y="303276"/>
                    <a:pt x="5162677" y="677418"/>
                  </a:cubicBezTo>
                  <a:lnTo>
                    <a:pt x="5162677" y="3387217"/>
                  </a:lnTo>
                  <a:cubicBezTo>
                    <a:pt x="5162677" y="3761359"/>
                    <a:pt x="4859401" y="4064635"/>
                    <a:pt x="4485259" y="4064635"/>
                  </a:cubicBezTo>
                  <a:lnTo>
                    <a:pt x="677418" y="4064635"/>
                  </a:lnTo>
                  <a:cubicBezTo>
                    <a:pt x="303276" y="4064635"/>
                    <a:pt x="0" y="3761359"/>
                    <a:pt x="0" y="338721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645244" y="2547061"/>
            <a:ext cx="3111532" cy="255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DEFICIENT (NO)</a:t>
            </a:r>
          </a:p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30.4% Critical Vulnerabilities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355526" y="2319242"/>
            <a:ext cx="3872084" cy="3048476"/>
            <a:chOff x="0" y="0"/>
            <a:chExt cx="5162779" cy="40646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62677" cy="4064635"/>
            </a:xfrm>
            <a:custGeom>
              <a:avLst/>
              <a:gdLst/>
              <a:ahLst/>
              <a:cxnLst/>
              <a:rect r="r" b="b" t="t" l="l"/>
              <a:pathLst>
                <a:path h="4064635" w="5162677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lnTo>
                    <a:pt x="4485259" y="0"/>
                  </a:lnTo>
                  <a:cubicBezTo>
                    <a:pt x="4859401" y="0"/>
                    <a:pt x="5162677" y="303276"/>
                    <a:pt x="5162677" y="677418"/>
                  </a:cubicBezTo>
                  <a:lnTo>
                    <a:pt x="5162677" y="3387217"/>
                  </a:lnTo>
                  <a:cubicBezTo>
                    <a:pt x="5162677" y="3761359"/>
                    <a:pt x="4859401" y="4064635"/>
                    <a:pt x="4485259" y="4064635"/>
                  </a:cubicBezTo>
                  <a:lnTo>
                    <a:pt x="677418" y="4064635"/>
                  </a:lnTo>
                  <a:cubicBezTo>
                    <a:pt x="303276" y="4064635"/>
                    <a:pt x="0" y="3761359"/>
                    <a:pt x="0" y="338721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735802" y="2547061"/>
            <a:ext cx="3111532" cy="2554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PARTIAL PROGRESS</a:t>
            </a:r>
          </a:p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4.4% Vendor DPA Incomplete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3840" y="5750928"/>
            <a:ext cx="16130045" cy="3597545"/>
            <a:chOff x="0" y="0"/>
            <a:chExt cx="21506726" cy="47967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6687" cy="4796663"/>
            </a:xfrm>
            <a:custGeom>
              <a:avLst/>
              <a:gdLst/>
              <a:ahLst/>
              <a:cxnLst/>
              <a:rect r="r" b="b" t="t" l="l"/>
              <a:pathLst>
                <a:path h="4796663" w="21506687">
                  <a:moveTo>
                    <a:pt x="0" y="799465"/>
                  </a:moveTo>
                  <a:cubicBezTo>
                    <a:pt x="0" y="357886"/>
                    <a:pt x="357886" y="0"/>
                    <a:pt x="799465" y="0"/>
                  </a:cubicBezTo>
                  <a:lnTo>
                    <a:pt x="20707223" y="0"/>
                  </a:lnTo>
                  <a:cubicBezTo>
                    <a:pt x="21148802" y="0"/>
                    <a:pt x="21506687" y="357886"/>
                    <a:pt x="21506687" y="799465"/>
                  </a:cubicBezTo>
                  <a:lnTo>
                    <a:pt x="21506687" y="3997198"/>
                  </a:lnTo>
                  <a:cubicBezTo>
                    <a:pt x="21506687" y="4438777"/>
                    <a:pt x="21148802" y="4796663"/>
                    <a:pt x="20707223" y="4796663"/>
                  </a:cubicBezTo>
                  <a:lnTo>
                    <a:pt x="799465" y="4796663"/>
                  </a:lnTo>
                  <a:cubicBezTo>
                    <a:pt x="357886" y="4796790"/>
                    <a:pt x="0" y="4438777"/>
                    <a:pt x="0" y="3997198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1381" y="6028325"/>
            <a:ext cx="15053786" cy="2985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Audit Findings &amp; Strategic Takeaways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Strong Technical Baselines: MFA is enforced, disk encryption &amp; automatic patching are active, offsite backups are routinely test-restored, and physical access is controlled.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Critical Operational Gaps: Shared user accounts exist without systematic leaver offboarding (2.2), and network perimeter isolation (firewall/guest Wi-Fi) is unverified (2.4).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Legal &amp; Incident Readiness Disconnect: While Axia Hub reports a 72-hour breach notification capability (4.7), no formal Incident Response Plan exists (2.8).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Regulatory NDPC Exposure: No DPO has been appointed (4.3), NDPC registration is unfiled (4.9), and vendor Data Processing Agreements are only partially in place (4.8).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INVENTORY &amp; DATA VISIBILITY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1: Asset Inventory Controls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16130045" cy="2156241"/>
            <a:chOff x="0" y="0"/>
            <a:chExt cx="21506726" cy="28749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06687" cy="2875026"/>
            </a:xfrm>
            <a:custGeom>
              <a:avLst/>
              <a:gdLst/>
              <a:ahLst/>
              <a:cxnLst/>
              <a:rect r="r" b="b" t="t" l="l"/>
              <a:pathLst>
                <a:path h="2875026" w="21506687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21027517" y="0"/>
                  </a:lnTo>
                  <a:cubicBezTo>
                    <a:pt x="21292184" y="0"/>
                    <a:pt x="21506687" y="214503"/>
                    <a:pt x="21506687" y="479171"/>
                  </a:cubicBezTo>
                  <a:lnTo>
                    <a:pt x="21506687" y="2395855"/>
                  </a:lnTo>
                  <a:cubicBezTo>
                    <a:pt x="21506687" y="2660523"/>
                    <a:pt x="21292184" y="2875026"/>
                    <a:pt x="21027517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1381" y="2537536"/>
            <a:ext cx="15053786" cy="590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 1.1 • Is the inventory of devices, software and accounts up to date?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EF4444"/>
                </a:solidFill>
                <a:latin typeface="Calibri (MS)"/>
                <a:ea typeface="Calibri (MS)"/>
                <a:cs typeface="Calibri (MS)"/>
                <a:sym typeface="Calibri (MS)"/>
              </a:rPr>
              <a:t>Status: NO    |   'Yet to be updated' — Lacks an active, consolidated master record of endpoint hardware, software systems, and assigned user accounts.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3840" y="4721419"/>
            <a:ext cx="16130045" cy="2156241"/>
            <a:chOff x="0" y="0"/>
            <a:chExt cx="21506726" cy="28749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6687" cy="2875026"/>
            </a:xfrm>
            <a:custGeom>
              <a:avLst/>
              <a:gdLst/>
              <a:ahLst/>
              <a:cxnLst/>
              <a:rect r="r" b="b" t="t" l="l"/>
              <a:pathLst>
                <a:path h="2875026" w="21506687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21027517" y="0"/>
                  </a:lnTo>
                  <a:cubicBezTo>
                    <a:pt x="21292184" y="0"/>
                    <a:pt x="21506687" y="214503"/>
                    <a:pt x="21506687" y="479171"/>
                  </a:cubicBezTo>
                  <a:lnTo>
                    <a:pt x="21506687" y="2395855"/>
                  </a:lnTo>
                  <a:cubicBezTo>
                    <a:pt x="21506687" y="2660523"/>
                    <a:pt x="21292184" y="2875026"/>
                    <a:pt x="21027517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01381" y="4939713"/>
            <a:ext cx="15053786" cy="590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 1.2 • Does the organization know where its sensitive data is stored?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Status: YES    |     Confirmed Implemented — Axia Hub maintains organizational visibility over core digital repositories housing confidential and proprietary data.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3840" y="7123595"/>
            <a:ext cx="16130045" cy="2156241"/>
            <a:chOff x="0" y="0"/>
            <a:chExt cx="21506726" cy="28749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6687" cy="2875026"/>
            </a:xfrm>
            <a:custGeom>
              <a:avLst/>
              <a:gdLst/>
              <a:ahLst/>
              <a:cxnLst/>
              <a:rect r="r" b="b" t="t" l="l"/>
              <a:pathLst>
                <a:path h="2875026" w="21506687">
                  <a:moveTo>
                    <a:pt x="0" y="479171"/>
                  </a:moveTo>
                  <a:cubicBezTo>
                    <a:pt x="0" y="214503"/>
                    <a:pt x="214503" y="0"/>
                    <a:pt x="479171" y="0"/>
                  </a:cubicBezTo>
                  <a:lnTo>
                    <a:pt x="21027517" y="0"/>
                  </a:lnTo>
                  <a:cubicBezTo>
                    <a:pt x="21292184" y="0"/>
                    <a:pt x="21506687" y="214503"/>
                    <a:pt x="21506687" y="479171"/>
                  </a:cubicBezTo>
                  <a:lnTo>
                    <a:pt x="21506687" y="2395855"/>
                  </a:lnTo>
                  <a:cubicBezTo>
                    <a:pt x="21506687" y="2660523"/>
                    <a:pt x="21292184" y="2875026"/>
                    <a:pt x="21027517" y="2875026"/>
                  </a:cubicBezTo>
                  <a:lnTo>
                    <a:pt x="479171" y="2875026"/>
                  </a:lnTo>
                  <a:cubicBezTo>
                    <a:pt x="214503" y="2875026"/>
                    <a:pt x="0" y="2660396"/>
                    <a:pt x="0" y="239585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1381" y="7341889"/>
            <a:ext cx="15053786" cy="590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Ref 1.3 • Are devices wiped when retired or reassigned?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Status: YES    |     Confirmed Implemented — A secure data sanitization process is actively enforced prior to the decommissioning or reallocation of phones and laptops.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&amp; OPERATIONAL STRENGTHS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2: Security Posture — Implemented Baselines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7921466" cy="1607172"/>
            <a:chOff x="0" y="0"/>
            <a:chExt cx="10561955" cy="21428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64116" y="2505885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 Multi-Factor Authentication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MFA enforced on all email, admin consoles, and cloud services.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51242" y="2319242"/>
            <a:ext cx="7921466" cy="1607172"/>
            <a:chOff x="0" y="0"/>
            <a:chExt cx="10561955" cy="21428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631509" y="2505885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Antivirus &amp; Automatic Patching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system updates and antivirus protection active on all endpoints.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3840" y="4103722"/>
            <a:ext cx="7921466" cy="1607172"/>
            <a:chOff x="0" y="0"/>
            <a:chExt cx="10561955" cy="21428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464116" y="4290355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Disk Encryption &amp; Screen Locks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Full-disk encryption and automated screen timeouts enforced on phones &amp; laptops.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1242" y="4103722"/>
            <a:ext cx="7921466" cy="1607172"/>
            <a:chOff x="0" y="0"/>
            <a:chExt cx="10561955" cy="21428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631509" y="4290355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Offsite Backups &amp; Test Restores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Regular backups stored offsite with documented, verified restore tests.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3840" y="5888193"/>
            <a:ext cx="7921466" cy="1607172"/>
            <a:chOff x="0" y="0"/>
            <a:chExt cx="10561955" cy="21428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64116" y="6074835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Logging &amp; Alerting on Critical Systems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Operational logging and event alert triggers deployed across critical architecture.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251242" y="5888193"/>
            <a:ext cx="7921466" cy="1607172"/>
            <a:chOff x="0" y="0"/>
            <a:chExt cx="10561955" cy="21428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631509" y="6074835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✔Annual Security Awareness Training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Comprehensive security training delivered to personnel at least annually.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3840" y="7672664"/>
            <a:ext cx="7921466" cy="1607172"/>
            <a:chOff x="0" y="0"/>
            <a:chExt cx="10561955" cy="21428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64116" y="7859306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Third-Party Vendor Vetting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Vendors with data access are contractually bound and vetted prior to onboarding.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251242" y="7672664"/>
            <a:ext cx="7921466" cy="1607172"/>
            <a:chOff x="0" y="0"/>
            <a:chExt cx="10561955" cy="214289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61828" cy="2142871"/>
            </a:xfrm>
            <a:custGeom>
              <a:avLst/>
              <a:gdLst/>
              <a:ahLst/>
              <a:cxnLst/>
              <a:rect r="r" b="b" t="t" l="l"/>
              <a:pathLst>
                <a:path h="2142871" w="10561828">
                  <a:moveTo>
                    <a:pt x="0" y="357124"/>
                  </a:moveTo>
                  <a:cubicBezTo>
                    <a:pt x="0" y="159893"/>
                    <a:pt x="159893" y="0"/>
                    <a:pt x="357124" y="0"/>
                  </a:cubicBezTo>
                  <a:lnTo>
                    <a:pt x="10204704" y="0"/>
                  </a:lnTo>
                  <a:cubicBezTo>
                    <a:pt x="10401936" y="0"/>
                    <a:pt x="10561828" y="159893"/>
                    <a:pt x="10561828" y="357124"/>
                  </a:cubicBezTo>
                  <a:lnTo>
                    <a:pt x="10561828" y="1785747"/>
                  </a:lnTo>
                  <a:cubicBezTo>
                    <a:pt x="10561828" y="1982978"/>
                    <a:pt x="10401936" y="2142871"/>
                    <a:pt x="10204704" y="2142871"/>
                  </a:cubicBezTo>
                  <a:lnTo>
                    <a:pt x="357124" y="2142871"/>
                  </a:lnTo>
                  <a:cubicBezTo>
                    <a:pt x="159893" y="2142871"/>
                    <a:pt x="0" y="1982978"/>
                    <a:pt x="0" y="17857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9631509" y="7859306"/>
            <a:ext cx="7160914" cy="52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  Physical Access Control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Physical access strictly restricted to offices and server/network equipment rooms.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OPERATIONAL &amp; ACCESS DEFICITS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2: Security Posture — Deficiencies &amp; Vulnerabilities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7921466" cy="3254378"/>
            <a:chOff x="0" y="0"/>
            <a:chExt cx="10561955" cy="43391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61955" cy="4339209"/>
            </a:xfrm>
            <a:custGeom>
              <a:avLst/>
              <a:gdLst/>
              <a:ahLst/>
              <a:cxnLst/>
              <a:rect r="r" b="b" t="t" l="l"/>
              <a:pathLst>
                <a:path h="4339209" w="10561955">
                  <a:moveTo>
                    <a:pt x="0" y="723265"/>
                  </a:moveTo>
                  <a:cubicBezTo>
                    <a:pt x="0" y="323850"/>
                    <a:pt x="323850" y="0"/>
                    <a:pt x="723265" y="0"/>
                  </a:cubicBezTo>
                  <a:lnTo>
                    <a:pt x="9838690" y="0"/>
                  </a:lnTo>
                  <a:cubicBezTo>
                    <a:pt x="10238105" y="0"/>
                    <a:pt x="10561955" y="323850"/>
                    <a:pt x="10561955" y="723265"/>
                  </a:cubicBezTo>
                  <a:lnTo>
                    <a:pt x="10561955" y="3615944"/>
                  </a:lnTo>
                  <a:cubicBezTo>
                    <a:pt x="10561955" y="4015359"/>
                    <a:pt x="10238105" y="4339209"/>
                    <a:pt x="9838690" y="4339209"/>
                  </a:cubicBezTo>
                  <a:lnTo>
                    <a:pt x="723265" y="4339209"/>
                  </a:lnTo>
                  <a:cubicBezTo>
                    <a:pt x="323850" y="4339209"/>
                    <a:pt x="0" y="4015359"/>
                    <a:pt x="0" y="3615944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32744" y="2606173"/>
            <a:ext cx="7023649" cy="104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 Ref 2.2: Unique user accounts &amp; offboarding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Shared accounts persist; no automated or checklist-driven offboarding process to deprovision departing personnel.</a:t>
            </a:r>
          </a:p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Linked Risk: R2 (Risk Score: 16 • High)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51242" y="2319242"/>
            <a:ext cx="7921466" cy="3254378"/>
            <a:chOff x="0" y="0"/>
            <a:chExt cx="10561955" cy="43391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1955" cy="4339209"/>
            </a:xfrm>
            <a:custGeom>
              <a:avLst/>
              <a:gdLst/>
              <a:ahLst/>
              <a:cxnLst/>
              <a:rect r="r" b="b" t="t" l="l"/>
              <a:pathLst>
                <a:path h="4339209" w="10561955">
                  <a:moveTo>
                    <a:pt x="0" y="723265"/>
                  </a:moveTo>
                  <a:cubicBezTo>
                    <a:pt x="0" y="323850"/>
                    <a:pt x="323850" y="0"/>
                    <a:pt x="723265" y="0"/>
                  </a:cubicBezTo>
                  <a:lnTo>
                    <a:pt x="9838690" y="0"/>
                  </a:lnTo>
                  <a:cubicBezTo>
                    <a:pt x="10238105" y="0"/>
                    <a:pt x="10561955" y="323850"/>
                    <a:pt x="10561955" y="723265"/>
                  </a:cubicBezTo>
                  <a:lnTo>
                    <a:pt x="10561955" y="3615944"/>
                  </a:lnTo>
                  <a:cubicBezTo>
                    <a:pt x="10561955" y="4015359"/>
                    <a:pt x="10238105" y="4339209"/>
                    <a:pt x="9838690" y="4339209"/>
                  </a:cubicBezTo>
                  <a:lnTo>
                    <a:pt x="723265" y="4339209"/>
                  </a:lnTo>
                  <a:cubicBezTo>
                    <a:pt x="323850" y="4339209"/>
                    <a:pt x="0" y="4015359"/>
                    <a:pt x="0" y="3615944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700146" y="2606173"/>
            <a:ext cx="7023649" cy="809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 Ref 2.4: Firewall &amp; separate guest Wi-Fi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' Risk of internal network snooping.</a:t>
            </a:r>
          </a:p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Linked Risk: R1 (Risk Score: 16 • High)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3840" y="5888193"/>
            <a:ext cx="7921466" cy="3254378"/>
            <a:chOff x="0" y="0"/>
            <a:chExt cx="10561955" cy="43391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61955" cy="4339209"/>
            </a:xfrm>
            <a:custGeom>
              <a:avLst/>
              <a:gdLst/>
              <a:ahLst/>
              <a:cxnLst/>
              <a:rect r="r" b="b" t="t" l="l"/>
              <a:pathLst>
                <a:path h="4339209" w="10561955">
                  <a:moveTo>
                    <a:pt x="0" y="723265"/>
                  </a:moveTo>
                  <a:cubicBezTo>
                    <a:pt x="0" y="323850"/>
                    <a:pt x="323850" y="0"/>
                    <a:pt x="723265" y="0"/>
                  </a:cubicBezTo>
                  <a:lnTo>
                    <a:pt x="9838690" y="0"/>
                  </a:lnTo>
                  <a:cubicBezTo>
                    <a:pt x="10238105" y="0"/>
                    <a:pt x="10561955" y="323850"/>
                    <a:pt x="10561955" y="723265"/>
                  </a:cubicBezTo>
                  <a:lnTo>
                    <a:pt x="10561955" y="3615944"/>
                  </a:lnTo>
                  <a:cubicBezTo>
                    <a:pt x="10561955" y="4015359"/>
                    <a:pt x="10238105" y="4339209"/>
                    <a:pt x="9838690" y="4339209"/>
                  </a:cubicBezTo>
                  <a:lnTo>
                    <a:pt x="723265" y="4339209"/>
                  </a:lnTo>
                  <a:cubicBezTo>
                    <a:pt x="323850" y="4339209"/>
                    <a:pt x="0" y="4015359"/>
                    <a:pt x="0" y="3615944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532744" y="6175124"/>
            <a:ext cx="7023649" cy="1047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 Ref 2.8: Incident response plan &amp; reporting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Staff lack documented incident escalation paths and predefined incident commanders.</a:t>
            </a:r>
          </a:p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Linked Risk: R3 (Risk Score: 15 • High)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1242" y="5888193"/>
            <a:ext cx="7921466" cy="3254378"/>
            <a:chOff x="0" y="0"/>
            <a:chExt cx="10561955" cy="43391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61955" cy="4339209"/>
            </a:xfrm>
            <a:custGeom>
              <a:avLst/>
              <a:gdLst/>
              <a:ahLst/>
              <a:cxnLst/>
              <a:rect r="r" b="b" t="t" l="l"/>
              <a:pathLst>
                <a:path h="4339209" w="10561955">
                  <a:moveTo>
                    <a:pt x="0" y="723265"/>
                  </a:moveTo>
                  <a:cubicBezTo>
                    <a:pt x="0" y="323850"/>
                    <a:pt x="323850" y="0"/>
                    <a:pt x="723265" y="0"/>
                  </a:cubicBezTo>
                  <a:lnTo>
                    <a:pt x="9838690" y="0"/>
                  </a:lnTo>
                  <a:cubicBezTo>
                    <a:pt x="10238105" y="0"/>
                    <a:pt x="10561955" y="323850"/>
                    <a:pt x="10561955" y="723265"/>
                  </a:cubicBezTo>
                  <a:lnTo>
                    <a:pt x="10561955" y="3615944"/>
                  </a:lnTo>
                  <a:cubicBezTo>
                    <a:pt x="10561955" y="4015359"/>
                    <a:pt x="10238105" y="4339209"/>
                    <a:pt x="9838690" y="4339209"/>
                  </a:cubicBezTo>
                  <a:lnTo>
                    <a:pt x="723265" y="4339209"/>
                  </a:lnTo>
                  <a:cubicBezTo>
                    <a:pt x="323850" y="4339209"/>
                    <a:pt x="0" y="4015359"/>
                    <a:pt x="0" y="3615944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9700146" y="6175124"/>
            <a:ext cx="7023649" cy="270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 Ref 2.12: Written rules for BYOD and AI tools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Auditor Note: 'Section 5 lists BYOD as Yes/Draft; confirm whether it covers AI tools.' Unregulated corporate data entry into LLMs.</a:t>
            </a:r>
          </a:p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Linked Risk: R6 (Risk Score: 9 • Medium)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STATUTORY PRIVACY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4: Data Protection Evaluation (NDPA 2023)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7921466" cy="7166496"/>
            <a:chOff x="0" y="0"/>
            <a:chExt cx="10561955" cy="95553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61955" cy="9555353"/>
            </a:xfrm>
            <a:custGeom>
              <a:avLst/>
              <a:gdLst/>
              <a:ahLst/>
              <a:cxnLst/>
              <a:rect r="r" b="b" t="t" l="l"/>
              <a:pathLst>
                <a:path h="9555353" w="10561955">
                  <a:moveTo>
                    <a:pt x="0" y="1592580"/>
                  </a:moveTo>
                  <a:cubicBezTo>
                    <a:pt x="0" y="712978"/>
                    <a:pt x="712978" y="0"/>
                    <a:pt x="1592580" y="0"/>
                  </a:cubicBezTo>
                  <a:lnTo>
                    <a:pt x="8969375" y="0"/>
                  </a:lnTo>
                  <a:cubicBezTo>
                    <a:pt x="9848977" y="0"/>
                    <a:pt x="10561955" y="712978"/>
                    <a:pt x="10561955" y="1592580"/>
                  </a:cubicBezTo>
                  <a:lnTo>
                    <a:pt x="10561955" y="7962773"/>
                  </a:lnTo>
                  <a:cubicBezTo>
                    <a:pt x="10561955" y="8842375"/>
                    <a:pt x="9848977" y="9555353"/>
                    <a:pt x="8969375" y="9555353"/>
                  </a:cubicBezTo>
                  <a:lnTo>
                    <a:pt x="1592580" y="9555353"/>
                  </a:lnTo>
                  <a:cubicBezTo>
                    <a:pt x="712978" y="9555353"/>
                    <a:pt x="0" y="8842248"/>
                    <a:pt x="0" y="79627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532744" y="2606173"/>
            <a:ext cx="7023649" cy="654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10B98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Compliant Privacy Practices (5 Yes)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Ref 4.1 • Lawful Purpose &amp; Consent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Data collected for stated legal grounds.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Ref 4.2 • Privacy Notice Dissemination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Explicit privacy notices provided to data subjects.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Ref 4.4 • Data Encryption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Personal data encrypted in transit and at rest.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Ref 4.6 • Data Subject Rights Handling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Procedures exist for access, correction, and deletion.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✔ Ref 4.7 • 72-Hour Breach Capability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Reported 'Yes', but auditor noted verification is needed given absence of IR plan (2.8).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251242" y="2319242"/>
            <a:ext cx="7921466" cy="7166496"/>
            <a:chOff x="0" y="0"/>
            <a:chExt cx="10561955" cy="95553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1955" cy="9555353"/>
            </a:xfrm>
            <a:custGeom>
              <a:avLst/>
              <a:gdLst/>
              <a:ahLst/>
              <a:cxnLst/>
              <a:rect r="r" b="b" t="t" l="l"/>
              <a:pathLst>
                <a:path h="9555353" w="10561955">
                  <a:moveTo>
                    <a:pt x="0" y="1592580"/>
                  </a:moveTo>
                  <a:cubicBezTo>
                    <a:pt x="0" y="712978"/>
                    <a:pt x="712978" y="0"/>
                    <a:pt x="1592580" y="0"/>
                  </a:cubicBezTo>
                  <a:lnTo>
                    <a:pt x="8969375" y="0"/>
                  </a:lnTo>
                  <a:cubicBezTo>
                    <a:pt x="9848977" y="0"/>
                    <a:pt x="10561955" y="712978"/>
                    <a:pt x="10561955" y="1592580"/>
                  </a:cubicBezTo>
                  <a:lnTo>
                    <a:pt x="10561955" y="7962773"/>
                  </a:lnTo>
                  <a:cubicBezTo>
                    <a:pt x="10561955" y="8842375"/>
                    <a:pt x="9848977" y="9555353"/>
                    <a:pt x="8969375" y="9555353"/>
                  </a:cubicBezTo>
                  <a:lnTo>
                    <a:pt x="1592580" y="9555353"/>
                  </a:lnTo>
                  <a:cubicBezTo>
                    <a:pt x="712978" y="9555353"/>
                    <a:pt x="0" y="8842248"/>
                    <a:pt x="0" y="79627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9700146" y="2606173"/>
            <a:ext cx="7023649" cy="6545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Protection Gaps &amp; Exposure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Ref 4.3 • DPO / Privacy Lead (NO)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No Data Protection Officer or privacy lead appointed. (Linked Risk: R4 • High)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Ref 4.8 • Vendor DPAs (PARTIAL)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Written Data Processing Agreements are only partly executed with external vendors. (Linked Risk: R7 • Medium)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Ref 4.9 • NDPC Compliance Filing (NO)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Auditor Note: 'No filing made yet.' Mandatory statutory registration incomplete. (Linked Risk: R4 • High)</a:t>
            </a:r>
          </a:p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64748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✖ Omission Note: Ref 4.5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Retention schedule control recorded as 'Not answered' and excluded from scoring.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FORMULATION &amp; HEATMAP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3: Quantified Risk Assessment Methodology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16130045" cy="1675800"/>
            <a:chOff x="0" y="0"/>
            <a:chExt cx="21506726" cy="223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06689" cy="2234311"/>
            </a:xfrm>
            <a:custGeom>
              <a:avLst/>
              <a:gdLst/>
              <a:ahLst/>
              <a:cxnLst/>
              <a:rect r="r" b="b" t="t" l="l"/>
              <a:pathLst>
                <a:path h="2234311" w="21506689">
                  <a:moveTo>
                    <a:pt x="0" y="372364"/>
                  </a:moveTo>
                  <a:cubicBezTo>
                    <a:pt x="0" y="166751"/>
                    <a:pt x="166751" y="0"/>
                    <a:pt x="372364" y="0"/>
                  </a:cubicBezTo>
                  <a:lnTo>
                    <a:pt x="21134324" y="0"/>
                  </a:lnTo>
                  <a:cubicBezTo>
                    <a:pt x="21339938" y="0"/>
                    <a:pt x="21506689" y="166751"/>
                    <a:pt x="21506689" y="372364"/>
                  </a:cubicBezTo>
                  <a:lnTo>
                    <a:pt x="21506689" y="1861947"/>
                  </a:lnTo>
                  <a:cubicBezTo>
                    <a:pt x="21506689" y="2067560"/>
                    <a:pt x="21339938" y="2234311"/>
                    <a:pt x="21134324" y="2234311"/>
                  </a:cubicBezTo>
                  <a:lnTo>
                    <a:pt x="372364" y="2234311"/>
                  </a:lnTo>
                  <a:cubicBezTo>
                    <a:pt x="166751" y="2234438"/>
                    <a:pt x="0" y="2067687"/>
                    <a:pt x="0" y="1861947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1381" y="2537536"/>
            <a:ext cx="15053786" cy="1191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Scoring Formulation: Risk Score = Likelihood (1–5) × Impact (1–5)</a:t>
            </a:r>
          </a:p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Thresholds:  • Low: 1–4  |  • Medium: 5–9  |  • High: 10–16  |  • Critical: 17–25   (Axia Hub Findings: 5 High, 3 Medium)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3840" y="4240987"/>
            <a:ext cx="7921466" cy="5244751"/>
            <a:chOff x="0" y="0"/>
            <a:chExt cx="10561955" cy="69930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61827" cy="6993001"/>
            </a:xfrm>
            <a:custGeom>
              <a:avLst/>
              <a:gdLst/>
              <a:ahLst/>
              <a:cxnLst/>
              <a:rect r="r" b="b" t="t" l="l"/>
              <a:pathLst>
                <a:path h="6993001" w="10561827">
                  <a:moveTo>
                    <a:pt x="0" y="1165479"/>
                  </a:moveTo>
                  <a:cubicBezTo>
                    <a:pt x="0" y="521843"/>
                    <a:pt x="521843" y="0"/>
                    <a:pt x="1165479" y="0"/>
                  </a:cubicBezTo>
                  <a:lnTo>
                    <a:pt x="9396349" y="0"/>
                  </a:lnTo>
                  <a:cubicBezTo>
                    <a:pt x="10040112" y="0"/>
                    <a:pt x="10561827" y="521843"/>
                    <a:pt x="10561827" y="1165479"/>
                  </a:cubicBezTo>
                  <a:lnTo>
                    <a:pt x="10561827" y="5827522"/>
                  </a:lnTo>
                  <a:cubicBezTo>
                    <a:pt x="10561827" y="6471285"/>
                    <a:pt x="10039985" y="6993001"/>
                    <a:pt x="9396349" y="6993001"/>
                  </a:cubicBezTo>
                  <a:lnTo>
                    <a:pt x="1165479" y="6993001"/>
                  </a:lnTo>
                  <a:cubicBezTo>
                    <a:pt x="521843" y="6993001"/>
                    <a:pt x="0" y="6471158"/>
                    <a:pt x="0" y="5827522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532744" y="4459281"/>
            <a:ext cx="7023649" cy="476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 High-Severity Risks (Scores 12 – 16)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R1 (Score 16): Missing firewall and/or guest Wi-Fi isolation.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R2 (Score 16): Shared accounts &amp; unrevoked leaver access.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R3 (Score 15): Absence of an actionable Incident Response Plan.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R4 (Score 12): No DPO designated &amp; NDPC regulatory filing missing.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R5 (Score 12): Core security policies missing or left in draft status.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251242" y="4240987"/>
            <a:ext cx="7921466" cy="5244751"/>
            <a:chOff x="0" y="0"/>
            <a:chExt cx="10561955" cy="6993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61827" cy="6993001"/>
            </a:xfrm>
            <a:custGeom>
              <a:avLst/>
              <a:gdLst/>
              <a:ahLst/>
              <a:cxnLst/>
              <a:rect r="r" b="b" t="t" l="l"/>
              <a:pathLst>
                <a:path h="6993001" w="10561827">
                  <a:moveTo>
                    <a:pt x="0" y="1165479"/>
                  </a:moveTo>
                  <a:cubicBezTo>
                    <a:pt x="0" y="521843"/>
                    <a:pt x="521843" y="0"/>
                    <a:pt x="1165479" y="0"/>
                  </a:cubicBezTo>
                  <a:lnTo>
                    <a:pt x="9396349" y="0"/>
                  </a:lnTo>
                  <a:cubicBezTo>
                    <a:pt x="10040112" y="0"/>
                    <a:pt x="10561827" y="521843"/>
                    <a:pt x="10561827" y="1165479"/>
                  </a:cubicBezTo>
                  <a:lnTo>
                    <a:pt x="10561827" y="5827522"/>
                  </a:lnTo>
                  <a:cubicBezTo>
                    <a:pt x="10561827" y="6471285"/>
                    <a:pt x="10039985" y="6993001"/>
                    <a:pt x="9396349" y="6993001"/>
                  </a:cubicBezTo>
                  <a:lnTo>
                    <a:pt x="1165479" y="6993001"/>
                  </a:lnTo>
                  <a:cubicBezTo>
                    <a:pt x="521843" y="6993001"/>
                    <a:pt x="0" y="6471158"/>
                    <a:pt x="0" y="5827522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9700146" y="4459281"/>
            <a:ext cx="7023649" cy="476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Medium-Severity Risks (Scores 6 – 9)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R6 (Score 9): No written governance for BYOD &amp; AI tools (uncontrolled input into external LLMs).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R7 (Score 8): Vendor Data Processing Agreements (DPAs) only partly executed.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R8 (Score 6): Asset inventory stale and unmaintained (missing owners, location, and data sensitivity classifications).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PERIMETER, ACCESS &amp; INCIDENT RESPONSE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Deep-Dive: High-Severity Threats (Part 1)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16130045" cy="2197417"/>
            <a:chOff x="0" y="0"/>
            <a:chExt cx="21506726" cy="2929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06687" cy="2929890"/>
            </a:xfrm>
            <a:custGeom>
              <a:avLst/>
              <a:gdLst/>
              <a:ahLst/>
              <a:cxnLst/>
              <a:rect r="r" b="b" t="t" l="l"/>
              <a:pathLst>
                <a:path h="2929890" w="21506687">
                  <a:moveTo>
                    <a:pt x="0" y="488315"/>
                  </a:moveTo>
                  <a:cubicBezTo>
                    <a:pt x="0" y="218694"/>
                    <a:pt x="218694" y="0"/>
                    <a:pt x="488315" y="0"/>
                  </a:cubicBezTo>
                  <a:lnTo>
                    <a:pt x="21018373" y="0"/>
                  </a:lnTo>
                  <a:cubicBezTo>
                    <a:pt x="21288121" y="0"/>
                    <a:pt x="21506687" y="218694"/>
                    <a:pt x="21506687" y="488315"/>
                  </a:cubicBezTo>
                  <a:lnTo>
                    <a:pt x="21506687" y="2441575"/>
                  </a:lnTo>
                  <a:cubicBezTo>
                    <a:pt x="21506687" y="2711323"/>
                    <a:pt x="21287994" y="2929890"/>
                    <a:pt x="21018373" y="2929890"/>
                  </a:cubicBezTo>
                  <a:lnTo>
                    <a:pt x="488315" y="2929890"/>
                  </a:lnTo>
                  <a:cubicBezTo>
                    <a:pt x="218694" y="2929890"/>
                    <a:pt x="0" y="2711323"/>
                    <a:pt x="0" y="244157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1381" y="2505885"/>
            <a:ext cx="15053786" cy="173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R1 • Network Boundary Exposure    [Likelihood: 4  |  Impact: 4  |  Score: 16 (High)]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Threat Faced: Lack of verified firewall and guest Wi-Fi isolation allows unvetted visitors, co-workers, and infected personal devices to route traffic laterally into sensitive internal servers and payroll databases.</a:t>
            </a:r>
          </a:p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Fix: Remediation: Confirm firewall status; isolate guests on a separate VLAN / guest SSID.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3840" y="4721419"/>
            <a:ext cx="16130045" cy="2197417"/>
            <a:chOff x="0" y="0"/>
            <a:chExt cx="21506726" cy="2929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6687" cy="2929890"/>
            </a:xfrm>
            <a:custGeom>
              <a:avLst/>
              <a:gdLst/>
              <a:ahLst/>
              <a:cxnLst/>
              <a:rect r="r" b="b" t="t" l="l"/>
              <a:pathLst>
                <a:path h="2929890" w="21506687">
                  <a:moveTo>
                    <a:pt x="0" y="488315"/>
                  </a:moveTo>
                  <a:cubicBezTo>
                    <a:pt x="0" y="218694"/>
                    <a:pt x="218694" y="0"/>
                    <a:pt x="488315" y="0"/>
                  </a:cubicBezTo>
                  <a:lnTo>
                    <a:pt x="21018373" y="0"/>
                  </a:lnTo>
                  <a:cubicBezTo>
                    <a:pt x="21288121" y="0"/>
                    <a:pt x="21506687" y="218694"/>
                    <a:pt x="21506687" y="488315"/>
                  </a:cubicBezTo>
                  <a:lnTo>
                    <a:pt x="21506687" y="2441575"/>
                  </a:lnTo>
                  <a:cubicBezTo>
                    <a:pt x="21506687" y="2711323"/>
                    <a:pt x="21287994" y="2929890"/>
                    <a:pt x="21018373" y="2929890"/>
                  </a:cubicBezTo>
                  <a:lnTo>
                    <a:pt x="488315" y="2929890"/>
                  </a:lnTo>
                  <a:cubicBezTo>
                    <a:pt x="218694" y="2929890"/>
                    <a:pt x="0" y="2711323"/>
                    <a:pt x="0" y="244157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01381" y="4908061"/>
            <a:ext cx="15053786" cy="173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R2 • Credential Sprawl &amp; Ghost Access    [Likelihood: 4  |  Impact: 4  |  Score: 16 (High)]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Threat Faced: Shared user accounts destroy audit non-repudiation. Failure to revoke access immediately upon staff departure enables unauthorized persistence, IP theft, and sabotage.</a:t>
            </a:r>
          </a:p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Fix: Remediation: Issue unique individual accounts; enforce immediate same-day offboarding checklist.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3840" y="7123595"/>
            <a:ext cx="16130045" cy="2197417"/>
            <a:chOff x="0" y="0"/>
            <a:chExt cx="21506726" cy="2929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6687" cy="2929890"/>
            </a:xfrm>
            <a:custGeom>
              <a:avLst/>
              <a:gdLst/>
              <a:ahLst/>
              <a:cxnLst/>
              <a:rect r="r" b="b" t="t" l="l"/>
              <a:pathLst>
                <a:path h="2929890" w="21506687">
                  <a:moveTo>
                    <a:pt x="0" y="488315"/>
                  </a:moveTo>
                  <a:cubicBezTo>
                    <a:pt x="0" y="218694"/>
                    <a:pt x="218694" y="0"/>
                    <a:pt x="488315" y="0"/>
                  </a:cubicBezTo>
                  <a:lnTo>
                    <a:pt x="21018373" y="0"/>
                  </a:lnTo>
                  <a:cubicBezTo>
                    <a:pt x="21288121" y="0"/>
                    <a:pt x="21506687" y="218694"/>
                    <a:pt x="21506687" y="488315"/>
                  </a:cubicBezTo>
                  <a:lnTo>
                    <a:pt x="21506687" y="2441575"/>
                  </a:lnTo>
                  <a:cubicBezTo>
                    <a:pt x="21506687" y="2711323"/>
                    <a:pt x="21287994" y="2929890"/>
                    <a:pt x="21018373" y="2929890"/>
                  </a:cubicBezTo>
                  <a:lnTo>
                    <a:pt x="488315" y="2929890"/>
                  </a:lnTo>
                  <a:cubicBezTo>
                    <a:pt x="218694" y="2929890"/>
                    <a:pt x="0" y="2711323"/>
                    <a:pt x="0" y="244157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1381" y="7310237"/>
            <a:ext cx="15053786" cy="173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1876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R3 • Unprepared Incident Response    [Likelihood: 3  |  Impact: 5  |  Score: 15 (High)]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Threat Faced: Catastrophic regulatory fines under NDPA 2023 for missing the 72-hour breach notification deadline; panic, communication breakdown, and prolonged adversary dwell time during a live ransomware or breach event.</a:t>
            </a:r>
          </a:p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Fix: Remediation: Write and approve an actionable IRP with named incident roles and NDPC escalation steps.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COMPLIANCE, POLICIES &amp; GOVERNANCE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Risk Deep-Dive: Regulatory &amp; Operational Threats (Part 2)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16130045" cy="1291457"/>
            <a:chOff x="0" y="0"/>
            <a:chExt cx="21506726" cy="17219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06687" cy="1721993"/>
            </a:xfrm>
            <a:custGeom>
              <a:avLst/>
              <a:gdLst/>
              <a:ahLst/>
              <a:cxnLst/>
              <a:rect r="r" b="b" t="t" l="l"/>
              <a:pathLst>
                <a:path h="1721993" w="21506687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1219668" y="0"/>
                  </a:lnTo>
                  <a:cubicBezTo>
                    <a:pt x="21378163" y="0"/>
                    <a:pt x="21506687" y="128524"/>
                    <a:pt x="21506687" y="287020"/>
                  </a:cubicBezTo>
                  <a:lnTo>
                    <a:pt x="21506687" y="1434973"/>
                  </a:lnTo>
                  <a:cubicBezTo>
                    <a:pt x="21506687" y="1593469"/>
                    <a:pt x="21378163" y="1721993"/>
                    <a:pt x="21219668" y="1721993"/>
                  </a:cubicBezTo>
                  <a:lnTo>
                    <a:pt x="287020" y="1721993"/>
                  </a:lnTo>
                  <a:cubicBezTo>
                    <a:pt x="128524" y="1721993"/>
                    <a:pt x="0" y="1593469"/>
                    <a:pt x="0" y="14349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1381" y="2450973"/>
            <a:ext cx="15053786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R4 • Missing DPO &amp; NDPC Filing (Score: 12 • High)</a:t>
            </a:r>
          </a:p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Statutory non-compliance under NDPA 2023 exposes Axia Hub to regulatory sanctions, enforcement orders, and legal fines.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3840" y="3760546"/>
            <a:ext cx="16130045" cy="1291457"/>
            <a:chOff x="0" y="0"/>
            <a:chExt cx="21506726" cy="17219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6687" cy="1721993"/>
            </a:xfrm>
            <a:custGeom>
              <a:avLst/>
              <a:gdLst/>
              <a:ahLst/>
              <a:cxnLst/>
              <a:rect r="r" b="b" t="t" l="l"/>
              <a:pathLst>
                <a:path h="1721993" w="21506687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1219668" y="0"/>
                  </a:lnTo>
                  <a:cubicBezTo>
                    <a:pt x="21378163" y="0"/>
                    <a:pt x="21506687" y="128524"/>
                    <a:pt x="21506687" y="287020"/>
                  </a:cubicBezTo>
                  <a:lnTo>
                    <a:pt x="21506687" y="1434973"/>
                  </a:lnTo>
                  <a:cubicBezTo>
                    <a:pt x="21506687" y="1593469"/>
                    <a:pt x="21378163" y="1721993"/>
                    <a:pt x="21219668" y="1721993"/>
                  </a:cubicBezTo>
                  <a:lnTo>
                    <a:pt x="287020" y="1721993"/>
                  </a:lnTo>
                  <a:cubicBezTo>
                    <a:pt x="128524" y="1721993"/>
                    <a:pt x="0" y="1593469"/>
                    <a:pt x="0" y="14349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01381" y="3892286"/>
            <a:ext cx="15053786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R5 • Core Security Policies Missing / Draft (Score: 12 • High)</a:t>
            </a:r>
          </a:p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Information security, AUP, and access control policies lack executive sign-off, leaving security rules legally unenforceable.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3840" y="5201860"/>
            <a:ext cx="16130045" cy="1291457"/>
            <a:chOff x="0" y="0"/>
            <a:chExt cx="21506726" cy="172194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6687" cy="1721993"/>
            </a:xfrm>
            <a:custGeom>
              <a:avLst/>
              <a:gdLst/>
              <a:ahLst/>
              <a:cxnLst/>
              <a:rect r="r" b="b" t="t" l="l"/>
              <a:pathLst>
                <a:path h="1721993" w="21506687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1219668" y="0"/>
                  </a:lnTo>
                  <a:cubicBezTo>
                    <a:pt x="21378163" y="0"/>
                    <a:pt x="21506687" y="128524"/>
                    <a:pt x="21506687" y="287020"/>
                  </a:cubicBezTo>
                  <a:lnTo>
                    <a:pt x="21506687" y="1434973"/>
                  </a:lnTo>
                  <a:cubicBezTo>
                    <a:pt x="21506687" y="1593469"/>
                    <a:pt x="21378163" y="1721993"/>
                    <a:pt x="21219668" y="1721993"/>
                  </a:cubicBezTo>
                  <a:lnTo>
                    <a:pt x="287020" y="1721993"/>
                  </a:lnTo>
                  <a:cubicBezTo>
                    <a:pt x="128524" y="1721993"/>
                    <a:pt x="0" y="1593469"/>
                    <a:pt x="0" y="14349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1381" y="5333590"/>
            <a:ext cx="15053786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R6 • Unregulated BYOD &amp; AI Usage (Score: 9 • Medium)</a:t>
            </a:r>
          </a:p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Employees pasting customer, proprietary, or financial data into public AI models without safeguards, risking IP leakage.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83840" y="6643164"/>
            <a:ext cx="16130045" cy="1291457"/>
            <a:chOff x="0" y="0"/>
            <a:chExt cx="21506726" cy="172194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506687" cy="1721993"/>
            </a:xfrm>
            <a:custGeom>
              <a:avLst/>
              <a:gdLst/>
              <a:ahLst/>
              <a:cxnLst/>
              <a:rect r="r" b="b" t="t" l="l"/>
              <a:pathLst>
                <a:path h="1721993" w="21506687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1219668" y="0"/>
                  </a:lnTo>
                  <a:cubicBezTo>
                    <a:pt x="21378163" y="0"/>
                    <a:pt x="21506687" y="128524"/>
                    <a:pt x="21506687" y="287020"/>
                  </a:cubicBezTo>
                  <a:lnTo>
                    <a:pt x="21506687" y="1434973"/>
                  </a:lnTo>
                  <a:cubicBezTo>
                    <a:pt x="21506687" y="1593469"/>
                    <a:pt x="21378163" y="1721993"/>
                    <a:pt x="21219668" y="1721993"/>
                  </a:cubicBezTo>
                  <a:lnTo>
                    <a:pt x="287020" y="1721993"/>
                  </a:lnTo>
                  <a:cubicBezTo>
                    <a:pt x="128524" y="1721993"/>
                    <a:pt x="0" y="1593469"/>
                    <a:pt x="0" y="14349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601381" y="6774894"/>
            <a:ext cx="15053786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R7 • Partial Vendor Data Processing Agreements (Score: 8 • Medium)</a:t>
            </a:r>
          </a:p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Unregulated third-party processors could mishandle personal data, resulting in vicarious legal liability for Axia Hub.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83840" y="8084468"/>
            <a:ext cx="16130045" cy="1291457"/>
            <a:chOff x="0" y="0"/>
            <a:chExt cx="21506726" cy="17219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6687" cy="1721993"/>
            </a:xfrm>
            <a:custGeom>
              <a:avLst/>
              <a:gdLst/>
              <a:ahLst/>
              <a:cxnLst/>
              <a:rect r="r" b="b" t="t" l="l"/>
              <a:pathLst>
                <a:path h="1721993" w="21506687">
                  <a:moveTo>
                    <a:pt x="0" y="287020"/>
                  </a:moveTo>
                  <a:cubicBezTo>
                    <a:pt x="0" y="128524"/>
                    <a:pt x="128524" y="0"/>
                    <a:pt x="287020" y="0"/>
                  </a:cubicBezTo>
                  <a:lnTo>
                    <a:pt x="21219668" y="0"/>
                  </a:lnTo>
                  <a:cubicBezTo>
                    <a:pt x="21378163" y="0"/>
                    <a:pt x="21506687" y="128524"/>
                    <a:pt x="21506687" y="287020"/>
                  </a:cubicBezTo>
                  <a:lnTo>
                    <a:pt x="21506687" y="1434973"/>
                  </a:lnTo>
                  <a:cubicBezTo>
                    <a:pt x="21506687" y="1593469"/>
                    <a:pt x="21378163" y="1721993"/>
                    <a:pt x="21219668" y="1721993"/>
                  </a:cubicBezTo>
                  <a:lnTo>
                    <a:pt x="287020" y="1721993"/>
                  </a:lnTo>
                  <a:cubicBezTo>
                    <a:pt x="128524" y="1721993"/>
                    <a:pt x="0" y="1593469"/>
                    <a:pt x="0" y="1434973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601381" y="8216198"/>
            <a:ext cx="15053786" cy="976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R8 • Stale Asset Inventory (Score: 6 • Medium)</a:t>
            </a:r>
          </a:p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Blind spots in hardware and software assets impede vulnerability patching, backup tracking, and forensic response.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FORMAL SECTION 3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Consolidated Risk Register &amp; Scoring Matrix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98138" y="2333543"/>
          <a:ext cx="16033576" cy="6863362"/>
        </p:xfrm>
        <a:graphic>
          <a:graphicData uri="http://schemas.openxmlformats.org/drawingml/2006/table">
            <a:tbl>
              <a:tblPr/>
              <a:tblGrid>
                <a:gridCol w="1230198"/>
                <a:gridCol w="6561054"/>
                <a:gridCol w="1640264"/>
                <a:gridCol w="1776952"/>
                <a:gridCol w="1776952"/>
                <a:gridCol w="3048156"/>
              </a:tblGrid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Ref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Identified Finding / Threat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Score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Rating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Linked Qs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91"/>
                        </a:lnSpc>
                        <a:defRPr/>
                      </a:pPr>
                      <a:r>
                        <a:rPr lang="en-US" sz="1576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Action Required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Firewall and/or separate guest Wi-Fi missing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2.4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Implement firewall &amp; guest VLAN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Shared accounts &amp; unrevoked leaver access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2.2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Individual logins &amp; offboarding SLA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Incident Response Plan (72h breach deadline)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2.8, 4.7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Publish IRP &amp; NDPC breach SOP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R4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DPO appointed &amp; no NDPC regulatory filing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4.3, 4.9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Appoint DPO / Privacy lead &amp; file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Core policies missing or in draft state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EF444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High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Section 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Finalize &amp; sign off core policies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written rules for BYOD and AI tools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2.12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Publish AI acceptable use guidelines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Vendor DPAs only partly in place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4.8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Execute DPAs with all third parties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259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0F172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R8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Asset inventory not up to date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 b="true">
                          <a:solidFill>
                            <a:srgbClr val="F59E0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Medium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 1.1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711"/>
                        </a:lnSpc>
                        <a:defRPr/>
                      </a:pPr>
                      <a:r>
                        <a:rPr lang="en-US" sz="1426">
                          <a:solidFill>
                            <a:srgbClr val="0F172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Update master asset sheet quarterly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577" y="693953"/>
            <a:ext cx="15877384" cy="427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IMPLEMENTATION STRATEGY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89577" y="1145819"/>
            <a:ext cx="15877384" cy="86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Prioritized Remediation Roadmap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83840" y="2319242"/>
            <a:ext cx="16130045" cy="2197417"/>
            <a:chOff x="0" y="0"/>
            <a:chExt cx="21506726" cy="292989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06687" cy="2929890"/>
            </a:xfrm>
            <a:custGeom>
              <a:avLst/>
              <a:gdLst/>
              <a:ahLst/>
              <a:cxnLst/>
              <a:rect r="r" b="b" t="t" l="l"/>
              <a:pathLst>
                <a:path h="2929890" w="21506687">
                  <a:moveTo>
                    <a:pt x="0" y="488315"/>
                  </a:moveTo>
                  <a:cubicBezTo>
                    <a:pt x="0" y="218694"/>
                    <a:pt x="218694" y="0"/>
                    <a:pt x="488315" y="0"/>
                  </a:cubicBezTo>
                  <a:lnTo>
                    <a:pt x="21018373" y="0"/>
                  </a:lnTo>
                  <a:cubicBezTo>
                    <a:pt x="21288121" y="0"/>
                    <a:pt x="21506687" y="218694"/>
                    <a:pt x="21506687" y="488315"/>
                  </a:cubicBezTo>
                  <a:lnTo>
                    <a:pt x="21506687" y="2441575"/>
                  </a:lnTo>
                  <a:cubicBezTo>
                    <a:pt x="21506687" y="2711323"/>
                    <a:pt x="21287994" y="2929890"/>
                    <a:pt x="21018373" y="2929890"/>
                  </a:cubicBezTo>
                  <a:lnTo>
                    <a:pt x="488315" y="2929890"/>
                  </a:lnTo>
                  <a:cubicBezTo>
                    <a:pt x="218694" y="2929890"/>
                    <a:pt x="0" y="2711323"/>
                    <a:pt x="0" y="244157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1381" y="2505885"/>
            <a:ext cx="15053786" cy="173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EF444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1: IMMEDIATE CRITICAL (Days 1–15)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Perimeter Network Segregation: Verify firewall operation; configure dedicated isolated guest Wi-Fi network (R1).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Identity &amp; Credential Hygiene: Eliminate shared logins; mandate unique accounts and same-day offboarding access cutoff (R2).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Incident Escalation SOP: Draft emergency response tree with designated leads and 72-hour NDPC reporting flow (R3).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83840" y="4721419"/>
            <a:ext cx="16130045" cy="2197417"/>
            <a:chOff x="0" y="0"/>
            <a:chExt cx="21506726" cy="29298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06687" cy="2929890"/>
            </a:xfrm>
            <a:custGeom>
              <a:avLst/>
              <a:gdLst/>
              <a:ahLst/>
              <a:cxnLst/>
              <a:rect r="r" b="b" t="t" l="l"/>
              <a:pathLst>
                <a:path h="2929890" w="21506687">
                  <a:moveTo>
                    <a:pt x="0" y="488315"/>
                  </a:moveTo>
                  <a:cubicBezTo>
                    <a:pt x="0" y="218694"/>
                    <a:pt x="218694" y="0"/>
                    <a:pt x="488315" y="0"/>
                  </a:cubicBezTo>
                  <a:lnTo>
                    <a:pt x="21018373" y="0"/>
                  </a:lnTo>
                  <a:cubicBezTo>
                    <a:pt x="21288121" y="0"/>
                    <a:pt x="21506687" y="218694"/>
                    <a:pt x="21506687" y="488315"/>
                  </a:cubicBezTo>
                  <a:lnTo>
                    <a:pt x="21506687" y="2441575"/>
                  </a:lnTo>
                  <a:cubicBezTo>
                    <a:pt x="21506687" y="2711323"/>
                    <a:pt x="21287994" y="2929890"/>
                    <a:pt x="21018373" y="2929890"/>
                  </a:cubicBezTo>
                  <a:lnTo>
                    <a:pt x="488315" y="2929890"/>
                  </a:lnTo>
                  <a:cubicBezTo>
                    <a:pt x="218694" y="2929890"/>
                    <a:pt x="0" y="2711323"/>
                    <a:pt x="0" y="244157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601381" y="4908061"/>
            <a:ext cx="15053786" cy="173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2: REGULATORY &amp; POLICY (Days 16–30)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Data Protection Governance: Appoint formal DPO or privacy lead and submit mandatory NDPC compliance filings (R4).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Executive Policy Approval: Approve Information Security, Acceptable Use, and Access Control policies (R5).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Third-Party DPA Alignment: Distribute standard Data Processing Agreements to all external data-handling vendors (R7).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83840" y="7123595"/>
            <a:ext cx="16130045" cy="2197417"/>
            <a:chOff x="0" y="0"/>
            <a:chExt cx="21506726" cy="29298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506687" cy="2929890"/>
            </a:xfrm>
            <a:custGeom>
              <a:avLst/>
              <a:gdLst/>
              <a:ahLst/>
              <a:cxnLst/>
              <a:rect r="r" b="b" t="t" l="l"/>
              <a:pathLst>
                <a:path h="2929890" w="21506687">
                  <a:moveTo>
                    <a:pt x="0" y="488315"/>
                  </a:moveTo>
                  <a:cubicBezTo>
                    <a:pt x="0" y="218694"/>
                    <a:pt x="218694" y="0"/>
                    <a:pt x="488315" y="0"/>
                  </a:cubicBezTo>
                  <a:lnTo>
                    <a:pt x="21018373" y="0"/>
                  </a:lnTo>
                  <a:cubicBezTo>
                    <a:pt x="21288121" y="0"/>
                    <a:pt x="21506687" y="218694"/>
                    <a:pt x="21506687" y="488315"/>
                  </a:cubicBezTo>
                  <a:lnTo>
                    <a:pt x="21506687" y="2441575"/>
                  </a:lnTo>
                  <a:cubicBezTo>
                    <a:pt x="21506687" y="2711323"/>
                    <a:pt x="21287994" y="2929890"/>
                    <a:pt x="21018373" y="2929890"/>
                  </a:cubicBezTo>
                  <a:lnTo>
                    <a:pt x="488315" y="2929890"/>
                  </a:lnTo>
                  <a:cubicBezTo>
                    <a:pt x="218694" y="2929890"/>
                    <a:pt x="0" y="2711323"/>
                    <a:pt x="0" y="2441575"/>
                  </a:cubicBezTo>
                  <a:close/>
                </a:path>
              </a:pathLst>
            </a:custGeom>
            <a:solidFill>
              <a:srgbClr val="FFFFFF"/>
            </a:solidFill>
            <a:ln w="28597" cap="sq">
              <a:solidFill>
                <a:srgbClr val="E2E8F0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1381" y="7310237"/>
            <a:ext cx="15053786" cy="1731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E749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3: OPERATIONAL POLISH (Days 31–45)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Generative AI &amp; BYOD Directives: Release clear rules defining what corporate/client data may be entered into AI tools (R6).</a:t>
            </a:r>
          </a:p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• Quarterly Asset Governance: Populate owner, location, and sensitivity fields in master asset inventory (R8).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14596" y="4667235"/>
            <a:ext cx="2658809" cy="88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1"/>
              </a:lnSpc>
            </a:pPr>
            <a:r>
              <a:rPr lang="en-US" sz="3351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THANK YOU </a:t>
            </a:r>
          </a:p>
          <a:p>
            <a:pPr algn="ctr">
              <a:lnSpc>
                <a:spcPts val="2521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DAHY0Aix3jM</dc:identifier>
  <dcterms:modified xsi:type="dcterms:W3CDTF">2011-08-01T06:04:30Z</dcterms:modified>
  <cp:revision>1</cp:revision>
  <dc:title>Axia_Hub_Security_Audit_Presentation.pptx</dc:title>
</cp:coreProperties>
</file>